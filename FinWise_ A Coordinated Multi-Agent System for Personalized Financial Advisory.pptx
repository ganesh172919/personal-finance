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embeddedFontLst>
    <p:embeddedFont>
      <p:font typeface="Quattrocento Sans" charset="-122" pitchFamily="34"/>
      <p:regular r:id="rId23"/>
    </p:embeddedFont>
    <p:embeddedFont>
      <p:font typeface="Oranienbaum" charset="-122" pitchFamily="34"/>
      <p:regular r:id="rId24"/>
    </p:embeddedFont>
    <p:embeddedFont>
      <p:font typeface="Sorts Mill Goudy" charset="-122" pitchFamily="34"/>
      <p:regular r:id="rId25"/>
    </p:embeddedFont>
    <p:embeddedFont>
      <p:font typeface="MiSans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d6430864b8e02a81b4fdccf98ec82c851396e6f6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66" b="76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FFFFFF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43013"/>
            <a:ext cx="2476500" cy="342900"/>
          </a:xfrm>
          <a:custGeom>
            <a:avLst/>
            <a:gdLst/>
            <a:ahLst/>
            <a:cxnLst/>
            <a:rect l="l" t="t" r="r" b="b"/>
            <a:pathLst>
              <a:path w="2476500" h="342900">
                <a:moveTo>
                  <a:pt x="0" y="0"/>
                </a:moveTo>
                <a:lnTo>
                  <a:pt x="2476500" y="0"/>
                </a:lnTo>
                <a:lnTo>
                  <a:pt x="24765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1243013"/>
            <a:ext cx="254317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PAPER PRESENTATION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66912"/>
            <a:ext cx="1171575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FinWise: A Coordinated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Multi-Agent System for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Personalized Financial Advisory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338638"/>
            <a:ext cx="8648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Comprehensive Evaluation, Optimization, and Performance Analysis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with Human-in-the-Loop Validation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0050" y="54244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80933" y="6013"/>
                </a:moveTo>
                <a:cubicBezTo>
                  <a:pt x="78016" y="4346"/>
                  <a:pt x="74414" y="4346"/>
                  <a:pt x="71467" y="6013"/>
                </a:cubicBezTo>
                <a:lnTo>
                  <a:pt x="4792" y="44113"/>
                </a:lnTo>
                <a:cubicBezTo>
                  <a:pt x="1042" y="46256"/>
                  <a:pt x="-804" y="50661"/>
                  <a:pt x="298" y="54828"/>
                </a:cubicBezTo>
                <a:cubicBezTo>
                  <a:pt x="1399" y="58995"/>
                  <a:pt x="5209" y="61912"/>
                  <a:pt x="9525" y="61912"/>
                </a:cubicBezTo>
                <a:lnTo>
                  <a:pt x="19050" y="61912"/>
                </a:lnTo>
                <a:lnTo>
                  <a:pt x="19050" y="123825"/>
                </a:lnTo>
                <a:lnTo>
                  <a:pt x="19050" y="123825"/>
                </a:lnTo>
                <a:lnTo>
                  <a:pt x="3810" y="135255"/>
                </a:lnTo>
                <a:cubicBezTo>
                  <a:pt x="1399" y="137041"/>
                  <a:pt x="0" y="139869"/>
                  <a:pt x="0" y="142875"/>
                </a:cubicBezTo>
                <a:cubicBezTo>
                  <a:pt x="0" y="148144"/>
                  <a:pt x="4256" y="152400"/>
                  <a:pt x="9525" y="152400"/>
                </a:cubicBezTo>
                <a:lnTo>
                  <a:pt x="142875" y="152400"/>
                </a:lnTo>
                <a:cubicBezTo>
                  <a:pt x="148144" y="152400"/>
                  <a:pt x="152400" y="148144"/>
                  <a:pt x="152400" y="142875"/>
                </a:cubicBezTo>
                <a:cubicBezTo>
                  <a:pt x="152400" y="139869"/>
                  <a:pt x="151001" y="137041"/>
                  <a:pt x="148590" y="135255"/>
                </a:cubicBezTo>
                <a:lnTo>
                  <a:pt x="133350" y="123825"/>
                </a:lnTo>
                <a:lnTo>
                  <a:pt x="133350" y="61912"/>
                </a:lnTo>
                <a:lnTo>
                  <a:pt x="142875" y="61912"/>
                </a:lnTo>
                <a:cubicBezTo>
                  <a:pt x="147191" y="61912"/>
                  <a:pt x="150971" y="58995"/>
                  <a:pt x="152073" y="54828"/>
                </a:cubicBezTo>
                <a:cubicBezTo>
                  <a:pt x="153174" y="50661"/>
                  <a:pt x="151328" y="46256"/>
                  <a:pt x="147578" y="44113"/>
                </a:cubicBezTo>
                <a:lnTo>
                  <a:pt x="80903" y="6013"/>
                </a:lnTo>
                <a:close/>
                <a:moveTo>
                  <a:pt x="119062" y="61912"/>
                </a:moveTo>
                <a:lnTo>
                  <a:pt x="119062" y="123825"/>
                </a:lnTo>
                <a:lnTo>
                  <a:pt x="100013" y="123825"/>
                </a:lnTo>
                <a:lnTo>
                  <a:pt x="100013" y="61912"/>
                </a:lnTo>
                <a:lnTo>
                  <a:pt x="119062" y="61912"/>
                </a:lnTo>
                <a:close/>
                <a:moveTo>
                  <a:pt x="85725" y="61912"/>
                </a:moveTo>
                <a:lnTo>
                  <a:pt x="85725" y="123825"/>
                </a:lnTo>
                <a:lnTo>
                  <a:pt x="66675" y="123825"/>
                </a:lnTo>
                <a:lnTo>
                  <a:pt x="66675" y="61912"/>
                </a:lnTo>
                <a:lnTo>
                  <a:pt x="85725" y="61912"/>
                </a:lnTo>
                <a:close/>
                <a:moveTo>
                  <a:pt x="52388" y="61912"/>
                </a:moveTo>
                <a:lnTo>
                  <a:pt x="52388" y="123825"/>
                </a:lnTo>
                <a:lnTo>
                  <a:pt x="33338" y="123825"/>
                </a:lnTo>
                <a:lnTo>
                  <a:pt x="33338" y="61912"/>
                </a:lnTo>
                <a:lnTo>
                  <a:pt x="52388" y="61912"/>
                </a:lnTo>
                <a:close/>
                <a:moveTo>
                  <a:pt x="76200" y="28575"/>
                </a:moveTo>
                <a:cubicBezTo>
                  <a:pt x="81457" y="28575"/>
                  <a:pt x="85725" y="32843"/>
                  <a:pt x="85725" y="38100"/>
                </a:cubicBezTo>
                <a:cubicBezTo>
                  <a:pt x="85725" y="43357"/>
                  <a:pt x="81457" y="47625"/>
                  <a:pt x="76200" y="47625"/>
                </a:cubicBezTo>
                <a:cubicBezTo>
                  <a:pt x="70943" y="47625"/>
                  <a:pt x="66675" y="43357"/>
                  <a:pt x="66675" y="38100"/>
                </a:cubicBezTo>
                <a:cubicBezTo>
                  <a:pt x="66675" y="32843"/>
                  <a:pt x="70943" y="28575"/>
                  <a:pt x="76200" y="2857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6"/>
          <p:cNvSpPr/>
          <p:nvPr/>
        </p:nvSpPr>
        <p:spPr>
          <a:xfrm>
            <a:off x="647700" y="5386388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IIIT Dharwad, India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288828" y="542448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8"/>
          <p:cNvSpPr/>
          <p:nvPr/>
        </p:nvSpPr>
        <p:spPr>
          <a:xfrm>
            <a:off x="2526953" y="5386388"/>
            <a:ext cx="37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409700"/>
            <a:ext cx="3714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4977" y="1409700"/>
            <a:ext cx="3590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Problem Statement &amp; Motivation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4977" y="1714500"/>
            <a:ext cx="3571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financial advisory gap and research contributions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24600" y="140970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61411" y="1409700"/>
            <a:ext cx="212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1411" y="1714500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Three-tier design and data 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" y="217170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9150" y="2171700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Core &amp; Multi-Agent Design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9150" y="2476500"/>
            <a:ext cx="266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Hierarchical orchestration and failover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24600" y="2171700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75698" y="2171700"/>
            <a:ext cx="2600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Capabilities &amp; Features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75698" y="2476500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Workflow automation and AI features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1000" y="293370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6322" y="2933700"/>
            <a:ext cx="2371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Evaluation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6322" y="3238500"/>
            <a:ext cx="2352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Benchmarks and human validation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24600" y="293370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7066" y="2933700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67066" y="3238500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Full-stack implementation details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1000" y="3695700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8583" y="3695700"/>
            <a:ext cx="2076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Privacy &amp; Security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8583" y="40005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Defense-in-depth architecture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24600" y="3695700"/>
            <a:ext cx="438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08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71382" y="3695700"/>
            <a:ext cx="327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Future Directions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71382" y="4000500"/>
            <a:ext cx="3257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Technical enhancements and domain extensions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1000" y="4457700"/>
            <a:ext cx="428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09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3466" y="445770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3466" y="4762500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findings and impact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1.1 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Financial Advisory Gap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7105650" cy="1847850"/>
          </a:xfrm>
          <a:custGeom>
            <a:avLst/>
            <a:gdLst/>
            <a:ahLst/>
            <a:cxnLst/>
            <a:rect l="l" t="t" r="r" b="b"/>
            <a:pathLst>
              <a:path w="7105650" h="1847850">
                <a:moveTo>
                  <a:pt x="38100" y="0"/>
                </a:moveTo>
                <a:lnTo>
                  <a:pt x="7029445" y="0"/>
                </a:lnTo>
                <a:cubicBezTo>
                  <a:pt x="7071532" y="0"/>
                  <a:pt x="7105650" y="34118"/>
                  <a:pt x="7105650" y="76205"/>
                </a:cubicBezTo>
                <a:lnTo>
                  <a:pt x="7105650" y="1771645"/>
                </a:lnTo>
                <a:cubicBezTo>
                  <a:pt x="7105650" y="1813732"/>
                  <a:pt x="7071532" y="1847850"/>
                  <a:pt x="7029445" y="1847850"/>
                </a:cubicBez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1847850"/>
          </a:xfrm>
          <a:custGeom>
            <a:avLst/>
            <a:gdLst/>
            <a:ahLst/>
            <a:cxnLst/>
            <a:rect l="l" t="t" r="r" b="b"/>
            <a:pathLst>
              <a:path w="38100" h="1847850">
                <a:moveTo>
                  <a:pt x="38100" y="0"/>
                </a:moveTo>
                <a:lnTo>
                  <a:pt x="38100" y="0"/>
                </a:lnTo>
                <a:lnTo>
                  <a:pt x="38100" y="1847850"/>
                </a:lnTo>
                <a:lnTo>
                  <a:pt x="38100" y="1847850"/>
                </a:lnTo>
                <a:cubicBezTo>
                  <a:pt x="17072" y="1847850"/>
                  <a:pt x="0" y="1830778"/>
                  <a:pt x="0" y="18097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447800"/>
            <a:ext cx="680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Democratization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828800"/>
            <a:ext cx="6781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While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high-net-worth individuals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have access to personalized financial advisors, the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majority of consumers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rely on generic, rule-based tools that fail to capture the complexity of individual financial situations.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272415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876300" y="268605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underserved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226915" y="2724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2474565" y="26860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$20K-$500K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income range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763" y="3262313"/>
            <a:ext cx="7115175" cy="2943225"/>
          </a:xfrm>
          <a:custGeom>
            <a:avLst/>
            <a:gdLst/>
            <a:ahLst/>
            <a:cxnLst/>
            <a:rect l="l" t="t" r="r" b="b"/>
            <a:pathLst>
              <a:path w="7115175" h="2943225">
                <a:moveTo>
                  <a:pt x="76200" y="0"/>
                </a:moveTo>
                <a:lnTo>
                  <a:pt x="7038975" y="0"/>
                </a:lnTo>
                <a:cubicBezTo>
                  <a:pt x="7081059" y="0"/>
                  <a:pt x="7115175" y="34116"/>
                  <a:pt x="7115175" y="76200"/>
                </a:cubicBezTo>
                <a:lnTo>
                  <a:pt x="7115175" y="2867025"/>
                </a:lnTo>
                <a:cubicBezTo>
                  <a:pt x="7115175" y="2909109"/>
                  <a:pt x="7081059" y="2943225"/>
                  <a:pt x="7038975" y="2943225"/>
                </a:cubicBezTo>
                <a:lnTo>
                  <a:pt x="76200" y="2943225"/>
                </a:lnTo>
                <a:cubicBezTo>
                  <a:pt x="34116" y="2943225"/>
                  <a:pt x="0" y="2909109"/>
                  <a:pt x="0" y="28670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1025" y="3457575"/>
            <a:ext cx="6810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Single-Model LLM Limitations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1025" y="38766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07380" y="39147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0125" y="3838575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Lack of Specialization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0125" y="4067175"/>
            <a:ext cx="539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Monolithic models struggle to maintain expertise across diverse financial domains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1025" y="44481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97706" y="448627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0125" y="4410075"/>
            <a:ext cx="554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Constraint Violation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0125" y="4638675"/>
            <a:ext cx="554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Single models frequently generate advice violating budget constraints or regulations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1025" y="50196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02618" y="5057775"/>
            <a:ext cx="13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0125" y="4981575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Hallucination Risk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0125" y="5210175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Financial recommendations with factual errors can have severe consequences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1025" y="55911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94879" y="562927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0125" y="5553075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Limited Explainability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0125" y="5781675"/>
            <a:ext cx="398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Black-box recommendations reduce user trust and adoption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810500" y="1257300"/>
            <a:ext cx="4000500" cy="3028950"/>
          </a:xfrm>
          <a:custGeom>
            <a:avLst/>
            <a:gdLst/>
            <a:ahLst/>
            <a:cxnLst/>
            <a:rect l="l" t="t" r="r" b="b"/>
            <a:pathLst>
              <a:path w="4000500" h="3028950">
                <a:moveTo>
                  <a:pt x="76208" y="0"/>
                </a:moveTo>
                <a:lnTo>
                  <a:pt x="3924292" y="0"/>
                </a:lnTo>
                <a:cubicBezTo>
                  <a:pt x="3966380" y="0"/>
                  <a:pt x="4000500" y="34120"/>
                  <a:pt x="4000500" y="76208"/>
                </a:cubicBezTo>
                <a:lnTo>
                  <a:pt x="4000500" y="2952742"/>
                </a:lnTo>
                <a:cubicBezTo>
                  <a:pt x="4000500" y="2994830"/>
                  <a:pt x="3966380" y="3028950"/>
                  <a:pt x="3924292" y="3028950"/>
                </a:cubicBezTo>
                <a:lnTo>
                  <a:pt x="76208" y="3028950"/>
                </a:lnTo>
                <a:cubicBezTo>
                  <a:pt x="34120" y="3028950"/>
                  <a:pt x="0" y="2994830"/>
                  <a:pt x="0" y="295274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1" name="Text 29"/>
          <p:cNvSpPr/>
          <p:nvPr/>
        </p:nvSpPr>
        <p:spPr>
          <a:xfrm>
            <a:off x="8001000" y="1447800"/>
            <a:ext cx="371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Why Current Solutions Fail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01000" y="186690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Generic Tools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860584" y="1866900"/>
            <a:ext cx="83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Rule-based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01000" y="2171700"/>
            <a:ext cx="3619500" cy="76200"/>
          </a:xfrm>
          <a:custGeom>
            <a:avLst/>
            <a:gdLst/>
            <a:ahLst/>
            <a:cxnLst/>
            <a:rect l="l" t="t" r="r" b="b"/>
            <a:pathLst>
              <a:path w="3619500" h="76200">
                <a:moveTo>
                  <a:pt x="38100" y="0"/>
                </a:moveTo>
                <a:lnTo>
                  <a:pt x="3581400" y="0"/>
                </a:lnTo>
                <a:cubicBezTo>
                  <a:pt x="3602428" y="0"/>
                  <a:pt x="3619500" y="17072"/>
                  <a:pt x="3619500" y="38100"/>
                </a:cubicBezTo>
                <a:lnTo>
                  <a:pt x="3619500" y="38100"/>
                </a:lnTo>
                <a:cubicBezTo>
                  <a:pt x="3619500" y="59128"/>
                  <a:pt x="3602428" y="76200"/>
                  <a:pt x="35814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2171700"/>
            <a:ext cx="1266825" cy="76200"/>
          </a:xfrm>
          <a:custGeom>
            <a:avLst/>
            <a:gdLst/>
            <a:ahLst/>
            <a:cxnLst/>
            <a:rect l="l" t="t" r="r" b="b"/>
            <a:pathLst>
              <a:path w="1266825" h="76200">
                <a:moveTo>
                  <a:pt x="38100" y="0"/>
                </a:moveTo>
                <a:lnTo>
                  <a:pt x="1228725" y="0"/>
                </a:lnTo>
                <a:cubicBezTo>
                  <a:pt x="1249753" y="0"/>
                  <a:pt x="1266825" y="17072"/>
                  <a:pt x="1266825" y="38100"/>
                </a:cubicBezTo>
                <a:lnTo>
                  <a:pt x="1266825" y="38100"/>
                </a:lnTo>
                <a:cubicBezTo>
                  <a:pt x="1266825" y="59128"/>
                  <a:pt x="1249753" y="76200"/>
                  <a:pt x="122872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2428875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Single LLMs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447139" y="2428875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DC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69.8% constraints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01000" y="2733675"/>
            <a:ext cx="3619500" cy="76200"/>
          </a:xfrm>
          <a:custGeom>
            <a:avLst/>
            <a:gdLst/>
            <a:ahLst/>
            <a:cxnLst/>
            <a:rect l="l" t="t" r="r" b="b"/>
            <a:pathLst>
              <a:path w="3619500" h="76200">
                <a:moveTo>
                  <a:pt x="38100" y="0"/>
                </a:moveTo>
                <a:lnTo>
                  <a:pt x="3581400" y="0"/>
                </a:lnTo>
                <a:cubicBezTo>
                  <a:pt x="3602428" y="0"/>
                  <a:pt x="3619500" y="17072"/>
                  <a:pt x="3619500" y="38100"/>
                </a:cubicBezTo>
                <a:lnTo>
                  <a:pt x="3619500" y="38100"/>
                </a:lnTo>
                <a:cubicBezTo>
                  <a:pt x="3619500" y="59128"/>
                  <a:pt x="3602428" y="76200"/>
                  <a:pt x="35814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001000" y="2733675"/>
            <a:ext cx="2533650" cy="76200"/>
          </a:xfrm>
          <a:custGeom>
            <a:avLst/>
            <a:gdLst/>
            <a:ahLst/>
            <a:cxnLst/>
            <a:rect l="l" t="t" r="r" b="b"/>
            <a:pathLst>
              <a:path w="2533650" h="76200">
                <a:moveTo>
                  <a:pt x="38100" y="0"/>
                </a:moveTo>
                <a:lnTo>
                  <a:pt x="2495550" y="0"/>
                </a:lnTo>
                <a:cubicBezTo>
                  <a:pt x="2516578" y="0"/>
                  <a:pt x="2533650" y="17072"/>
                  <a:pt x="2533650" y="38100"/>
                </a:cubicBezTo>
                <a:lnTo>
                  <a:pt x="2533650" y="38100"/>
                </a:lnTo>
                <a:cubicBezTo>
                  <a:pt x="2533650" y="59128"/>
                  <a:pt x="2516578" y="76200"/>
                  <a:pt x="249555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DC700"/>
          </a:solidFill>
          <a:ln/>
        </p:spPr>
      </p:sp>
      <p:sp>
        <p:nvSpPr>
          <p:cNvPr id="40" name="Text 38"/>
          <p:cNvSpPr/>
          <p:nvPr/>
        </p:nvSpPr>
        <p:spPr>
          <a:xfrm>
            <a:off x="8001000" y="2990850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Human Advisors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808494" y="2990850"/>
            <a:ext cx="885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5DF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scalable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01000" y="3295650"/>
            <a:ext cx="3619500" cy="76200"/>
          </a:xfrm>
          <a:custGeom>
            <a:avLst/>
            <a:gdLst/>
            <a:ahLst/>
            <a:cxnLst/>
            <a:rect l="l" t="t" r="r" b="b"/>
            <a:pathLst>
              <a:path w="3619500" h="76200">
                <a:moveTo>
                  <a:pt x="38100" y="0"/>
                </a:moveTo>
                <a:lnTo>
                  <a:pt x="3581400" y="0"/>
                </a:lnTo>
                <a:cubicBezTo>
                  <a:pt x="3602428" y="0"/>
                  <a:pt x="3619500" y="17072"/>
                  <a:pt x="3619500" y="38100"/>
                </a:cubicBezTo>
                <a:lnTo>
                  <a:pt x="3619500" y="38100"/>
                </a:lnTo>
                <a:cubicBezTo>
                  <a:pt x="3619500" y="59128"/>
                  <a:pt x="3602428" y="76200"/>
                  <a:pt x="35814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001000" y="3295650"/>
            <a:ext cx="904875" cy="76200"/>
          </a:xfrm>
          <a:custGeom>
            <a:avLst/>
            <a:gdLst/>
            <a:ahLst/>
            <a:cxnLst/>
            <a:rect l="l" t="t" r="r" b="b"/>
            <a:pathLst>
              <a:path w="904875" h="76200">
                <a:moveTo>
                  <a:pt x="38100" y="0"/>
                </a:moveTo>
                <a:lnTo>
                  <a:pt x="866775" y="0"/>
                </a:lnTo>
                <a:cubicBezTo>
                  <a:pt x="887803" y="0"/>
                  <a:pt x="904875" y="17072"/>
                  <a:pt x="904875" y="38100"/>
                </a:cubicBezTo>
                <a:lnTo>
                  <a:pt x="904875" y="38100"/>
                </a:lnTo>
                <a:cubicBezTo>
                  <a:pt x="904875" y="59128"/>
                  <a:pt x="887803" y="76200"/>
                  <a:pt x="866775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5DF72"/>
          </a:solidFill>
          <a:ln/>
        </p:spPr>
      </p:sp>
      <p:sp>
        <p:nvSpPr>
          <p:cNvPr id="44" name="Text 42"/>
          <p:cNvSpPr/>
          <p:nvPr/>
        </p:nvSpPr>
        <p:spPr>
          <a:xfrm>
            <a:off x="8001000" y="3638550"/>
            <a:ext cx="3695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Current approaches cannot balance personalization, accuracy, and scalability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815263" y="4443413"/>
            <a:ext cx="3990975" cy="1762125"/>
          </a:xfrm>
          <a:custGeom>
            <a:avLst/>
            <a:gdLst/>
            <a:ahLst/>
            <a:cxnLst/>
            <a:rect l="l" t="t" r="r" b="b"/>
            <a:pathLst>
              <a:path w="3990975" h="1762125">
                <a:moveTo>
                  <a:pt x="76194" y="0"/>
                </a:moveTo>
                <a:lnTo>
                  <a:pt x="3914781" y="0"/>
                </a:lnTo>
                <a:cubicBezTo>
                  <a:pt x="3956833" y="0"/>
                  <a:pt x="3990975" y="34142"/>
                  <a:pt x="3990975" y="76194"/>
                </a:cubicBezTo>
                <a:lnTo>
                  <a:pt x="3990975" y="1685931"/>
                </a:lnTo>
                <a:cubicBezTo>
                  <a:pt x="3990975" y="1728012"/>
                  <a:pt x="3956862" y="1762125"/>
                  <a:pt x="3914781" y="1762125"/>
                </a:cubicBezTo>
                <a:lnTo>
                  <a:pt x="76194" y="1762125"/>
                </a:lnTo>
                <a:cubicBezTo>
                  <a:pt x="34142" y="1762125"/>
                  <a:pt x="0" y="1727983"/>
                  <a:pt x="0" y="1685931"/>
                </a:cubicBezTo>
                <a:lnTo>
                  <a:pt x="0" y="76194"/>
                </a:lnTo>
                <a:cubicBezTo>
                  <a:pt x="0" y="34142"/>
                  <a:pt x="34142" y="0"/>
                  <a:pt x="76194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10525" y="4638675"/>
            <a:ext cx="3686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010525" y="5019675"/>
            <a:ext cx="36766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"Can a coordinated multi-agent system provide personalized, accurate, and scalable financial advisory while maintaining strict privacy and regulatory compliance?"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274" y="341274"/>
            <a:ext cx="11569176" cy="170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b="1" spc="47" kern="0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 RESEARCH CONTRIBUTIONS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274" y="580165"/>
            <a:ext cx="11663026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8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Six Major Contributions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1274" y="1075012"/>
            <a:ext cx="3719882" cy="2064705"/>
          </a:xfrm>
          <a:custGeom>
            <a:avLst/>
            <a:gdLst/>
            <a:ahLst/>
            <a:cxnLst/>
            <a:rect l="l" t="t" r="r" b="b"/>
            <a:pathLst>
              <a:path w="3719882" h="2064705">
                <a:moveTo>
                  <a:pt x="34127" y="0"/>
                </a:moveTo>
                <a:lnTo>
                  <a:pt x="3685755" y="0"/>
                </a:lnTo>
                <a:cubicBezTo>
                  <a:pt x="3704603" y="0"/>
                  <a:pt x="3719882" y="15279"/>
                  <a:pt x="3719882" y="34127"/>
                </a:cubicBezTo>
                <a:lnTo>
                  <a:pt x="3719882" y="1996446"/>
                </a:lnTo>
                <a:cubicBezTo>
                  <a:pt x="3719882" y="2034145"/>
                  <a:pt x="3689322" y="2064705"/>
                  <a:pt x="3651623" y="2064705"/>
                </a:cubicBezTo>
                <a:lnTo>
                  <a:pt x="68259" y="2064705"/>
                </a:lnTo>
                <a:cubicBezTo>
                  <a:pt x="30561" y="2064705"/>
                  <a:pt x="0" y="2034145"/>
                  <a:pt x="0" y="1996446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341274" y="1075012"/>
            <a:ext cx="3719882" cy="34127"/>
          </a:xfrm>
          <a:custGeom>
            <a:avLst/>
            <a:gdLst/>
            <a:ahLst/>
            <a:cxnLst/>
            <a:rect l="l" t="t" r="r" b="b"/>
            <a:pathLst>
              <a:path w="3719882" h="34127">
                <a:moveTo>
                  <a:pt x="34127" y="0"/>
                </a:moveTo>
                <a:lnTo>
                  <a:pt x="3685755" y="0"/>
                </a:lnTo>
                <a:cubicBezTo>
                  <a:pt x="3704603" y="0"/>
                  <a:pt x="3719882" y="15279"/>
                  <a:pt x="3719882" y="34127"/>
                </a:cubicBezTo>
                <a:lnTo>
                  <a:pt x="3719882" y="34127"/>
                </a:lnTo>
                <a:lnTo>
                  <a:pt x="0" y="34127"/>
                </a:ln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11910" y="1262712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68256" y="0"/>
                </a:moveTo>
                <a:lnTo>
                  <a:pt x="341272" y="0"/>
                </a:lnTo>
                <a:cubicBezTo>
                  <a:pt x="378969" y="0"/>
                  <a:pt x="409528" y="30559"/>
                  <a:pt x="409528" y="68256"/>
                </a:cubicBezTo>
                <a:lnTo>
                  <a:pt x="409528" y="341272"/>
                </a:lnTo>
                <a:cubicBezTo>
                  <a:pt x="409528" y="378969"/>
                  <a:pt x="378969" y="409528"/>
                  <a:pt x="341272" y="409528"/>
                </a:cubicBezTo>
                <a:lnTo>
                  <a:pt x="68256" y="409528"/>
                </a:lnTo>
                <a:cubicBezTo>
                  <a:pt x="30559" y="409528"/>
                  <a:pt x="0" y="378969"/>
                  <a:pt x="0" y="341272"/>
                </a:cubicBezTo>
                <a:lnTo>
                  <a:pt x="0" y="68256"/>
                </a:lnTo>
                <a:cubicBezTo>
                  <a:pt x="0" y="30559"/>
                  <a:pt x="30559" y="0"/>
                  <a:pt x="68256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469251" y="1262712"/>
            <a:ext cx="494847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4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3821" y="1348031"/>
            <a:ext cx="263633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Hierarchical Multi-Agent 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1910" y="1774623"/>
            <a:ext cx="3446864" cy="887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Design and implementation of </a:t>
            </a:r>
            <a:pPr>
              <a:lnSpc>
                <a:spcPct val="140000"/>
              </a:lnSpc>
            </a:pPr>
            <a:r>
              <a:rPr lang="en-US" sz="10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Master orchestrator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five specialized sub-agents for income analysis, budget planning, investment advisory, debt optimization, and financial education.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8974" y="2798444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51191" y="17064"/>
                </a:moveTo>
                <a:cubicBezTo>
                  <a:pt x="51191" y="12345"/>
                  <a:pt x="55004" y="8532"/>
                  <a:pt x="59723" y="8532"/>
                </a:cubicBezTo>
                <a:lnTo>
                  <a:pt x="76787" y="8532"/>
                </a:lnTo>
                <a:cubicBezTo>
                  <a:pt x="81506" y="8532"/>
                  <a:pt x="85318" y="12345"/>
                  <a:pt x="85318" y="17064"/>
                </a:cubicBezTo>
                <a:lnTo>
                  <a:pt x="85318" y="34127"/>
                </a:lnTo>
                <a:cubicBezTo>
                  <a:pt x="85318" y="38847"/>
                  <a:pt x="81506" y="42659"/>
                  <a:pt x="76787" y="42659"/>
                </a:cubicBezTo>
                <a:lnTo>
                  <a:pt x="74654" y="42659"/>
                </a:lnTo>
                <a:lnTo>
                  <a:pt x="74654" y="59723"/>
                </a:lnTo>
                <a:lnTo>
                  <a:pt x="106648" y="59723"/>
                </a:lnTo>
                <a:cubicBezTo>
                  <a:pt x="117259" y="59723"/>
                  <a:pt x="125845" y="68308"/>
                  <a:pt x="125845" y="78920"/>
                </a:cubicBezTo>
                <a:lnTo>
                  <a:pt x="125845" y="93850"/>
                </a:lnTo>
                <a:lnTo>
                  <a:pt x="127978" y="93850"/>
                </a:lnTo>
                <a:cubicBezTo>
                  <a:pt x="132697" y="93850"/>
                  <a:pt x="136509" y="97663"/>
                  <a:pt x="136509" y="102382"/>
                </a:cubicBezTo>
                <a:lnTo>
                  <a:pt x="136509" y="119446"/>
                </a:lnTo>
                <a:cubicBezTo>
                  <a:pt x="136509" y="124165"/>
                  <a:pt x="132697" y="127978"/>
                  <a:pt x="127978" y="127978"/>
                </a:cubicBezTo>
                <a:lnTo>
                  <a:pt x="110914" y="127978"/>
                </a:lnTo>
                <a:cubicBezTo>
                  <a:pt x="106195" y="127978"/>
                  <a:pt x="102382" y="124165"/>
                  <a:pt x="102382" y="119446"/>
                </a:cubicBezTo>
                <a:lnTo>
                  <a:pt x="102382" y="102382"/>
                </a:lnTo>
                <a:cubicBezTo>
                  <a:pt x="102382" y="97663"/>
                  <a:pt x="106195" y="93850"/>
                  <a:pt x="110914" y="93850"/>
                </a:cubicBezTo>
                <a:lnTo>
                  <a:pt x="113047" y="93850"/>
                </a:lnTo>
                <a:lnTo>
                  <a:pt x="113047" y="78920"/>
                </a:lnTo>
                <a:cubicBezTo>
                  <a:pt x="113047" y="75373"/>
                  <a:pt x="110194" y="72521"/>
                  <a:pt x="106648" y="72521"/>
                </a:cubicBezTo>
                <a:lnTo>
                  <a:pt x="74654" y="72521"/>
                </a:lnTo>
                <a:lnTo>
                  <a:pt x="74654" y="93850"/>
                </a:lnTo>
                <a:lnTo>
                  <a:pt x="76787" y="93850"/>
                </a:lnTo>
                <a:cubicBezTo>
                  <a:pt x="81506" y="93850"/>
                  <a:pt x="85318" y="97663"/>
                  <a:pt x="85318" y="102382"/>
                </a:cubicBezTo>
                <a:lnTo>
                  <a:pt x="85318" y="119446"/>
                </a:lnTo>
                <a:cubicBezTo>
                  <a:pt x="85318" y="124165"/>
                  <a:pt x="81506" y="127978"/>
                  <a:pt x="76787" y="127978"/>
                </a:cubicBezTo>
                <a:lnTo>
                  <a:pt x="59723" y="127978"/>
                </a:lnTo>
                <a:cubicBezTo>
                  <a:pt x="55004" y="127978"/>
                  <a:pt x="51191" y="124165"/>
                  <a:pt x="51191" y="119446"/>
                </a:cubicBezTo>
                <a:lnTo>
                  <a:pt x="51191" y="102382"/>
                </a:lnTo>
                <a:cubicBezTo>
                  <a:pt x="51191" y="97663"/>
                  <a:pt x="55004" y="93850"/>
                  <a:pt x="59723" y="93850"/>
                </a:cubicBezTo>
                <a:lnTo>
                  <a:pt x="61856" y="93850"/>
                </a:lnTo>
                <a:lnTo>
                  <a:pt x="61856" y="72521"/>
                </a:lnTo>
                <a:lnTo>
                  <a:pt x="29861" y="72521"/>
                </a:lnTo>
                <a:cubicBezTo>
                  <a:pt x="26315" y="72521"/>
                  <a:pt x="23463" y="75373"/>
                  <a:pt x="23463" y="78920"/>
                </a:cubicBezTo>
                <a:lnTo>
                  <a:pt x="23463" y="93850"/>
                </a:lnTo>
                <a:lnTo>
                  <a:pt x="25596" y="93850"/>
                </a:lnTo>
                <a:cubicBezTo>
                  <a:pt x="30315" y="93850"/>
                  <a:pt x="34127" y="97663"/>
                  <a:pt x="34127" y="102382"/>
                </a:cubicBezTo>
                <a:lnTo>
                  <a:pt x="34127" y="119446"/>
                </a:lnTo>
                <a:cubicBezTo>
                  <a:pt x="34127" y="124165"/>
                  <a:pt x="30315" y="127978"/>
                  <a:pt x="25596" y="127978"/>
                </a:cubicBezTo>
                <a:lnTo>
                  <a:pt x="8532" y="127978"/>
                </a:lnTo>
                <a:cubicBezTo>
                  <a:pt x="3813" y="127978"/>
                  <a:pt x="0" y="124165"/>
                  <a:pt x="0" y="119446"/>
                </a:cubicBezTo>
                <a:lnTo>
                  <a:pt x="0" y="102382"/>
                </a:lnTo>
                <a:cubicBezTo>
                  <a:pt x="0" y="97663"/>
                  <a:pt x="3813" y="93850"/>
                  <a:pt x="8532" y="93850"/>
                </a:cubicBezTo>
                <a:lnTo>
                  <a:pt x="10665" y="93850"/>
                </a:lnTo>
                <a:lnTo>
                  <a:pt x="10665" y="78920"/>
                </a:lnTo>
                <a:cubicBezTo>
                  <a:pt x="10665" y="68308"/>
                  <a:pt x="19250" y="59723"/>
                  <a:pt x="29861" y="59723"/>
                </a:cubicBezTo>
                <a:lnTo>
                  <a:pt x="61856" y="59723"/>
                </a:lnTo>
                <a:lnTo>
                  <a:pt x="61856" y="42659"/>
                </a:lnTo>
                <a:lnTo>
                  <a:pt x="59723" y="42659"/>
                </a:lnTo>
                <a:cubicBezTo>
                  <a:pt x="55004" y="42659"/>
                  <a:pt x="51191" y="38847"/>
                  <a:pt x="51191" y="34127"/>
                </a:cubicBezTo>
                <a:lnTo>
                  <a:pt x="51191" y="1706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50802" y="2764316"/>
            <a:ext cx="130537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coordinated agents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5526" y="1075012"/>
            <a:ext cx="3719882" cy="2064705"/>
          </a:xfrm>
          <a:custGeom>
            <a:avLst/>
            <a:gdLst/>
            <a:ahLst/>
            <a:cxnLst/>
            <a:rect l="l" t="t" r="r" b="b"/>
            <a:pathLst>
              <a:path w="3719882" h="2064705">
                <a:moveTo>
                  <a:pt x="34127" y="0"/>
                </a:moveTo>
                <a:lnTo>
                  <a:pt x="3685755" y="0"/>
                </a:lnTo>
                <a:cubicBezTo>
                  <a:pt x="3704603" y="0"/>
                  <a:pt x="3719882" y="15279"/>
                  <a:pt x="3719882" y="34127"/>
                </a:cubicBezTo>
                <a:lnTo>
                  <a:pt x="3719882" y="1996446"/>
                </a:lnTo>
                <a:cubicBezTo>
                  <a:pt x="3719882" y="2034145"/>
                  <a:pt x="3689322" y="2064705"/>
                  <a:pt x="3651623" y="2064705"/>
                </a:cubicBezTo>
                <a:lnTo>
                  <a:pt x="68259" y="2064705"/>
                </a:lnTo>
                <a:cubicBezTo>
                  <a:pt x="30561" y="2064705"/>
                  <a:pt x="0" y="2034145"/>
                  <a:pt x="0" y="1996446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235526" y="1075012"/>
            <a:ext cx="3719882" cy="34127"/>
          </a:xfrm>
          <a:custGeom>
            <a:avLst/>
            <a:gdLst/>
            <a:ahLst/>
            <a:cxnLst/>
            <a:rect l="l" t="t" r="r" b="b"/>
            <a:pathLst>
              <a:path w="3719882" h="34127">
                <a:moveTo>
                  <a:pt x="34127" y="0"/>
                </a:moveTo>
                <a:lnTo>
                  <a:pt x="3685755" y="0"/>
                </a:lnTo>
                <a:cubicBezTo>
                  <a:pt x="3704603" y="0"/>
                  <a:pt x="3719882" y="15279"/>
                  <a:pt x="3719882" y="34127"/>
                </a:cubicBezTo>
                <a:lnTo>
                  <a:pt x="3719882" y="34127"/>
                </a:lnTo>
                <a:lnTo>
                  <a:pt x="0" y="34127"/>
                </a:ln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406162" y="1262712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68256" y="0"/>
                </a:moveTo>
                <a:lnTo>
                  <a:pt x="341272" y="0"/>
                </a:lnTo>
                <a:cubicBezTo>
                  <a:pt x="378969" y="0"/>
                  <a:pt x="409528" y="30559"/>
                  <a:pt x="409528" y="68256"/>
                </a:cubicBezTo>
                <a:lnTo>
                  <a:pt x="409528" y="341272"/>
                </a:lnTo>
                <a:cubicBezTo>
                  <a:pt x="409528" y="378969"/>
                  <a:pt x="378969" y="409528"/>
                  <a:pt x="341272" y="409528"/>
                </a:cubicBezTo>
                <a:lnTo>
                  <a:pt x="68256" y="409528"/>
                </a:lnTo>
                <a:cubicBezTo>
                  <a:pt x="30559" y="409528"/>
                  <a:pt x="0" y="378969"/>
                  <a:pt x="0" y="341272"/>
                </a:cubicBezTo>
                <a:lnTo>
                  <a:pt x="0" y="68256"/>
                </a:lnTo>
                <a:cubicBezTo>
                  <a:pt x="0" y="30559"/>
                  <a:pt x="30559" y="0"/>
                  <a:pt x="68256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363503" y="1262712"/>
            <a:ext cx="494847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4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8073" y="1348031"/>
            <a:ext cx="267046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Comprehensive Evaluation Framework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06162" y="1774623"/>
            <a:ext cx="3446864" cy="887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Novel metrics combining </a:t>
            </a:r>
            <a:pPr>
              <a:lnSpc>
                <a:spcPct val="140000"/>
              </a:lnSpc>
            </a:pPr>
            <a:r>
              <a:rPr lang="en-US" sz="10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automated correctness checking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(98.7% accuracy), </a:t>
            </a:r>
            <a:pPr>
              <a:lnSpc>
                <a:spcPct val="140000"/>
              </a:lnSpc>
            </a:pPr>
            <a:r>
              <a:rPr lang="en-US" sz="10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constraint satisfaction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(96.3%), consistency validation, and </a:t>
            </a:r>
            <a:pPr>
              <a:lnSpc>
                <a:spcPct val="140000"/>
              </a:lnSpc>
            </a:pPr>
            <a:r>
              <a:rPr lang="en-US" sz="10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human expert assessment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(4.6/5 rating).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23226" y="2798444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8532" y="8532"/>
                </a:moveTo>
                <a:cubicBezTo>
                  <a:pt x="13251" y="8532"/>
                  <a:pt x="17064" y="12345"/>
                  <a:pt x="17064" y="17064"/>
                </a:cubicBezTo>
                <a:lnTo>
                  <a:pt x="17064" y="106648"/>
                </a:lnTo>
                <a:cubicBezTo>
                  <a:pt x="17064" y="108994"/>
                  <a:pt x="18983" y="110914"/>
                  <a:pt x="21330" y="110914"/>
                </a:cubicBezTo>
                <a:lnTo>
                  <a:pt x="127978" y="110914"/>
                </a:lnTo>
                <a:cubicBezTo>
                  <a:pt x="132697" y="110914"/>
                  <a:pt x="136509" y="114727"/>
                  <a:pt x="136509" y="119446"/>
                </a:cubicBezTo>
                <a:cubicBezTo>
                  <a:pt x="136509" y="124165"/>
                  <a:pt x="132697" y="127978"/>
                  <a:pt x="127978" y="127978"/>
                </a:cubicBezTo>
                <a:lnTo>
                  <a:pt x="21330" y="127978"/>
                </a:lnTo>
                <a:cubicBezTo>
                  <a:pt x="9545" y="127978"/>
                  <a:pt x="0" y="118433"/>
                  <a:pt x="0" y="106648"/>
                </a:cubicBezTo>
                <a:lnTo>
                  <a:pt x="0" y="17064"/>
                </a:lnTo>
                <a:cubicBezTo>
                  <a:pt x="0" y="12345"/>
                  <a:pt x="3813" y="8532"/>
                  <a:pt x="8532" y="8532"/>
                </a:cubicBezTo>
                <a:close/>
                <a:moveTo>
                  <a:pt x="34127" y="25596"/>
                </a:moveTo>
                <a:cubicBezTo>
                  <a:pt x="34127" y="20876"/>
                  <a:pt x="37940" y="17064"/>
                  <a:pt x="42659" y="17064"/>
                </a:cubicBezTo>
                <a:lnTo>
                  <a:pt x="93850" y="17064"/>
                </a:lnTo>
                <a:cubicBezTo>
                  <a:pt x="98569" y="17064"/>
                  <a:pt x="102382" y="20876"/>
                  <a:pt x="102382" y="25596"/>
                </a:cubicBezTo>
                <a:cubicBezTo>
                  <a:pt x="102382" y="30315"/>
                  <a:pt x="98569" y="34127"/>
                  <a:pt x="93850" y="34127"/>
                </a:cubicBezTo>
                <a:lnTo>
                  <a:pt x="42659" y="34127"/>
                </a:lnTo>
                <a:cubicBezTo>
                  <a:pt x="37940" y="34127"/>
                  <a:pt x="34127" y="30315"/>
                  <a:pt x="34127" y="25596"/>
                </a:cubicBezTo>
                <a:close/>
                <a:moveTo>
                  <a:pt x="42659" y="46925"/>
                </a:moveTo>
                <a:lnTo>
                  <a:pt x="76787" y="46925"/>
                </a:lnTo>
                <a:cubicBezTo>
                  <a:pt x="81506" y="46925"/>
                  <a:pt x="85318" y="50738"/>
                  <a:pt x="85318" y="55457"/>
                </a:cubicBezTo>
                <a:cubicBezTo>
                  <a:pt x="85318" y="60176"/>
                  <a:pt x="81506" y="63989"/>
                  <a:pt x="76787" y="63989"/>
                </a:cubicBezTo>
                <a:lnTo>
                  <a:pt x="42659" y="63989"/>
                </a:lnTo>
                <a:cubicBezTo>
                  <a:pt x="37940" y="63989"/>
                  <a:pt x="34127" y="60176"/>
                  <a:pt x="34127" y="55457"/>
                </a:cubicBezTo>
                <a:cubicBezTo>
                  <a:pt x="34127" y="50738"/>
                  <a:pt x="37940" y="46925"/>
                  <a:pt x="42659" y="46925"/>
                </a:cubicBezTo>
                <a:close/>
                <a:moveTo>
                  <a:pt x="42659" y="76787"/>
                </a:moveTo>
                <a:lnTo>
                  <a:pt x="110914" y="76787"/>
                </a:lnTo>
                <a:cubicBezTo>
                  <a:pt x="115633" y="76787"/>
                  <a:pt x="119446" y="80599"/>
                  <a:pt x="119446" y="85318"/>
                </a:cubicBezTo>
                <a:cubicBezTo>
                  <a:pt x="119446" y="90038"/>
                  <a:pt x="115633" y="93850"/>
                  <a:pt x="110914" y="93850"/>
                </a:cubicBezTo>
                <a:lnTo>
                  <a:pt x="42659" y="93850"/>
                </a:lnTo>
                <a:cubicBezTo>
                  <a:pt x="37940" y="93850"/>
                  <a:pt x="34127" y="90038"/>
                  <a:pt x="34127" y="85318"/>
                </a:cubicBezTo>
                <a:cubicBezTo>
                  <a:pt x="34127" y="80599"/>
                  <a:pt x="37940" y="76787"/>
                  <a:pt x="42659" y="76787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645054" y="2764316"/>
            <a:ext cx="161251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Multi-dimensional metrics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29777" y="1075012"/>
            <a:ext cx="3719882" cy="2064705"/>
          </a:xfrm>
          <a:custGeom>
            <a:avLst/>
            <a:gdLst/>
            <a:ahLst/>
            <a:cxnLst/>
            <a:rect l="l" t="t" r="r" b="b"/>
            <a:pathLst>
              <a:path w="3719882" h="2064705">
                <a:moveTo>
                  <a:pt x="34127" y="0"/>
                </a:moveTo>
                <a:lnTo>
                  <a:pt x="3685755" y="0"/>
                </a:lnTo>
                <a:cubicBezTo>
                  <a:pt x="3704603" y="0"/>
                  <a:pt x="3719882" y="15279"/>
                  <a:pt x="3719882" y="34127"/>
                </a:cubicBezTo>
                <a:lnTo>
                  <a:pt x="3719882" y="1996446"/>
                </a:lnTo>
                <a:cubicBezTo>
                  <a:pt x="3719882" y="2034145"/>
                  <a:pt x="3689322" y="2064705"/>
                  <a:pt x="3651623" y="2064705"/>
                </a:cubicBezTo>
                <a:lnTo>
                  <a:pt x="68259" y="2064705"/>
                </a:lnTo>
                <a:cubicBezTo>
                  <a:pt x="30561" y="2064705"/>
                  <a:pt x="0" y="2034145"/>
                  <a:pt x="0" y="1996446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9777" y="1075012"/>
            <a:ext cx="3719882" cy="34127"/>
          </a:xfrm>
          <a:custGeom>
            <a:avLst/>
            <a:gdLst/>
            <a:ahLst/>
            <a:cxnLst/>
            <a:rect l="l" t="t" r="r" b="b"/>
            <a:pathLst>
              <a:path w="3719882" h="34127">
                <a:moveTo>
                  <a:pt x="34127" y="0"/>
                </a:moveTo>
                <a:lnTo>
                  <a:pt x="3685755" y="0"/>
                </a:lnTo>
                <a:cubicBezTo>
                  <a:pt x="3704603" y="0"/>
                  <a:pt x="3719882" y="15279"/>
                  <a:pt x="3719882" y="34127"/>
                </a:cubicBezTo>
                <a:lnTo>
                  <a:pt x="3719882" y="34127"/>
                </a:lnTo>
                <a:lnTo>
                  <a:pt x="0" y="34127"/>
                </a:ln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300414" y="1262712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68256" y="0"/>
                </a:moveTo>
                <a:lnTo>
                  <a:pt x="341272" y="0"/>
                </a:lnTo>
                <a:cubicBezTo>
                  <a:pt x="378969" y="0"/>
                  <a:pt x="409528" y="30559"/>
                  <a:pt x="409528" y="68256"/>
                </a:cubicBezTo>
                <a:lnTo>
                  <a:pt x="409528" y="341272"/>
                </a:lnTo>
                <a:cubicBezTo>
                  <a:pt x="409528" y="378969"/>
                  <a:pt x="378969" y="409528"/>
                  <a:pt x="341272" y="409528"/>
                </a:cubicBezTo>
                <a:lnTo>
                  <a:pt x="68256" y="409528"/>
                </a:lnTo>
                <a:cubicBezTo>
                  <a:pt x="30559" y="409528"/>
                  <a:pt x="0" y="378969"/>
                  <a:pt x="0" y="341272"/>
                </a:cubicBezTo>
                <a:lnTo>
                  <a:pt x="0" y="68256"/>
                </a:lnTo>
                <a:cubicBezTo>
                  <a:pt x="0" y="30559"/>
                  <a:pt x="30559" y="0"/>
                  <a:pt x="68256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8257755" y="1262712"/>
            <a:ext cx="494847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4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12325" y="1348031"/>
            <a:ext cx="183434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00414" y="1774623"/>
            <a:ext cx="3446864" cy="665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Advanced orchestration strategies achieving </a:t>
            </a:r>
            <a:pPr>
              <a:lnSpc>
                <a:spcPct val="140000"/>
              </a:lnSpc>
            </a:pPr>
            <a:r>
              <a:rPr lang="en-US" sz="10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2.3x speedup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through parallel agent execution, intelligent caching with semantic similarity, and dynamic resource allocation.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26010" y="2576616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90331" y="-2640"/>
                </a:moveTo>
                <a:cubicBezTo>
                  <a:pt x="93504" y="-347"/>
                  <a:pt x="94677" y="3813"/>
                  <a:pt x="93237" y="7439"/>
                </a:cubicBezTo>
                <a:lnTo>
                  <a:pt x="72334" y="59723"/>
                </a:lnTo>
                <a:lnTo>
                  <a:pt x="110914" y="59723"/>
                </a:lnTo>
                <a:cubicBezTo>
                  <a:pt x="114513" y="59723"/>
                  <a:pt x="117713" y="61962"/>
                  <a:pt x="118939" y="65349"/>
                </a:cubicBezTo>
                <a:cubicBezTo>
                  <a:pt x="120166" y="68735"/>
                  <a:pt x="119126" y="72521"/>
                  <a:pt x="116380" y="74814"/>
                </a:cubicBezTo>
                <a:lnTo>
                  <a:pt x="39593" y="138802"/>
                </a:lnTo>
                <a:cubicBezTo>
                  <a:pt x="36580" y="141309"/>
                  <a:pt x="32288" y="141442"/>
                  <a:pt x="29115" y="139149"/>
                </a:cubicBezTo>
                <a:cubicBezTo>
                  <a:pt x="25942" y="136856"/>
                  <a:pt x="24769" y="132697"/>
                  <a:pt x="26209" y="129071"/>
                </a:cubicBezTo>
                <a:lnTo>
                  <a:pt x="47112" y="76787"/>
                </a:lnTo>
                <a:lnTo>
                  <a:pt x="8532" y="76787"/>
                </a:lnTo>
                <a:cubicBezTo>
                  <a:pt x="4932" y="76787"/>
                  <a:pt x="1733" y="74547"/>
                  <a:pt x="507" y="71161"/>
                </a:cubicBezTo>
                <a:cubicBezTo>
                  <a:pt x="-720" y="67775"/>
                  <a:pt x="320" y="63989"/>
                  <a:pt x="3066" y="61696"/>
                </a:cubicBezTo>
                <a:lnTo>
                  <a:pt x="79853" y="-2293"/>
                </a:lnTo>
                <a:cubicBezTo>
                  <a:pt x="82866" y="-4799"/>
                  <a:pt x="87158" y="-4932"/>
                  <a:pt x="90331" y="-264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539306" y="2542488"/>
            <a:ext cx="116033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1.23s avg response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1274" y="3327418"/>
            <a:ext cx="3719882" cy="1842878"/>
          </a:xfrm>
          <a:custGeom>
            <a:avLst/>
            <a:gdLst/>
            <a:ahLst/>
            <a:cxnLst/>
            <a:rect l="l" t="t" r="r" b="b"/>
            <a:pathLst>
              <a:path w="3719882" h="1842878">
                <a:moveTo>
                  <a:pt x="34127" y="0"/>
                </a:moveTo>
                <a:lnTo>
                  <a:pt x="3685755" y="0"/>
                </a:lnTo>
                <a:cubicBezTo>
                  <a:pt x="3704603" y="0"/>
                  <a:pt x="3719882" y="15279"/>
                  <a:pt x="3719882" y="34127"/>
                </a:cubicBezTo>
                <a:lnTo>
                  <a:pt x="3719882" y="1774617"/>
                </a:lnTo>
                <a:cubicBezTo>
                  <a:pt x="3719882" y="1812291"/>
                  <a:pt x="3689296" y="1842878"/>
                  <a:pt x="3651622" y="1842878"/>
                </a:cubicBezTo>
                <a:lnTo>
                  <a:pt x="68260" y="1842878"/>
                </a:lnTo>
                <a:cubicBezTo>
                  <a:pt x="30586" y="1842878"/>
                  <a:pt x="0" y="1812291"/>
                  <a:pt x="0" y="177461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9" name="Shape 27"/>
          <p:cNvSpPr/>
          <p:nvPr/>
        </p:nvSpPr>
        <p:spPr>
          <a:xfrm>
            <a:off x="341274" y="3327418"/>
            <a:ext cx="3719882" cy="34127"/>
          </a:xfrm>
          <a:custGeom>
            <a:avLst/>
            <a:gdLst/>
            <a:ahLst/>
            <a:cxnLst/>
            <a:rect l="l" t="t" r="r" b="b"/>
            <a:pathLst>
              <a:path w="3719882" h="34127">
                <a:moveTo>
                  <a:pt x="34127" y="0"/>
                </a:moveTo>
                <a:lnTo>
                  <a:pt x="3685755" y="0"/>
                </a:lnTo>
                <a:cubicBezTo>
                  <a:pt x="3704603" y="0"/>
                  <a:pt x="3719882" y="15279"/>
                  <a:pt x="3719882" y="34127"/>
                </a:cubicBezTo>
                <a:lnTo>
                  <a:pt x="3719882" y="34127"/>
                </a:lnTo>
                <a:lnTo>
                  <a:pt x="0" y="34127"/>
                </a:ln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0" name="Shape 28"/>
          <p:cNvSpPr/>
          <p:nvPr/>
        </p:nvSpPr>
        <p:spPr>
          <a:xfrm>
            <a:off x="511910" y="3515118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68256" y="0"/>
                </a:moveTo>
                <a:lnTo>
                  <a:pt x="341272" y="0"/>
                </a:lnTo>
                <a:cubicBezTo>
                  <a:pt x="378969" y="0"/>
                  <a:pt x="409528" y="30559"/>
                  <a:pt x="409528" y="68256"/>
                </a:cubicBezTo>
                <a:lnTo>
                  <a:pt x="409528" y="341272"/>
                </a:lnTo>
                <a:cubicBezTo>
                  <a:pt x="409528" y="378969"/>
                  <a:pt x="378969" y="409528"/>
                  <a:pt x="341272" y="409528"/>
                </a:cubicBezTo>
                <a:lnTo>
                  <a:pt x="68256" y="409528"/>
                </a:lnTo>
                <a:cubicBezTo>
                  <a:pt x="30559" y="409528"/>
                  <a:pt x="0" y="378969"/>
                  <a:pt x="0" y="341272"/>
                </a:cubicBezTo>
                <a:lnTo>
                  <a:pt x="0" y="68256"/>
                </a:lnTo>
                <a:cubicBezTo>
                  <a:pt x="0" y="30559"/>
                  <a:pt x="30559" y="0"/>
                  <a:pt x="68256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1" name="Text 29"/>
          <p:cNvSpPr/>
          <p:nvPr/>
        </p:nvSpPr>
        <p:spPr>
          <a:xfrm>
            <a:off x="469251" y="3515118"/>
            <a:ext cx="494847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4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23821" y="3600437"/>
            <a:ext cx="2056174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Robust Baseline Comparisons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1910" y="4027029"/>
            <a:ext cx="3446864" cy="665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Extensive benchmarking against </a:t>
            </a:r>
            <a:pPr>
              <a:lnSpc>
                <a:spcPct val="140000"/>
              </a:lnSpc>
            </a:pPr>
            <a:r>
              <a:rPr lang="en-US" sz="10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single LLM advisors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, </a:t>
            </a:r>
            <a:pPr>
              <a:lnSpc>
                <a:spcPct val="140000"/>
              </a:lnSpc>
            </a:pPr>
            <a:r>
              <a:rPr lang="en-US" sz="10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rule-based systems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, and </a:t>
            </a:r>
            <a:pPr>
              <a:lnSpc>
                <a:spcPct val="140000"/>
              </a:lnSpc>
            </a:pPr>
            <a:r>
              <a:rPr lang="en-US" sz="10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naive heuristics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across 50,000 synthetic scenarios and 10,000 real transactions.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11910" y="4829022"/>
            <a:ext cx="170637" cy="136509"/>
          </a:xfrm>
          <a:custGeom>
            <a:avLst/>
            <a:gdLst/>
            <a:ahLst/>
            <a:cxnLst/>
            <a:rect l="l" t="t" r="r" b="b"/>
            <a:pathLst>
              <a:path w="170637" h="136509">
                <a:moveTo>
                  <a:pt x="102382" y="8532"/>
                </a:moveTo>
                <a:lnTo>
                  <a:pt x="136509" y="8532"/>
                </a:lnTo>
                <a:cubicBezTo>
                  <a:pt x="141229" y="8532"/>
                  <a:pt x="145041" y="12345"/>
                  <a:pt x="145041" y="17064"/>
                </a:cubicBezTo>
                <a:cubicBezTo>
                  <a:pt x="145041" y="21783"/>
                  <a:pt x="141229" y="25596"/>
                  <a:pt x="136509" y="25596"/>
                </a:cubicBezTo>
                <a:lnTo>
                  <a:pt x="106221" y="25596"/>
                </a:lnTo>
                <a:cubicBezTo>
                  <a:pt x="104835" y="32474"/>
                  <a:pt x="100116" y="38153"/>
                  <a:pt x="93850" y="40873"/>
                </a:cubicBezTo>
                <a:lnTo>
                  <a:pt x="93850" y="119446"/>
                </a:lnTo>
                <a:lnTo>
                  <a:pt x="136509" y="119446"/>
                </a:lnTo>
                <a:cubicBezTo>
                  <a:pt x="141229" y="119446"/>
                  <a:pt x="145041" y="123258"/>
                  <a:pt x="145041" y="127978"/>
                </a:cubicBezTo>
                <a:cubicBezTo>
                  <a:pt x="145041" y="132697"/>
                  <a:pt x="141229" y="136509"/>
                  <a:pt x="136509" y="136509"/>
                </a:cubicBezTo>
                <a:lnTo>
                  <a:pt x="34127" y="136509"/>
                </a:lnTo>
                <a:cubicBezTo>
                  <a:pt x="29408" y="136509"/>
                  <a:pt x="25596" y="132697"/>
                  <a:pt x="25596" y="127978"/>
                </a:cubicBezTo>
                <a:cubicBezTo>
                  <a:pt x="25596" y="123258"/>
                  <a:pt x="29408" y="119446"/>
                  <a:pt x="34127" y="119446"/>
                </a:cubicBezTo>
                <a:lnTo>
                  <a:pt x="76787" y="119446"/>
                </a:lnTo>
                <a:lnTo>
                  <a:pt x="76787" y="40873"/>
                </a:lnTo>
                <a:cubicBezTo>
                  <a:pt x="70521" y="38127"/>
                  <a:pt x="65802" y="32448"/>
                  <a:pt x="64415" y="25596"/>
                </a:cubicBezTo>
                <a:lnTo>
                  <a:pt x="34127" y="25596"/>
                </a:lnTo>
                <a:cubicBezTo>
                  <a:pt x="29408" y="25596"/>
                  <a:pt x="25596" y="21783"/>
                  <a:pt x="25596" y="17064"/>
                </a:cubicBezTo>
                <a:cubicBezTo>
                  <a:pt x="25596" y="12345"/>
                  <a:pt x="29408" y="8532"/>
                  <a:pt x="34127" y="8532"/>
                </a:cubicBezTo>
                <a:lnTo>
                  <a:pt x="68255" y="8532"/>
                </a:lnTo>
                <a:cubicBezTo>
                  <a:pt x="72147" y="3359"/>
                  <a:pt x="78333" y="0"/>
                  <a:pt x="85318" y="0"/>
                </a:cubicBezTo>
                <a:cubicBezTo>
                  <a:pt x="92304" y="0"/>
                  <a:pt x="98489" y="3359"/>
                  <a:pt x="102382" y="8532"/>
                </a:cubicBezTo>
                <a:close/>
                <a:moveTo>
                  <a:pt x="117206" y="85318"/>
                </a:moveTo>
                <a:lnTo>
                  <a:pt x="155813" y="85318"/>
                </a:lnTo>
                <a:lnTo>
                  <a:pt x="136509" y="52204"/>
                </a:lnTo>
                <a:lnTo>
                  <a:pt x="117206" y="85318"/>
                </a:lnTo>
                <a:close/>
                <a:moveTo>
                  <a:pt x="136509" y="110914"/>
                </a:moveTo>
                <a:cubicBezTo>
                  <a:pt x="119739" y="110914"/>
                  <a:pt x="105795" y="101849"/>
                  <a:pt x="102915" y="89878"/>
                </a:cubicBezTo>
                <a:cubicBezTo>
                  <a:pt x="102222" y="86945"/>
                  <a:pt x="103182" y="83932"/>
                  <a:pt x="104702" y="81319"/>
                </a:cubicBezTo>
                <a:lnTo>
                  <a:pt x="130084" y="37807"/>
                </a:lnTo>
                <a:cubicBezTo>
                  <a:pt x="131417" y="35514"/>
                  <a:pt x="133870" y="34127"/>
                  <a:pt x="136509" y="34127"/>
                </a:cubicBezTo>
                <a:cubicBezTo>
                  <a:pt x="139149" y="34127"/>
                  <a:pt x="141602" y="35540"/>
                  <a:pt x="142935" y="37807"/>
                </a:cubicBezTo>
                <a:lnTo>
                  <a:pt x="168317" y="81319"/>
                </a:lnTo>
                <a:cubicBezTo>
                  <a:pt x="169837" y="83932"/>
                  <a:pt x="170797" y="86945"/>
                  <a:pt x="170104" y="89878"/>
                </a:cubicBezTo>
                <a:cubicBezTo>
                  <a:pt x="167224" y="101822"/>
                  <a:pt x="153280" y="110914"/>
                  <a:pt x="136509" y="110914"/>
                </a:cubicBezTo>
                <a:close/>
                <a:moveTo>
                  <a:pt x="33807" y="52204"/>
                </a:moveTo>
                <a:lnTo>
                  <a:pt x="14504" y="85318"/>
                </a:lnTo>
                <a:lnTo>
                  <a:pt x="53137" y="85318"/>
                </a:lnTo>
                <a:lnTo>
                  <a:pt x="33807" y="52204"/>
                </a:lnTo>
                <a:close/>
                <a:moveTo>
                  <a:pt x="240" y="89878"/>
                </a:moveTo>
                <a:cubicBezTo>
                  <a:pt x="-453" y="86945"/>
                  <a:pt x="507" y="83932"/>
                  <a:pt x="2026" y="81319"/>
                </a:cubicBezTo>
                <a:lnTo>
                  <a:pt x="27409" y="37807"/>
                </a:lnTo>
                <a:cubicBezTo>
                  <a:pt x="28742" y="35514"/>
                  <a:pt x="31195" y="34127"/>
                  <a:pt x="33834" y="34127"/>
                </a:cubicBezTo>
                <a:cubicBezTo>
                  <a:pt x="36474" y="34127"/>
                  <a:pt x="38927" y="35540"/>
                  <a:pt x="40260" y="37807"/>
                </a:cubicBezTo>
                <a:lnTo>
                  <a:pt x="65642" y="81319"/>
                </a:lnTo>
                <a:cubicBezTo>
                  <a:pt x="67162" y="83932"/>
                  <a:pt x="68121" y="86945"/>
                  <a:pt x="67428" y="89878"/>
                </a:cubicBezTo>
                <a:cubicBezTo>
                  <a:pt x="64549" y="101822"/>
                  <a:pt x="50604" y="110914"/>
                  <a:pt x="33834" y="110914"/>
                </a:cubicBezTo>
                <a:cubicBezTo>
                  <a:pt x="17064" y="110914"/>
                  <a:pt x="3119" y="101849"/>
                  <a:pt x="240" y="89878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5" name="Text 33"/>
          <p:cNvSpPr/>
          <p:nvPr/>
        </p:nvSpPr>
        <p:spPr>
          <a:xfrm>
            <a:off x="750802" y="4794894"/>
            <a:ext cx="114326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60,000 test cases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35526" y="3327418"/>
            <a:ext cx="3719882" cy="1842878"/>
          </a:xfrm>
          <a:custGeom>
            <a:avLst/>
            <a:gdLst/>
            <a:ahLst/>
            <a:cxnLst/>
            <a:rect l="l" t="t" r="r" b="b"/>
            <a:pathLst>
              <a:path w="3719882" h="1842878">
                <a:moveTo>
                  <a:pt x="34127" y="0"/>
                </a:moveTo>
                <a:lnTo>
                  <a:pt x="3685755" y="0"/>
                </a:lnTo>
                <a:cubicBezTo>
                  <a:pt x="3704603" y="0"/>
                  <a:pt x="3719882" y="15279"/>
                  <a:pt x="3719882" y="34127"/>
                </a:cubicBezTo>
                <a:lnTo>
                  <a:pt x="3719882" y="1774617"/>
                </a:lnTo>
                <a:cubicBezTo>
                  <a:pt x="3719882" y="1812291"/>
                  <a:pt x="3689296" y="1842878"/>
                  <a:pt x="3651622" y="1842878"/>
                </a:cubicBezTo>
                <a:lnTo>
                  <a:pt x="68260" y="1842878"/>
                </a:lnTo>
                <a:cubicBezTo>
                  <a:pt x="30586" y="1842878"/>
                  <a:pt x="0" y="1812291"/>
                  <a:pt x="0" y="177461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7" name="Shape 35"/>
          <p:cNvSpPr/>
          <p:nvPr/>
        </p:nvSpPr>
        <p:spPr>
          <a:xfrm>
            <a:off x="4235526" y="3327418"/>
            <a:ext cx="3719882" cy="34127"/>
          </a:xfrm>
          <a:custGeom>
            <a:avLst/>
            <a:gdLst/>
            <a:ahLst/>
            <a:cxnLst/>
            <a:rect l="l" t="t" r="r" b="b"/>
            <a:pathLst>
              <a:path w="3719882" h="34127">
                <a:moveTo>
                  <a:pt x="34127" y="0"/>
                </a:moveTo>
                <a:lnTo>
                  <a:pt x="3685755" y="0"/>
                </a:lnTo>
                <a:cubicBezTo>
                  <a:pt x="3704603" y="0"/>
                  <a:pt x="3719882" y="15279"/>
                  <a:pt x="3719882" y="34127"/>
                </a:cubicBezTo>
                <a:lnTo>
                  <a:pt x="3719882" y="34127"/>
                </a:lnTo>
                <a:lnTo>
                  <a:pt x="0" y="34127"/>
                </a:ln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8" name="Shape 36"/>
          <p:cNvSpPr/>
          <p:nvPr/>
        </p:nvSpPr>
        <p:spPr>
          <a:xfrm>
            <a:off x="4406162" y="3515118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68256" y="0"/>
                </a:moveTo>
                <a:lnTo>
                  <a:pt x="341272" y="0"/>
                </a:lnTo>
                <a:cubicBezTo>
                  <a:pt x="378969" y="0"/>
                  <a:pt x="409528" y="30559"/>
                  <a:pt x="409528" y="68256"/>
                </a:cubicBezTo>
                <a:lnTo>
                  <a:pt x="409528" y="341272"/>
                </a:lnTo>
                <a:cubicBezTo>
                  <a:pt x="409528" y="378969"/>
                  <a:pt x="378969" y="409528"/>
                  <a:pt x="341272" y="409528"/>
                </a:cubicBezTo>
                <a:lnTo>
                  <a:pt x="68256" y="409528"/>
                </a:lnTo>
                <a:cubicBezTo>
                  <a:pt x="30559" y="409528"/>
                  <a:pt x="0" y="378969"/>
                  <a:pt x="0" y="341272"/>
                </a:cubicBezTo>
                <a:lnTo>
                  <a:pt x="0" y="68256"/>
                </a:lnTo>
                <a:cubicBezTo>
                  <a:pt x="0" y="30559"/>
                  <a:pt x="30559" y="0"/>
                  <a:pt x="68256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9" name="Text 37"/>
          <p:cNvSpPr/>
          <p:nvPr/>
        </p:nvSpPr>
        <p:spPr>
          <a:xfrm>
            <a:off x="4363503" y="3515118"/>
            <a:ext cx="494847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4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18073" y="3600437"/>
            <a:ext cx="216708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Human-in-the-Loop Validation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06162" y="4027029"/>
            <a:ext cx="3446864" cy="665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Mixed evaluation methodology incorporating </a:t>
            </a:r>
            <a:pPr>
              <a:lnSpc>
                <a:spcPct val="140000"/>
              </a:lnSpc>
            </a:pPr>
            <a:r>
              <a:rPr lang="en-US" sz="10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500 expert reviews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from certified financial advisors and </a:t>
            </a:r>
            <a:pPr>
              <a:lnSpc>
                <a:spcPct val="140000"/>
              </a:lnSpc>
            </a:pPr>
            <a:r>
              <a:rPr lang="en-US" sz="10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2,000 user assessments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detailed qualitative analysis.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06162" y="4829022"/>
            <a:ext cx="170637" cy="136509"/>
          </a:xfrm>
          <a:custGeom>
            <a:avLst/>
            <a:gdLst/>
            <a:ahLst/>
            <a:cxnLst/>
            <a:rect l="l" t="t" r="r" b="b"/>
            <a:pathLst>
              <a:path w="170637" h="136509">
                <a:moveTo>
                  <a:pt x="85318" y="4266"/>
                </a:moveTo>
                <a:cubicBezTo>
                  <a:pt x="100622" y="4266"/>
                  <a:pt x="113047" y="16691"/>
                  <a:pt x="113047" y="31994"/>
                </a:cubicBezTo>
                <a:cubicBezTo>
                  <a:pt x="113047" y="47298"/>
                  <a:pt x="100622" y="59723"/>
                  <a:pt x="85318" y="59723"/>
                </a:cubicBezTo>
                <a:cubicBezTo>
                  <a:pt x="70015" y="59723"/>
                  <a:pt x="57590" y="47298"/>
                  <a:pt x="57590" y="31994"/>
                </a:cubicBezTo>
                <a:cubicBezTo>
                  <a:pt x="57590" y="16691"/>
                  <a:pt x="70015" y="4266"/>
                  <a:pt x="85318" y="4266"/>
                </a:cubicBezTo>
                <a:close/>
                <a:moveTo>
                  <a:pt x="25596" y="23463"/>
                </a:moveTo>
                <a:cubicBezTo>
                  <a:pt x="36190" y="23463"/>
                  <a:pt x="44792" y="32064"/>
                  <a:pt x="44792" y="42659"/>
                </a:cubicBezTo>
                <a:cubicBezTo>
                  <a:pt x="44792" y="53254"/>
                  <a:pt x="36190" y="61856"/>
                  <a:pt x="25596" y="61856"/>
                </a:cubicBezTo>
                <a:cubicBezTo>
                  <a:pt x="15001" y="61856"/>
                  <a:pt x="6399" y="53254"/>
                  <a:pt x="6399" y="42659"/>
                </a:cubicBezTo>
                <a:cubicBezTo>
                  <a:pt x="6399" y="32064"/>
                  <a:pt x="15001" y="23463"/>
                  <a:pt x="25596" y="23463"/>
                </a:cubicBezTo>
                <a:close/>
                <a:moveTo>
                  <a:pt x="0" y="110914"/>
                </a:moveTo>
                <a:cubicBezTo>
                  <a:pt x="0" y="92064"/>
                  <a:pt x="15277" y="76787"/>
                  <a:pt x="34127" y="76787"/>
                </a:cubicBezTo>
                <a:cubicBezTo>
                  <a:pt x="37540" y="76787"/>
                  <a:pt x="40846" y="77293"/>
                  <a:pt x="43966" y="78226"/>
                </a:cubicBezTo>
                <a:cubicBezTo>
                  <a:pt x="35194" y="88038"/>
                  <a:pt x="29861" y="100996"/>
                  <a:pt x="29861" y="115180"/>
                </a:cubicBezTo>
                <a:lnTo>
                  <a:pt x="29861" y="119446"/>
                </a:lnTo>
                <a:cubicBezTo>
                  <a:pt x="29861" y="122485"/>
                  <a:pt x="30501" y="125365"/>
                  <a:pt x="31648" y="127978"/>
                </a:cubicBezTo>
                <a:lnTo>
                  <a:pt x="8532" y="127978"/>
                </a:lnTo>
                <a:cubicBezTo>
                  <a:pt x="3813" y="127978"/>
                  <a:pt x="0" y="124165"/>
                  <a:pt x="0" y="119446"/>
                </a:cubicBezTo>
                <a:lnTo>
                  <a:pt x="0" y="110914"/>
                </a:lnTo>
                <a:close/>
                <a:moveTo>
                  <a:pt x="138989" y="127978"/>
                </a:moveTo>
                <a:cubicBezTo>
                  <a:pt x="140135" y="125365"/>
                  <a:pt x="140775" y="122485"/>
                  <a:pt x="140775" y="119446"/>
                </a:cubicBezTo>
                <a:lnTo>
                  <a:pt x="140775" y="115180"/>
                </a:lnTo>
                <a:cubicBezTo>
                  <a:pt x="140775" y="100996"/>
                  <a:pt x="135443" y="88038"/>
                  <a:pt x="126671" y="78226"/>
                </a:cubicBezTo>
                <a:cubicBezTo>
                  <a:pt x="129791" y="77293"/>
                  <a:pt x="133097" y="76787"/>
                  <a:pt x="136509" y="76787"/>
                </a:cubicBezTo>
                <a:cubicBezTo>
                  <a:pt x="155359" y="76787"/>
                  <a:pt x="170637" y="92064"/>
                  <a:pt x="170637" y="110914"/>
                </a:cubicBezTo>
                <a:lnTo>
                  <a:pt x="170637" y="119446"/>
                </a:lnTo>
                <a:cubicBezTo>
                  <a:pt x="170637" y="124165"/>
                  <a:pt x="166824" y="127978"/>
                  <a:pt x="162105" y="127978"/>
                </a:cubicBezTo>
                <a:lnTo>
                  <a:pt x="138989" y="127978"/>
                </a:lnTo>
                <a:close/>
                <a:moveTo>
                  <a:pt x="125845" y="42659"/>
                </a:moveTo>
                <a:cubicBezTo>
                  <a:pt x="125845" y="32064"/>
                  <a:pt x="134446" y="23463"/>
                  <a:pt x="145041" y="23463"/>
                </a:cubicBezTo>
                <a:cubicBezTo>
                  <a:pt x="155636" y="23463"/>
                  <a:pt x="164238" y="32064"/>
                  <a:pt x="164238" y="42659"/>
                </a:cubicBezTo>
                <a:cubicBezTo>
                  <a:pt x="164238" y="53254"/>
                  <a:pt x="155636" y="61856"/>
                  <a:pt x="145041" y="61856"/>
                </a:cubicBezTo>
                <a:cubicBezTo>
                  <a:pt x="134446" y="61856"/>
                  <a:pt x="125845" y="53254"/>
                  <a:pt x="125845" y="42659"/>
                </a:cubicBezTo>
                <a:close/>
                <a:moveTo>
                  <a:pt x="42659" y="115180"/>
                </a:moveTo>
                <a:cubicBezTo>
                  <a:pt x="42659" y="91611"/>
                  <a:pt x="61749" y="72521"/>
                  <a:pt x="85318" y="72521"/>
                </a:cubicBezTo>
                <a:cubicBezTo>
                  <a:pt x="108888" y="72521"/>
                  <a:pt x="127978" y="91611"/>
                  <a:pt x="127978" y="115180"/>
                </a:cubicBezTo>
                <a:lnTo>
                  <a:pt x="127978" y="119446"/>
                </a:lnTo>
                <a:cubicBezTo>
                  <a:pt x="127978" y="124165"/>
                  <a:pt x="124165" y="127978"/>
                  <a:pt x="119446" y="127978"/>
                </a:cubicBezTo>
                <a:lnTo>
                  <a:pt x="51191" y="127978"/>
                </a:lnTo>
                <a:cubicBezTo>
                  <a:pt x="46472" y="127978"/>
                  <a:pt x="42659" y="124165"/>
                  <a:pt x="42659" y="119446"/>
                </a:cubicBezTo>
                <a:lnTo>
                  <a:pt x="42659" y="115180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3" name="Text 41"/>
          <p:cNvSpPr/>
          <p:nvPr/>
        </p:nvSpPr>
        <p:spPr>
          <a:xfrm>
            <a:off x="4645054" y="4794894"/>
            <a:ext cx="130537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87% user satisfaction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29777" y="3327418"/>
            <a:ext cx="3719882" cy="1842878"/>
          </a:xfrm>
          <a:custGeom>
            <a:avLst/>
            <a:gdLst/>
            <a:ahLst/>
            <a:cxnLst/>
            <a:rect l="l" t="t" r="r" b="b"/>
            <a:pathLst>
              <a:path w="3719882" h="1842878">
                <a:moveTo>
                  <a:pt x="34127" y="0"/>
                </a:moveTo>
                <a:lnTo>
                  <a:pt x="3685755" y="0"/>
                </a:lnTo>
                <a:cubicBezTo>
                  <a:pt x="3704603" y="0"/>
                  <a:pt x="3719882" y="15279"/>
                  <a:pt x="3719882" y="34127"/>
                </a:cubicBezTo>
                <a:lnTo>
                  <a:pt x="3719882" y="1774617"/>
                </a:lnTo>
                <a:cubicBezTo>
                  <a:pt x="3719882" y="1812291"/>
                  <a:pt x="3689296" y="1842878"/>
                  <a:pt x="3651622" y="1842878"/>
                </a:cubicBezTo>
                <a:lnTo>
                  <a:pt x="68260" y="1842878"/>
                </a:lnTo>
                <a:cubicBezTo>
                  <a:pt x="30586" y="1842878"/>
                  <a:pt x="0" y="1812291"/>
                  <a:pt x="0" y="1774617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5" name="Shape 43"/>
          <p:cNvSpPr/>
          <p:nvPr/>
        </p:nvSpPr>
        <p:spPr>
          <a:xfrm>
            <a:off x="8129777" y="3327418"/>
            <a:ext cx="3719882" cy="34127"/>
          </a:xfrm>
          <a:custGeom>
            <a:avLst/>
            <a:gdLst/>
            <a:ahLst/>
            <a:cxnLst/>
            <a:rect l="l" t="t" r="r" b="b"/>
            <a:pathLst>
              <a:path w="3719882" h="34127">
                <a:moveTo>
                  <a:pt x="34127" y="0"/>
                </a:moveTo>
                <a:lnTo>
                  <a:pt x="3685755" y="0"/>
                </a:lnTo>
                <a:cubicBezTo>
                  <a:pt x="3704603" y="0"/>
                  <a:pt x="3719882" y="15279"/>
                  <a:pt x="3719882" y="34127"/>
                </a:cubicBezTo>
                <a:lnTo>
                  <a:pt x="3719882" y="34127"/>
                </a:lnTo>
                <a:lnTo>
                  <a:pt x="0" y="34127"/>
                </a:ln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6" name="Shape 44"/>
          <p:cNvSpPr/>
          <p:nvPr/>
        </p:nvSpPr>
        <p:spPr>
          <a:xfrm>
            <a:off x="8300414" y="3515118"/>
            <a:ext cx="409528" cy="409528"/>
          </a:xfrm>
          <a:custGeom>
            <a:avLst/>
            <a:gdLst/>
            <a:ahLst/>
            <a:cxnLst/>
            <a:rect l="l" t="t" r="r" b="b"/>
            <a:pathLst>
              <a:path w="409528" h="409528">
                <a:moveTo>
                  <a:pt x="68256" y="0"/>
                </a:moveTo>
                <a:lnTo>
                  <a:pt x="341272" y="0"/>
                </a:lnTo>
                <a:cubicBezTo>
                  <a:pt x="378969" y="0"/>
                  <a:pt x="409528" y="30559"/>
                  <a:pt x="409528" y="68256"/>
                </a:cubicBezTo>
                <a:lnTo>
                  <a:pt x="409528" y="341272"/>
                </a:lnTo>
                <a:cubicBezTo>
                  <a:pt x="409528" y="378969"/>
                  <a:pt x="378969" y="409528"/>
                  <a:pt x="341272" y="409528"/>
                </a:cubicBezTo>
                <a:lnTo>
                  <a:pt x="68256" y="409528"/>
                </a:lnTo>
                <a:cubicBezTo>
                  <a:pt x="30559" y="409528"/>
                  <a:pt x="0" y="378969"/>
                  <a:pt x="0" y="341272"/>
                </a:cubicBezTo>
                <a:lnTo>
                  <a:pt x="0" y="68256"/>
                </a:lnTo>
                <a:cubicBezTo>
                  <a:pt x="0" y="30559"/>
                  <a:pt x="30559" y="0"/>
                  <a:pt x="68256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7" name="Text 45"/>
          <p:cNvSpPr/>
          <p:nvPr/>
        </p:nvSpPr>
        <p:spPr>
          <a:xfrm>
            <a:off x="8257755" y="3515118"/>
            <a:ext cx="494847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4" b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812325" y="3600437"/>
            <a:ext cx="2405979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Privacy-Preserving Implementation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00414" y="4027029"/>
            <a:ext cx="3446864" cy="665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Differential privacy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mechanisms (ε=0.1), </a:t>
            </a:r>
            <a:pPr>
              <a:lnSpc>
                <a:spcPct val="140000"/>
              </a:lnSpc>
            </a:pPr>
            <a:r>
              <a:rPr lang="en-US" sz="10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PII minimization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, and comprehensive </a:t>
            </a:r>
            <a:pPr>
              <a:lnSpc>
                <a:spcPct val="140000"/>
              </a:lnSpc>
            </a:pPr>
            <a:r>
              <a:rPr lang="en-US" sz="10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consent flows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ensuring GDPR/CCPA compliance for financial data protection.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17478" y="4829022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68255" y="0"/>
                </a:moveTo>
                <a:cubicBezTo>
                  <a:pt x="69481" y="0"/>
                  <a:pt x="70708" y="267"/>
                  <a:pt x="71827" y="773"/>
                </a:cubicBezTo>
                <a:lnTo>
                  <a:pt x="122059" y="22076"/>
                </a:lnTo>
                <a:cubicBezTo>
                  <a:pt x="127924" y="24556"/>
                  <a:pt x="132297" y="30341"/>
                  <a:pt x="132270" y="37327"/>
                </a:cubicBezTo>
                <a:cubicBezTo>
                  <a:pt x="132137" y="63776"/>
                  <a:pt x="121259" y="112167"/>
                  <a:pt x="75320" y="134163"/>
                </a:cubicBezTo>
                <a:cubicBezTo>
                  <a:pt x="70868" y="136296"/>
                  <a:pt x="65695" y="136296"/>
                  <a:pt x="61243" y="134163"/>
                </a:cubicBezTo>
                <a:cubicBezTo>
                  <a:pt x="15277" y="112167"/>
                  <a:pt x="4426" y="63776"/>
                  <a:pt x="4293" y="37327"/>
                </a:cubicBezTo>
                <a:cubicBezTo>
                  <a:pt x="4266" y="30341"/>
                  <a:pt x="8638" y="24556"/>
                  <a:pt x="14504" y="22076"/>
                </a:cubicBezTo>
                <a:lnTo>
                  <a:pt x="64709" y="773"/>
                </a:lnTo>
                <a:cubicBezTo>
                  <a:pt x="65828" y="267"/>
                  <a:pt x="67028" y="0"/>
                  <a:pt x="68255" y="0"/>
                </a:cubicBezTo>
                <a:close/>
                <a:moveTo>
                  <a:pt x="68255" y="17810"/>
                </a:moveTo>
                <a:lnTo>
                  <a:pt x="68255" y="118619"/>
                </a:lnTo>
                <a:cubicBezTo>
                  <a:pt x="105048" y="100809"/>
                  <a:pt x="114940" y="61349"/>
                  <a:pt x="115180" y="37727"/>
                </a:cubicBezTo>
                <a:lnTo>
                  <a:pt x="68255" y="17837"/>
                </a:lnTo>
                <a:lnTo>
                  <a:pt x="68255" y="17837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1" name="Text 49"/>
          <p:cNvSpPr/>
          <p:nvPr/>
        </p:nvSpPr>
        <p:spPr>
          <a:xfrm>
            <a:off x="8539306" y="4794894"/>
            <a:ext cx="156985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Enterprise-grade security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45540" y="5311071"/>
            <a:ext cx="11500921" cy="691079"/>
          </a:xfrm>
          <a:custGeom>
            <a:avLst/>
            <a:gdLst/>
            <a:ahLst/>
            <a:cxnLst/>
            <a:rect l="l" t="t" r="r" b="b"/>
            <a:pathLst>
              <a:path w="11500921" h="691079">
                <a:moveTo>
                  <a:pt x="68258" y="0"/>
                </a:moveTo>
                <a:lnTo>
                  <a:pt x="11432663" y="0"/>
                </a:lnTo>
                <a:cubicBezTo>
                  <a:pt x="11470361" y="0"/>
                  <a:pt x="11500921" y="30560"/>
                  <a:pt x="11500921" y="68258"/>
                </a:cubicBezTo>
                <a:lnTo>
                  <a:pt x="11500921" y="622821"/>
                </a:lnTo>
                <a:cubicBezTo>
                  <a:pt x="11500921" y="660519"/>
                  <a:pt x="11470361" y="691079"/>
                  <a:pt x="11432663" y="691079"/>
                </a:cubicBezTo>
                <a:lnTo>
                  <a:pt x="68258" y="691079"/>
                </a:lnTo>
                <a:cubicBezTo>
                  <a:pt x="30560" y="691079"/>
                  <a:pt x="0" y="660519"/>
                  <a:pt x="0" y="622821"/>
                </a:cubicBezTo>
                <a:lnTo>
                  <a:pt x="0" y="68258"/>
                </a:lnTo>
                <a:cubicBezTo>
                  <a:pt x="0" y="30560"/>
                  <a:pt x="30560" y="0"/>
                  <a:pt x="68258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2188" y="5451846"/>
            <a:ext cx="11287625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Impact:</a:t>
            </a:r>
            <a:pPr algn="ctr">
              <a:lnSpc>
                <a:spcPct val="13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These contributions establish new benchmarks for multi-agent financial advisory systems, demonstrating </a:t>
            </a:r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41% improvement in plan coherence</a:t>
            </a:r>
            <a:pPr algn="ctr">
              <a:lnSpc>
                <a:spcPct val="13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</a:t>
            </a:r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89% reduction in hallucination rates</a:t>
            </a:r>
            <a:pPr algn="ctr">
              <a:lnSpc>
                <a:spcPct val="130000"/>
              </a:lnSpc>
            </a:pPr>
            <a:r>
              <a:rPr lang="en-US" sz="1075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compared to single-model approaches.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928" y="378928"/>
            <a:ext cx="1150045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spc="52" kern="0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2.1 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8928" y="644177"/>
            <a:ext cx="11604662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5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Three-Tier Architecture</a:t>
            </a:r>
            <a:endParaRPr lang="en-US" sz="1600" dirty="0"/>
          </a:p>
        </p:txBody>
      </p:sp>
      <p:pic>
        <p:nvPicPr>
          <p:cNvPr id="4" name="Image 0" descr="https://kimi-img.moonshot.cn/pub/slides/26-04-04-19:38:48-d78fgi0d7itukdsn45m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8928" y="1174676"/>
            <a:ext cx="6688075" cy="5304988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7349866" y="1174676"/>
            <a:ext cx="4461874" cy="1591497"/>
          </a:xfrm>
          <a:custGeom>
            <a:avLst/>
            <a:gdLst/>
            <a:ahLst/>
            <a:cxnLst/>
            <a:rect l="l" t="t" r="r" b="b"/>
            <a:pathLst>
              <a:path w="4461874" h="1591497">
                <a:moveTo>
                  <a:pt x="37893" y="0"/>
                </a:moveTo>
                <a:lnTo>
                  <a:pt x="4386087" y="0"/>
                </a:lnTo>
                <a:cubicBezTo>
                  <a:pt x="4427943" y="0"/>
                  <a:pt x="4461874" y="33931"/>
                  <a:pt x="4461874" y="75787"/>
                </a:cubicBezTo>
                <a:lnTo>
                  <a:pt x="4461874" y="1515709"/>
                </a:lnTo>
                <a:cubicBezTo>
                  <a:pt x="4461874" y="1557565"/>
                  <a:pt x="4427943" y="1591497"/>
                  <a:pt x="4386087" y="1591497"/>
                </a:cubicBezTo>
                <a:lnTo>
                  <a:pt x="37893" y="1591497"/>
                </a:lnTo>
                <a:cubicBezTo>
                  <a:pt x="16965" y="1591497"/>
                  <a:pt x="0" y="1574531"/>
                  <a:pt x="0" y="1553604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7349866" y="1174676"/>
            <a:ext cx="37893" cy="1591497"/>
          </a:xfrm>
          <a:custGeom>
            <a:avLst/>
            <a:gdLst/>
            <a:ahLst/>
            <a:cxnLst/>
            <a:rect l="l" t="t" r="r" b="b"/>
            <a:pathLst>
              <a:path w="37893" h="1591497">
                <a:moveTo>
                  <a:pt x="37893" y="0"/>
                </a:moveTo>
                <a:lnTo>
                  <a:pt x="37893" y="0"/>
                </a:lnTo>
                <a:lnTo>
                  <a:pt x="37893" y="1591497"/>
                </a:lnTo>
                <a:lnTo>
                  <a:pt x="37893" y="1591497"/>
                </a:lnTo>
                <a:cubicBezTo>
                  <a:pt x="16965" y="1591497"/>
                  <a:pt x="0" y="1574531"/>
                  <a:pt x="0" y="1553604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4"/>
          <p:cNvSpPr/>
          <p:nvPr/>
        </p:nvSpPr>
        <p:spPr>
          <a:xfrm>
            <a:off x="7520383" y="1364140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5"/>
          <p:cNvSpPr/>
          <p:nvPr/>
        </p:nvSpPr>
        <p:spPr>
          <a:xfrm>
            <a:off x="7626957" y="1468345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21315" y="10657"/>
                </a:moveTo>
                <a:cubicBezTo>
                  <a:pt x="9558" y="10657"/>
                  <a:pt x="0" y="20216"/>
                  <a:pt x="0" y="31972"/>
                </a:cubicBezTo>
                <a:lnTo>
                  <a:pt x="0" y="117231"/>
                </a:lnTo>
                <a:cubicBezTo>
                  <a:pt x="0" y="128987"/>
                  <a:pt x="9558" y="138545"/>
                  <a:pt x="21315" y="138545"/>
                </a:cubicBezTo>
                <a:lnTo>
                  <a:pt x="69273" y="138545"/>
                </a:lnTo>
                <a:lnTo>
                  <a:pt x="63944" y="154531"/>
                </a:lnTo>
                <a:lnTo>
                  <a:pt x="39965" y="154531"/>
                </a:lnTo>
                <a:cubicBezTo>
                  <a:pt x="35536" y="154531"/>
                  <a:pt x="31972" y="158095"/>
                  <a:pt x="31972" y="162524"/>
                </a:cubicBezTo>
                <a:cubicBezTo>
                  <a:pt x="31972" y="166954"/>
                  <a:pt x="35536" y="170517"/>
                  <a:pt x="39965" y="170517"/>
                </a:cubicBezTo>
                <a:lnTo>
                  <a:pt x="130552" y="170517"/>
                </a:lnTo>
                <a:cubicBezTo>
                  <a:pt x="134982" y="170517"/>
                  <a:pt x="138545" y="166954"/>
                  <a:pt x="138545" y="162524"/>
                </a:cubicBezTo>
                <a:cubicBezTo>
                  <a:pt x="138545" y="158095"/>
                  <a:pt x="134982" y="154531"/>
                  <a:pt x="130552" y="154531"/>
                </a:cubicBezTo>
                <a:lnTo>
                  <a:pt x="106573" y="154531"/>
                </a:lnTo>
                <a:lnTo>
                  <a:pt x="101245" y="138545"/>
                </a:lnTo>
                <a:lnTo>
                  <a:pt x="149203" y="138545"/>
                </a:lnTo>
                <a:cubicBezTo>
                  <a:pt x="160959" y="138545"/>
                  <a:pt x="170517" y="128987"/>
                  <a:pt x="170517" y="117231"/>
                </a:cubicBezTo>
                <a:lnTo>
                  <a:pt x="170517" y="31972"/>
                </a:lnTo>
                <a:cubicBezTo>
                  <a:pt x="170517" y="20216"/>
                  <a:pt x="160959" y="10657"/>
                  <a:pt x="149203" y="10657"/>
                </a:cubicBezTo>
                <a:lnTo>
                  <a:pt x="21315" y="10657"/>
                </a:lnTo>
                <a:close/>
                <a:moveTo>
                  <a:pt x="31972" y="31972"/>
                </a:moveTo>
                <a:lnTo>
                  <a:pt x="138545" y="31972"/>
                </a:lnTo>
                <a:cubicBezTo>
                  <a:pt x="144440" y="31972"/>
                  <a:pt x="149203" y="36735"/>
                  <a:pt x="149203" y="42629"/>
                </a:cubicBezTo>
                <a:lnTo>
                  <a:pt x="149203" y="95916"/>
                </a:lnTo>
                <a:cubicBezTo>
                  <a:pt x="149203" y="101811"/>
                  <a:pt x="144440" y="106573"/>
                  <a:pt x="138545" y="106573"/>
                </a:cubicBezTo>
                <a:lnTo>
                  <a:pt x="31972" y="106573"/>
                </a:lnTo>
                <a:cubicBezTo>
                  <a:pt x="26077" y="106573"/>
                  <a:pt x="21315" y="101811"/>
                  <a:pt x="21315" y="95916"/>
                </a:cubicBezTo>
                <a:lnTo>
                  <a:pt x="21315" y="42629"/>
                </a:lnTo>
                <a:cubicBezTo>
                  <a:pt x="21315" y="36735"/>
                  <a:pt x="26077" y="31972"/>
                  <a:pt x="31972" y="319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8012990" y="1326247"/>
            <a:ext cx="1657809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Client Tier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12990" y="1591497"/>
            <a:ext cx="163886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18 + Vite + TypeScript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40225" y="1904112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112627" y="18158"/>
                </a:moveTo>
                <a:cubicBezTo>
                  <a:pt x="116332" y="20852"/>
                  <a:pt x="117160" y="26033"/>
                  <a:pt x="114467" y="29737"/>
                </a:cubicBezTo>
                <a:lnTo>
                  <a:pt x="48154" y="120916"/>
                </a:lnTo>
                <a:cubicBezTo>
                  <a:pt x="46729" y="122885"/>
                  <a:pt x="44528" y="124103"/>
                  <a:pt x="42093" y="124310"/>
                </a:cubicBezTo>
                <a:cubicBezTo>
                  <a:pt x="39658" y="124517"/>
                  <a:pt x="37301" y="123610"/>
                  <a:pt x="35591" y="121901"/>
                </a:cubicBezTo>
                <a:lnTo>
                  <a:pt x="2435" y="88745"/>
                </a:lnTo>
                <a:cubicBezTo>
                  <a:pt x="-803" y="85507"/>
                  <a:pt x="-803" y="80248"/>
                  <a:pt x="2435" y="77010"/>
                </a:cubicBezTo>
                <a:cubicBezTo>
                  <a:pt x="5673" y="73772"/>
                  <a:pt x="10931" y="73772"/>
                  <a:pt x="14169" y="77010"/>
                </a:cubicBezTo>
                <a:lnTo>
                  <a:pt x="40461" y="103302"/>
                </a:lnTo>
                <a:lnTo>
                  <a:pt x="101075" y="19971"/>
                </a:lnTo>
                <a:cubicBezTo>
                  <a:pt x="103768" y="16267"/>
                  <a:pt x="108949" y="15438"/>
                  <a:pt x="112653" y="1813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9"/>
          <p:cNvSpPr/>
          <p:nvPr/>
        </p:nvSpPr>
        <p:spPr>
          <a:xfrm>
            <a:off x="8254556" y="1856746"/>
            <a:ext cx="1885166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34 pages with PWA support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40225" y="2169361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112627" y="18158"/>
                </a:moveTo>
                <a:cubicBezTo>
                  <a:pt x="116332" y="20852"/>
                  <a:pt x="117160" y="26033"/>
                  <a:pt x="114467" y="29737"/>
                </a:cubicBezTo>
                <a:lnTo>
                  <a:pt x="48154" y="120916"/>
                </a:lnTo>
                <a:cubicBezTo>
                  <a:pt x="46729" y="122885"/>
                  <a:pt x="44528" y="124103"/>
                  <a:pt x="42093" y="124310"/>
                </a:cubicBezTo>
                <a:cubicBezTo>
                  <a:pt x="39658" y="124517"/>
                  <a:pt x="37301" y="123610"/>
                  <a:pt x="35591" y="121901"/>
                </a:cubicBezTo>
                <a:lnTo>
                  <a:pt x="2435" y="88745"/>
                </a:lnTo>
                <a:cubicBezTo>
                  <a:pt x="-803" y="85507"/>
                  <a:pt x="-803" y="80248"/>
                  <a:pt x="2435" y="77010"/>
                </a:cubicBezTo>
                <a:cubicBezTo>
                  <a:pt x="5673" y="73772"/>
                  <a:pt x="10931" y="73772"/>
                  <a:pt x="14169" y="77010"/>
                </a:cubicBezTo>
                <a:lnTo>
                  <a:pt x="40461" y="103302"/>
                </a:lnTo>
                <a:lnTo>
                  <a:pt x="101075" y="19971"/>
                </a:lnTo>
                <a:cubicBezTo>
                  <a:pt x="103768" y="16267"/>
                  <a:pt x="108949" y="15438"/>
                  <a:pt x="112653" y="1813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8254556" y="2121995"/>
            <a:ext cx="190411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React Query + Zustand state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040225" y="2434611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112627" y="18158"/>
                </a:moveTo>
                <a:cubicBezTo>
                  <a:pt x="116332" y="20852"/>
                  <a:pt x="117160" y="26033"/>
                  <a:pt x="114467" y="29737"/>
                </a:cubicBezTo>
                <a:lnTo>
                  <a:pt x="48154" y="120916"/>
                </a:lnTo>
                <a:cubicBezTo>
                  <a:pt x="46729" y="122885"/>
                  <a:pt x="44528" y="124103"/>
                  <a:pt x="42093" y="124310"/>
                </a:cubicBezTo>
                <a:cubicBezTo>
                  <a:pt x="39658" y="124517"/>
                  <a:pt x="37301" y="123610"/>
                  <a:pt x="35591" y="121901"/>
                </a:cubicBezTo>
                <a:lnTo>
                  <a:pt x="2435" y="88745"/>
                </a:lnTo>
                <a:cubicBezTo>
                  <a:pt x="-803" y="85507"/>
                  <a:pt x="-803" y="80248"/>
                  <a:pt x="2435" y="77010"/>
                </a:cubicBezTo>
                <a:cubicBezTo>
                  <a:pt x="5673" y="73772"/>
                  <a:pt x="10931" y="73772"/>
                  <a:pt x="14169" y="77010"/>
                </a:cubicBezTo>
                <a:lnTo>
                  <a:pt x="40461" y="103302"/>
                </a:lnTo>
                <a:lnTo>
                  <a:pt x="101075" y="19971"/>
                </a:lnTo>
                <a:cubicBezTo>
                  <a:pt x="103768" y="16267"/>
                  <a:pt x="108949" y="15438"/>
                  <a:pt x="112653" y="1813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8254556" y="2387245"/>
            <a:ext cx="174306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Tailwind CSS + Radix UI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49866" y="2879851"/>
            <a:ext cx="4461874" cy="1591497"/>
          </a:xfrm>
          <a:custGeom>
            <a:avLst/>
            <a:gdLst/>
            <a:ahLst/>
            <a:cxnLst/>
            <a:rect l="l" t="t" r="r" b="b"/>
            <a:pathLst>
              <a:path w="4461874" h="1591497">
                <a:moveTo>
                  <a:pt x="37893" y="0"/>
                </a:moveTo>
                <a:lnTo>
                  <a:pt x="4386087" y="0"/>
                </a:lnTo>
                <a:cubicBezTo>
                  <a:pt x="4427943" y="0"/>
                  <a:pt x="4461874" y="33931"/>
                  <a:pt x="4461874" y="75787"/>
                </a:cubicBezTo>
                <a:lnTo>
                  <a:pt x="4461874" y="1515709"/>
                </a:lnTo>
                <a:cubicBezTo>
                  <a:pt x="4461874" y="1557565"/>
                  <a:pt x="4427943" y="1591497"/>
                  <a:pt x="4386087" y="1591497"/>
                </a:cubicBezTo>
                <a:lnTo>
                  <a:pt x="37893" y="1591497"/>
                </a:lnTo>
                <a:cubicBezTo>
                  <a:pt x="16965" y="1591497"/>
                  <a:pt x="0" y="1574531"/>
                  <a:pt x="0" y="1553604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Shape 15"/>
          <p:cNvSpPr/>
          <p:nvPr/>
        </p:nvSpPr>
        <p:spPr>
          <a:xfrm>
            <a:off x="7349866" y="2879851"/>
            <a:ext cx="37893" cy="1591497"/>
          </a:xfrm>
          <a:custGeom>
            <a:avLst/>
            <a:gdLst/>
            <a:ahLst/>
            <a:cxnLst/>
            <a:rect l="l" t="t" r="r" b="b"/>
            <a:pathLst>
              <a:path w="37893" h="1591497">
                <a:moveTo>
                  <a:pt x="37893" y="0"/>
                </a:moveTo>
                <a:lnTo>
                  <a:pt x="37893" y="0"/>
                </a:lnTo>
                <a:lnTo>
                  <a:pt x="37893" y="1591497"/>
                </a:lnTo>
                <a:lnTo>
                  <a:pt x="37893" y="1591497"/>
                </a:lnTo>
                <a:cubicBezTo>
                  <a:pt x="16965" y="1591497"/>
                  <a:pt x="0" y="1574531"/>
                  <a:pt x="0" y="1553604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9" name="Shape 16"/>
          <p:cNvSpPr/>
          <p:nvPr/>
        </p:nvSpPr>
        <p:spPr>
          <a:xfrm>
            <a:off x="7520383" y="3069315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20" name="Shape 17"/>
          <p:cNvSpPr/>
          <p:nvPr/>
        </p:nvSpPr>
        <p:spPr>
          <a:xfrm>
            <a:off x="7637614" y="3173520"/>
            <a:ext cx="149203" cy="170517"/>
          </a:xfrm>
          <a:custGeom>
            <a:avLst/>
            <a:gdLst/>
            <a:ahLst/>
            <a:cxnLst/>
            <a:rect l="l" t="t" r="r" b="b"/>
            <a:pathLst>
              <a:path w="149203" h="170517">
                <a:moveTo>
                  <a:pt x="21315" y="10657"/>
                </a:moveTo>
                <a:cubicBezTo>
                  <a:pt x="9558" y="10657"/>
                  <a:pt x="0" y="20216"/>
                  <a:pt x="0" y="31972"/>
                </a:cubicBezTo>
                <a:lnTo>
                  <a:pt x="0" y="53287"/>
                </a:lnTo>
                <a:cubicBezTo>
                  <a:pt x="0" y="65043"/>
                  <a:pt x="9558" y="74601"/>
                  <a:pt x="21315" y="74601"/>
                </a:cubicBezTo>
                <a:lnTo>
                  <a:pt x="127888" y="74601"/>
                </a:lnTo>
                <a:cubicBezTo>
                  <a:pt x="139644" y="74601"/>
                  <a:pt x="149203" y="65043"/>
                  <a:pt x="149203" y="53287"/>
                </a:cubicBezTo>
                <a:lnTo>
                  <a:pt x="149203" y="31972"/>
                </a:lnTo>
                <a:cubicBezTo>
                  <a:pt x="149203" y="20216"/>
                  <a:pt x="139644" y="10657"/>
                  <a:pt x="127888" y="10657"/>
                </a:cubicBezTo>
                <a:lnTo>
                  <a:pt x="21315" y="10657"/>
                </a:lnTo>
                <a:close/>
                <a:moveTo>
                  <a:pt x="93252" y="34636"/>
                </a:moveTo>
                <a:cubicBezTo>
                  <a:pt x="97663" y="34636"/>
                  <a:pt x="101245" y="38218"/>
                  <a:pt x="101245" y="42629"/>
                </a:cubicBezTo>
                <a:cubicBezTo>
                  <a:pt x="101245" y="47041"/>
                  <a:pt x="97663" y="50622"/>
                  <a:pt x="93252" y="50622"/>
                </a:cubicBezTo>
                <a:cubicBezTo>
                  <a:pt x="88840" y="50622"/>
                  <a:pt x="85259" y="47041"/>
                  <a:pt x="85259" y="42629"/>
                </a:cubicBezTo>
                <a:cubicBezTo>
                  <a:pt x="85259" y="38218"/>
                  <a:pt x="88840" y="34636"/>
                  <a:pt x="93252" y="34636"/>
                </a:cubicBezTo>
                <a:close/>
                <a:moveTo>
                  <a:pt x="111902" y="42629"/>
                </a:moveTo>
                <a:cubicBezTo>
                  <a:pt x="111902" y="38218"/>
                  <a:pt x="115484" y="34636"/>
                  <a:pt x="119895" y="34636"/>
                </a:cubicBezTo>
                <a:cubicBezTo>
                  <a:pt x="124307" y="34636"/>
                  <a:pt x="127888" y="38218"/>
                  <a:pt x="127888" y="42629"/>
                </a:cubicBezTo>
                <a:cubicBezTo>
                  <a:pt x="127888" y="47041"/>
                  <a:pt x="124307" y="50622"/>
                  <a:pt x="119895" y="50622"/>
                </a:cubicBezTo>
                <a:cubicBezTo>
                  <a:pt x="115484" y="50622"/>
                  <a:pt x="111902" y="47041"/>
                  <a:pt x="111902" y="42629"/>
                </a:cubicBezTo>
                <a:close/>
                <a:moveTo>
                  <a:pt x="21315" y="95916"/>
                </a:moveTo>
                <a:cubicBezTo>
                  <a:pt x="9558" y="95916"/>
                  <a:pt x="0" y="105474"/>
                  <a:pt x="0" y="117231"/>
                </a:cubicBezTo>
                <a:lnTo>
                  <a:pt x="0" y="138545"/>
                </a:lnTo>
                <a:cubicBezTo>
                  <a:pt x="0" y="150302"/>
                  <a:pt x="9558" y="159860"/>
                  <a:pt x="21315" y="159860"/>
                </a:cubicBezTo>
                <a:lnTo>
                  <a:pt x="127888" y="159860"/>
                </a:lnTo>
                <a:cubicBezTo>
                  <a:pt x="139644" y="159860"/>
                  <a:pt x="149203" y="150302"/>
                  <a:pt x="149203" y="138545"/>
                </a:cubicBezTo>
                <a:lnTo>
                  <a:pt x="149203" y="117231"/>
                </a:lnTo>
                <a:cubicBezTo>
                  <a:pt x="149203" y="105474"/>
                  <a:pt x="139644" y="95916"/>
                  <a:pt x="127888" y="95916"/>
                </a:cubicBezTo>
                <a:lnTo>
                  <a:pt x="21315" y="95916"/>
                </a:lnTo>
                <a:close/>
                <a:moveTo>
                  <a:pt x="93252" y="119895"/>
                </a:moveTo>
                <a:cubicBezTo>
                  <a:pt x="97663" y="119895"/>
                  <a:pt x="101245" y="123477"/>
                  <a:pt x="101245" y="127888"/>
                </a:cubicBezTo>
                <a:cubicBezTo>
                  <a:pt x="101245" y="132300"/>
                  <a:pt x="97663" y="135881"/>
                  <a:pt x="93252" y="135881"/>
                </a:cubicBezTo>
                <a:cubicBezTo>
                  <a:pt x="88840" y="135881"/>
                  <a:pt x="85259" y="132300"/>
                  <a:pt x="85259" y="127888"/>
                </a:cubicBezTo>
                <a:cubicBezTo>
                  <a:pt x="85259" y="123477"/>
                  <a:pt x="88840" y="119895"/>
                  <a:pt x="93252" y="119895"/>
                </a:cubicBezTo>
                <a:close/>
                <a:moveTo>
                  <a:pt x="111902" y="127888"/>
                </a:moveTo>
                <a:cubicBezTo>
                  <a:pt x="111902" y="123477"/>
                  <a:pt x="115484" y="119895"/>
                  <a:pt x="119895" y="119895"/>
                </a:cubicBezTo>
                <a:cubicBezTo>
                  <a:pt x="124307" y="119895"/>
                  <a:pt x="127888" y="123477"/>
                  <a:pt x="127888" y="127888"/>
                </a:cubicBezTo>
                <a:cubicBezTo>
                  <a:pt x="127888" y="132300"/>
                  <a:pt x="124307" y="135881"/>
                  <a:pt x="119895" y="135881"/>
                </a:cubicBezTo>
                <a:cubicBezTo>
                  <a:pt x="115484" y="135881"/>
                  <a:pt x="111902" y="132300"/>
                  <a:pt x="111902" y="1278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8012990" y="3031422"/>
            <a:ext cx="195147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Server Tier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12990" y="3296671"/>
            <a:ext cx="1932531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Express 5 + Node.js + TypeScript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040225" y="3609287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112627" y="18158"/>
                </a:moveTo>
                <a:cubicBezTo>
                  <a:pt x="116332" y="20852"/>
                  <a:pt x="117160" y="26033"/>
                  <a:pt x="114467" y="29737"/>
                </a:cubicBezTo>
                <a:lnTo>
                  <a:pt x="48154" y="120916"/>
                </a:lnTo>
                <a:cubicBezTo>
                  <a:pt x="46729" y="122885"/>
                  <a:pt x="44528" y="124103"/>
                  <a:pt x="42093" y="124310"/>
                </a:cubicBezTo>
                <a:cubicBezTo>
                  <a:pt x="39658" y="124517"/>
                  <a:pt x="37301" y="123610"/>
                  <a:pt x="35591" y="121901"/>
                </a:cubicBezTo>
                <a:lnTo>
                  <a:pt x="2435" y="88745"/>
                </a:lnTo>
                <a:cubicBezTo>
                  <a:pt x="-803" y="85507"/>
                  <a:pt x="-803" y="80248"/>
                  <a:pt x="2435" y="77010"/>
                </a:cubicBezTo>
                <a:cubicBezTo>
                  <a:pt x="5673" y="73772"/>
                  <a:pt x="10931" y="73772"/>
                  <a:pt x="14169" y="77010"/>
                </a:cubicBezTo>
                <a:lnTo>
                  <a:pt x="40461" y="103302"/>
                </a:lnTo>
                <a:lnTo>
                  <a:pt x="101075" y="19971"/>
                </a:lnTo>
                <a:cubicBezTo>
                  <a:pt x="103768" y="16267"/>
                  <a:pt x="108949" y="15438"/>
                  <a:pt x="112653" y="18132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24" name="Text 21"/>
          <p:cNvSpPr/>
          <p:nvPr/>
        </p:nvSpPr>
        <p:spPr>
          <a:xfrm>
            <a:off x="8254556" y="3561921"/>
            <a:ext cx="1780960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100+ REST API endpoints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040225" y="3874536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112627" y="18158"/>
                </a:moveTo>
                <a:cubicBezTo>
                  <a:pt x="116332" y="20852"/>
                  <a:pt x="117160" y="26033"/>
                  <a:pt x="114467" y="29737"/>
                </a:cubicBezTo>
                <a:lnTo>
                  <a:pt x="48154" y="120916"/>
                </a:lnTo>
                <a:cubicBezTo>
                  <a:pt x="46729" y="122885"/>
                  <a:pt x="44528" y="124103"/>
                  <a:pt x="42093" y="124310"/>
                </a:cubicBezTo>
                <a:cubicBezTo>
                  <a:pt x="39658" y="124517"/>
                  <a:pt x="37301" y="123610"/>
                  <a:pt x="35591" y="121901"/>
                </a:cubicBezTo>
                <a:lnTo>
                  <a:pt x="2435" y="88745"/>
                </a:lnTo>
                <a:cubicBezTo>
                  <a:pt x="-803" y="85507"/>
                  <a:pt x="-803" y="80248"/>
                  <a:pt x="2435" y="77010"/>
                </a:cubicBezTo>
                <a:cubicBezTo>
                  <a:pt x="5673" y="73772"/>
                  <a:pt x="10931" y="73772"/>
                  <a:pt x="14169" y="77010"/>
                </a:cubicBezTo>
                <a:lnTo>
                  <a:pt x="40461" y="103302"/>
                </a:lnTo>
                <a:lnTo>
                  <a:pt x="101075" y="19971"/>
                </a:lnTo>
                <a:cubicBezTo>
                  <a:pt x="103768" y="16267"/>
                  <a:pt x="108949" y="15438"/>
                  <a:pt x="112653" y="18132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26" name="Text 23"/>
          <p:cNvSpPr/>
          <p:nvPr/>
        </p:nvSpPr>
        <p:spPr>
          <a:xfrm>
            <a:off x="8254556" y="3827170"/>
            <a:ext cx="1439925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49 Mongoose models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040225" y="4139786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112627" y="18158"/>
                </a:moveTo>
                <a:cubicBezTo>
                  <a:pt x="116332" y="20852"/>
                  <a:pt x="117160" y="26033"/>
                  <a:pt x="114467" y="29737"/>
                </a:cubicBezTo>
                <a:lnTo>
                  <a:pt x="48154" y="120916"/>
                </a:lnTo>
                <a:cubicBezTo>
                  <a:pt x="46729" y="122885"/>
                  <a:pt x="44528" y="124103"/>
                  <a:pt x="42093" y="124310"/>
                </a:cubicBezTo>
                <a:cubicBezTo>
                  <a:pt x="39658" y="124517"/>
                  <a:pt x="37301" y="123610"/>
                  <a:pt x="35591" y="121901"/>
                </a:cubicBezTo>
                <a:lnTo>
                  <a:pt x="2435" y="88745"/>
                </a:lnTo>
                <a:cubicBezTo>
                  <a:pt x="-803" y="85507"/>
                  <a:pt x="-803" y="80248"/>
                  <a:pt x="2435" y="77010"/>
                </a:cubicBezTo>
                <a:cubicBezTo>
                  <a:pt x="5673" y="73772"/>
                  <a:pt x="10931" y="73772"/>
                  <a:pt x="14169" y="77010"/>
                </a:cubicBezTo>
                <a:lnTo>
                  <a:pt x="40461" y="103302"/>
                </a:lnTo>
                <a:lnTo>
                  <a:pt x="101075" y="19971"/>
                </a:lnTo>
                <a:cubicBezTo>
                  <a:pt x="103768" y="16267"/>
                  <a:pt x="108949" y="15438"/>
                  <a:pt x="112653" y="18132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28" name="Text 25"/>
          <p:cNvSpPr/>
          <p:nvPr/>
        </p:nvSpPr>
        <p:spPr>
          <a:xfrm>
            <a:off x="8254556" y="4092420"/>
            <a:ext cx="197989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BullMQ background workers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349866" y="4585026"/>
            <a:ext cx="4461874" cy="1591497"/>
          </a:xfrm>
          <a:custGeom>
            <a:avLst/>
            <a:gdLst/>
            <a:ahLst/>
            <a:cxnLst/>
            <a:rect l="l" t="t" r="r" b="b"/>
            <a:pathLst>
              <a:path w="4461874" h="1591497">
                <a:moveTo>
                  <a:pt x="37893" y="0"/>
                </a:moveTo>
                <a:lnTo>
                  <a:pt x="4386087" y="0"/>
                </a:lnTo>
                <a:cubicBezTo>
                  <a:pt x="4427943" y="0"/>
                  <a:pt x="4461874" y="33931"/>
                  <a:pt x="4461874" y="75787"/>
                </a:cubicBezTo>
                <a:lnTo>
                  <a:pt x="4461874" y="1515709"/>
                </a:lnTo>
                <a:cubicBezTo>
                  <a:pt x="4461874" y="1557565"/>
                  <a:pt x="4427943" y="1591497"/>
                  <a:pt x="4386087" y="1591497"/>
                </a:cubicBezTo>
                <a:lnTo>
                  <a:pt x="37893" y="1591497"/>
                </a:lnTo>
                <a:cubicBezTo>
                  <a:pt x="16965" y="1591497"/>
                  <a:pt x="0" y="1574531"/>
                  <a:pt x="0" y="1553604"/>
                </a:cubicBezTo>
                <a:lnTo>
                  <a:pt x="0" y="37893"/>
                </a:lnTo>
                <a:cubicBezTo>
                  <a:pt x="0" y="16979"/>
                  <a:pt x="16979" y="0"/>
                  <a:pt x="37893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Shape 27"/>
          <p:cNvSpPr/>
          <p:nvPr/>
        </p:nvSpPr>
        <p:spPr>
          <a:xfrm>
            <a:off x="7349866" y="4585026"/>
            <a:ext cx="37893" cy="1591497"/>
          </a:xfrm>
          <a:custGeom>
            <a:avLst/>
            <a:gdLst/>
            <a:ahLst/>
            <a:cxnLst/>
            <a:rect l="l" t="t" r="r" b="b"/>
            <a:pathLst>
              <a:path w="37893" h="1591497">
                <a:moveTo>
                  <a:pt x="37893" y="0"/>
                </a:moveTo>
                <a:lnTo>
                  <a:pt x="37893" y="0"/>
                </a:lnTo>
                <a:lnTo>
                  <a:pt x="37893" y="1591497"/>
                </a:lnTo>
                <a:lnTo>
                  <a:pt x="37893" y="1591497"/>
                </a:lnTo>
                <a:cubicBezTo>
                  <a:pt x="16965" y="1591497"/>
                  <a:pt x="0" y="1574531"/>
                  <a:pt x="0" y="1553604"/>
                </a:cubicBezTo>
                <a:lnTo>
                  <a:pt x="0" y="37893"/>
                </a:lnTo>
                <a:cubicBezTo>
                  <a:pt x="0" y="16965"/>
                  <a:pt x="16965" y="0"/>
                  <a:pt x="37893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1" name="Shape 28"/>
          <p:cNvSpPr/>
          <p:nvPr/>
        </p:nvSpPr>
        <p:spPr>
          <a:xfrm>
            <a:off x="7520383" y="4774490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2" name="Shape 29"/>
          <p:cNvSpPr/>
          <p:nvPr/>
        </p:nvSpPr>
        <p:spPr>
          <a:xfrm>
            <a:off x="7626957" y="4878695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39965" y="18650"/>
                </a:moveTo>
                <a:cubicBezTo>
                  <a:pt x="39965" y="8359"/>
                  <a:pt x="48324" y="0"/>
                  <a:pt x="58615" y="0"/>
                </a:cubicBezTo>
                <a:lnTo>
                  <a:pt x="66608" y="0"/>
                </a:lnTo>
                <a:cubicBezTo>
                  <a:pt x="72503" y="0"/>
                  <a:pt x="77266" y="4763"/>
                  <a:pt x="77266" y="10657"/>
                </a:cubicBezTo>
                <a:lnTo>
                  <a:pt x="77266" y="159860"/>
                </a:lnTo>
                <a:cubicBezTo>
                  <a:pt x="77266" y="165755"/>
                  <a:pt x="72503" y="170517"/>
                  <a:pt x="66608" y="170517"/>
                </a:cubicBezTo>
                <a:lnTo>
                  <a:pt x="55951" y="170517"/>
                </a:lnTo>
                <a:cubicBezTo>
                  <a:pt x="46026" y="170517"/>
                  <a:pt x="37667" y="163723"/>
                  <a:pt x="35302" y="154531"/>
                </a:cubicBezTo>
                <a:cubicBezTo>
                  <a:pt x="35069" y="154531"/>
                  <a:pt x="34869" y="154531"/>
                  <a:pt x="34636" y="154531"/>
                </a:cubicBezTo>
                <a:cubicBezTo>
                  <a:pt x="19916" y="154531"/>
                  <a:pt x="7993" y="142609"/>
                  <a:pt x="7993" y="127888"/>
                </a:cubicBezTo>
                <a:cubicBezTo>
                  <a:pt x="7993" y="121893"/>
                  <a:pt x="9991" y="116365"/>
                  <a:pt x="13322" y="111902"/>
                </a:cubicBezTo>
                <a:cubicBezTo>
                  <a:pt x="6861" y="107040"/>
                  <a:pt x="2664" y="99313"/>
                  <a:pt x="2664" y="90587"/>
                </a:cubicBezTo>
                <a:cubicBezTo>
                  <a:pt x="2664" y="80296"/>
                  <a:pt x="8526" y="71338"/>
                  <a:pt x="17052" y="66908"/>
                </a:cubicBezTo>
                <a:cubicBezTo>
                  <a:pt x="14687" y="62912"/>
                  <a:pt x="13322" y="58249"/>
                  <a:pt x="13322" y="53287"/>
                </a:cubicBezTo>
                <a:cubicBezTo>
                  <a:pt x="13322" y="38566"/>
                  <a:pt x="25245" y="26643"/>
                  <a:pt x="39965" y="26643"/>
                </a:cubicBezTo>
                <a:lnTo>
                  <a:pt x="39965" y="18650"/>
                </a:lnTo>
                <a:close/>
                <a:moveTo>
                  <a:pt x="130552" y="18650"/>
                </a:moveTo>
                <a:lnTo>
                  <a:pt x="130552" y="26643"/>
                </a:lnTo>
                <a:cubicBezTo>
                  <a:pt x="145273" y="26643"/>
                  <a:pt x="157196" y="38566"/>
                  <a:pt x="157196" y="53287"/>
                </a:cubicBezTo>
                <a:cubicBezTo>
                  <a:pt x="157196" y="58282"/>
                  <a:pt x="155830" y="62945"/>
                  <a:pt x="153466" y="66908"/>
                </a:cubicBezTo>
                <a:cubicBezTo>
                  <a:pt x="162025" y="71338"/>
                  <a:pt x="167853" y="80263"/>
                  <a:pt x="167853" y="90587"/>
                </a:cubicBezTo>
                <a:cubicBezTo>
                  <a:pt x="167853" y="99313"/>
                  <a:pt x="163657" y="107040"/>
                  <a:pt x="157196" y="111902"/>
                </a:cubicBezTo>
                <a:cubicBezTo>
                  <a:pt x="160526" y="116365"/>
                  <a:pt x="162524" y="121893"/>
                  <a:pt x="162524" y="127888"/>
                </a:cubicBezTo>
                <a:cubicBezTo>
                  <a:pt x="162524" y="142609"/>
                  <a:pt x="150602" y="154531"/>
                  <a:pt x="135881" y="154531"/>
                </a:cubicBezTo>
                <a:cubicBezTo>
                  <a:pt x="135648" y="154531"/>
                  <a:pt x="135448" y="154531"/>
                  <a:pt x="135215" y="154531"/>
                </a:cubicBezTo>
                <a:cubicBezTo>
                  <a:pt x="132850" y="163723"/>
                  <a:pt x="124491" y="170517"/>
                  <a:pt x="114566" y="170517"/>
                </a:cubicBezTo>
                <a:lnTo>
                  <a:pt x="103909" y="170517"/>
                </a:lnTo>
                <a:cubicBezTo>
                  <a:pt x="98014" y="170517"/>
                  <a:pt x="93252" y="165755"/>
                  <a:pt x="93252" y="159860"/>
                </a:cubicBezTo>
                <a:lnTo>
                  <a:pt x="93252" y="10657"/>
                </a:lnTo>
                <a:cubicBezTo>
                  <a:pt x="93252" y="4763"/>
                  <a:pt x="98014" y="0"/>
                  <a:pt x="103909" y="0"/>
                </a:cubicBezTo>
                <a:lnTo>
                  <a:pt x="111902" y="0"/>
                </a:lnTo>
                <a:cubicBezTo>
                  <a:pt x="122193" y="0"/>
                  <a:pt x="130552" y="8359"/>
                  <a:pt x="130552" y="186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0"/>
          <p:cNvSpPr/>
          <p:nvPr/>
        </p:nvSpPr>
        <p:spPr>
          <a:xfrm>
            <a:off x="8012990" y="4736597"/>
            <a:ext cx="2074629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Core Tier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012990" y="5001846"/>
            <a:ext cx="2055683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3.11+ + FastAPI + LangGraph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040225" y="5314462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112627" y="18158"/>
                </a:moveTo>
                <a:cubicBezTo>
                  <a:pt x="116332" y="20852"/>
                  <a:pt x="117160" y="26033"/>
                  <a:pt x="114467" y="29737"/>
                </a:cubicBezTo>
                <a:lnTo>
                  <a:pt x="48154" y="120916"/>
                </a:lnTo>
                <a:cubicBezTo>
                  <a:pt x="46729" y="122885"/>
                  <a:pt x="44528" y="124103"/>
                  <a:pt x="42093" y="124310"/>
                </a:cubicBezTo>
                <a:cubicBezTo>
                  <a:pt x="39658" y="124517"/>
                  <a:pt x="37301" y="123610"/>
                  <a:pt x="35591" y="121901"/>
                </a:cubicBezTo>
                <a:lnTo>
                  <a:pt x="2435" y="88745"/>
                </a:lnTo>
                <a:cubicBezTo>
                  <a:pt x="-803" y="85507"/>
                  <a:pt x="-803" y="80248"/>
                  <a:pt x="2435" y="77010"/>
                </a:cubicBezTo>
                <a:cubicBezTo>
                  <a:pt x="5673" y="73772"/>
                  <a:pt x="10931" y="73772"/>
                  <a:pt x="14169" y="77010"/>
                </a:cubicBezTo>
                <a:lnTo>
                  <a:pt x="40461" y="103302"/>
                </a:lnTo>
                <a:lnTo>
                  <a:pt x="101075" y="19971"/>
                </a:lnTo>
                <a:cubicBezTo>
                  <a:pt x="103768" y="16267"/>
                  <a:pt x="108949" y="15438"/>
                  <a:pt x="112653" y="18132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6" name="Text 33"/>
          <p:cNvSpPr/>
          <p:nvPr/>
        </p:nvSpPr>
        <p:spPr>
          <a:xfrm>
            <a:off x="8254556" y="5267096"/>
            <a:ext cx="1534657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 specialized AI agents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040225" y="5579711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112627" y="18158"/>
                </a:moveTo>
                <a:cubicBezTo>
                  <a:pt x="116332" y="20852"/>
                  <a:pt x="117160" y="26033"/>
                  <a:pt x="114467" y="29737"/>
                </a:cubicBezTo>
                <a:lnTo>
                  <a:pt x="48154" y="120916"/>
                </a:lnTo>
                <a:cubicBezTo>
                  <a:pt x="46729" y="122885"/>
                  <a:pt x="44528" y="124103"/>
                  <a:pt x="42093" y="124310"/>
                </a:cubicBezTo>
                <a:cubicBezTo>
                  <a:pt x="39658" y="124517"/>
                  <a:pt x="37301" y="123610"/>
                  <a:pt x="35591" y="121901"/>
                </a:cubicBezTo>
                <a:lnTo>
                  <a:pt x="2435" y="88745"/>
                </a:lnTo>
                <a:cubicBezTo>
                  <a:pt x="-803" y="85507"/>
                  <a:pt x="-803" y="80248"/>
                  <a:pt x="2435" y="77010"/>
                </a:cubicBezTo>
                <a:cubicBezTo>
                  <a:pt x="5673" y="73772"/>
                  <a:pt x="10931" y="73772"/>
                  <a:pt x="14169" y="77010"/>
                </a:cubicBezTo>
                <a:lnTo>
                  <a:pt x="40461" y="103302"/>
                </a:lnTo>
                <a:lnTo>
                  <a:pt x="101075" y="19971"/>
                </a:lnTo>
                <a:cubicBezTo>
                  <a:pt x="103768" y="16267"/>
                  <a:pt x="108949" y="15438"/>
                  <a:pt x="112653" y="18132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8" name="Text 35"/>
          <p:cNvSpPr/>
          <p:nvPr/>
        </p:nvSpPr>
        <p:spPr>
          <a:xfrm>
            <a:off x="8254556" y="5532345"/>
            <a:ext cx="1932531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Multi-provider LLM failover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040225" y="5844960"/>
            <a:ext cx="116047" cy="132625"/>
          </a:xfrm>
          <a:custGeom>
            <a:avLst/>
            <a:gdLst/>
            <a:ahLst/>
            <a:cxnLst/>
            <a:rect l="l" t="t" r="r" b="b"/>
            <a:pathLst>
              <a:path w="116047" h="132625">
                <a:moveTo>
                  <a:pt x="112627" y="18158"/>
                </a:moveTo>
                <a:cubicBezTo>
                  <a:pt x="116332" y="20852"/>
                  <a:pt x="117160" y="26033"/>
                  <a:pt x="114467" y="29737"/>
                </a:cubicBezTo>
                <a:lnTo>
                  <a:pt x="48154" y="120916"/>
                </a:lnTo>
                <a:cubicBezTo>
                  <a:pt x="46729" y="122885"/>
                  <a:pt x="44528" y="124103"/>
                  <a:pt x="42093" y="124310"/>
                </a:cubicBezTo>
                <a:cubicBezTo>
                  <a:pt x="39658" y="124517"/>
                  <a:pt x="37301" y="123610"/>
                  <a:pt x="35591" y="121901"/>
                </a:cubicBezTo>
                <a:lnTo>
                  <a:pt x="2435" y="88745"/>
                </a:lnTo>
                <a:cubicBezTo>
                  <a:pt x="-803" y="85507"/>
                  <a:pt x="-803" y="80248"/>
                  <a:pt x="2435" y="77010"/>
                </a:cubicBezTo>
                <a:cubicBezTo>
                  <a:pt x="5673" y="73772"/>
                  <a:pt x="10931" y="73772"/>
                  <a:pt x="14169" y="77010"/>
                </a:cubicBezTo>
                <a:lnTo>
                  <a:pt x="40461" y="103302"/>
                </a:lnTo>
                <a:lnTo>
                  <a:pt x="101075" y="19971"/>
                </a:lnTo>
                <a:cubicBezTo>
                  <a:pt x="103768" y="16267"/>
                  <a:pt x="108949" y="15438"/>
                  <a:pt x="112653" y="18132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0" name="Text 37"/>
          <p:cNvSpPr/>
          <p:nvPr/>
        </p:nvSpPr>
        <p:spPr>
          <a:xfrm>
            <a:off x="8254556" y="5797594"/>
            <a:ext cx="1582023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OCR + Vision pipeline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329" y="318329"/>
            <a:ext cx="11611050" cy="15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7" b="1" spc="44" kern="0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2.2 DATA FLOW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8329" y="541159"/>
            <a:ext cx="11698590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6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Request Lifecycle &amp; Data Flow</a:t>
            </a:r>
            <a:endParaRPr lang="en-US" sz="1600" dirty="0"/>
          </a:p>
        </p:txBody>
      </p:sp>
      <p:pic>
        <p:nvPicPr>
          <p:cNvPr id="4" name="Image 0" descr="https://kimi-img.moonshot.cn/pub/slides/26-04-04-19:38:47-d78fghqvb1uag2k2po8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18329" y="986820"/>
            <a:ext cx="6175582" cy="4615770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8693863" y="986820"/>
            <a:ext cx="3183290" cy="2164637"/>
          </a:xfrm>
          <a:custGeom>
            <a:avLst/>
            <a:gdLst/>
            <a:ahLst/>
            <a:cxnLst/>
            <a:rect l="l" t="t" r="r" b="b"/>
            <a:pathLst>
              <a:path w="3183290" h="2164637">
                <a:moveTo>
                  <a:pt x="63662" y="0"/>
                </a:moveTo>
                <a:lnTo>
                  <a:pt x="3119628" y="0"/>
                </a:lnTo>
                <a:cubicBezTo>
                  <a:pt x="3154787" y="0"/>
                  <a:pt x="3183290" y="28502"/>
                  <a:pt x="3183290" y="63662"/>
                </a:cubicBezTo>
                <a:lnTo>
                  <a:pt x="3183290" y="2100975"/>
                </a:lnTo>
                <a:cubicBezTo>
                  <a:pt x="3183290" y="2136135"/>
                  <a:pt x="3154787" y="2164637"/>
                  <a:pt x="3119628" y="2164637"/>
                </a:cubicBezTo>
                <a:lnTo>
                  <a:pt x="63662" y="2164637"/>
                </a:lnTo>
                <a:cubicBezTo>
                  <a:pt x="28502" y="2164637"/>
                  <a:pt x="0" y="2136135"/>
                  <a:pt x="0" y="2100975"/>
                </a:cubicBezTo>
                <a:lnTo>
                  <a:pt x="0" y="63662"/>
                </a:lnTo>
                <a:cubicBezTo>
                  <a:pt x="0" y="28526"/>
                  <a:pt x="28526" y="0"/>
                  <a:pt x="6366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3"/>
          <p:cNvSpPr/>
          <p:nvPr/>
        </p:nvSpPr>
        <p:spPr>
          <a:xfrm>
            <a:off x="8841090" y="1153943"/>
            <a:ext cx="143248" cy="143248"/>
          </a:xfrm>
          <a:custGeom>
            <a:avLst/>
            <a:gdLst/>
            <a:ahLst/>
            <a:cxnLst/>
            <a:rect l="l" t="t" r="r" b="b"/>
            <a:pathLst>
              <a:path w="143248" h="143248">
                <a:moveTo>
                  <a:pt x="140618" y="42135"/>
                </a:moveTo>
                <a:lnTo>
                  <a:pt x="113759" y="68994"/>
                </a:lnTo>
                <a:cubicBezTo>
                  <a:pt x="111185" y="71568"/>
                  <a:pt x="107352" y="72323"/>
                  <a:pt x="103995" y="70925"/>
                </a:cubicBezTo>
                <a:cubicBezTo>
                  <a:pt x="100637" y="69526"/>
                  <a:pt x="98483" y="66280"/>
                  <a:pt x="98483" y="62671"/>
                </a:cubicBezTo>
                <a:lnTo>
                  <a:pt x="98483" y="44765"/>
                </a:lnTo>
                <a:lnTo>
                  <a:pt x="8953" y="44765"/>
                </a:lnTo>
                <a:cubicBezTo>
                  <a:pt x="4001" y="44765"/>
                  <a:pt x="0" y="40764"/>
                  <a:pt x="0" y="35812"/>
                </a:cubicBezTo>
                <a:cubicBezTo>
                  <a:pt x="0" y="30860"/>
                  <a:pt x="4001" y="26859"/>
                  <a:pt x="8953" y="26859"/>
                </a:cubicBezTo>
                <a:lnTo>
                  <a:pt x="98483" y="26859"/>
                </a:lnTo>
                <a:lnTo>
                  <a:pt x="98483" y="8953"/>
                </a:lnTo>
                <a:cubicBezTo>
                  <a:pt x="98483" y="5344"/>
                  <a:pt x="100665" y="2070"/>
                  <a:pt x="104023" y="671"/>
                </a:cubicBezTo>
                <a:cubicBezTo>
                  <a:pt x="107380" y="-727"/>
                  <a:pt x="111213" y="56"/>
                  <a:pt x="113787" y="2602"/>
                </a:cubicBezTo>
                <a:lnTo>
                  <a:pt x="140646" y="29461"/>
                </a:lnTo>
                <a:cubicBezTo>
                  <a:pt x="144143" y="32958"/>
                  <a:pt x="144143" y="38638"/>
                  <a:pt x="140646" y="42135"/>
                </a:cubicBezTo>
                <a:close/>
                <a:moveTo>
                  <a:pt x="29461" y="140618"/>
                </a:moveTo>
                <a:lnTo>
                  <a:pt x="2602" y="113759"/>
                </a:lnTo>
                <a:cubicBezTo>
                  <a:pt x="-895" y="110262"/>
                  <a:pt x="-895" y="104582"/>
                  <a:pt x="2602" y="101085"/>
                </a:cubicBezTo>
                <a:lnTo>
                  <a:pt x="29461" y="74226"/>
                </a:lnTo>
                <a:cubicBezTo>
                  <a:pt x="32035" y="71652"/>
                  <a:pt x="35868" y="70897"/>
                  <a:pt x="39225" y="72295"/>
                </a:cubicBezTo>
                <a:cubicBezTo>
                  <a:pt x="42583" y="73694"/>
                  <a:pt x="44765" y="76968"/>
                  <a:pt x="44765" y="80577"/>
                </a:cubicBezTo>
                <a:lnTo>
                  <a:pt x="44765" y="98483"/>
                </a:lnTo>
                <a:lnTo>
                  <a:pt x="134295" y="98483"/>
                </a:lnTo>
                <a:cubicBezTo>
                  <a:pt x="139247" y="98483"/>
                  <a:pt x="143248" y="102484"/>
                  <a:pt x="143248" y="107436"/>
                </a:cubicBezTo>
                <a:cubicBezTo>
                  <a:pt x="143248" y="112388"/>
                  <a:pt x="139247" y="116389"/>
                  <a:pt x="134295" y="116389"/>
                </a:cubicBezTo>
                <a:lnTo>
                  <a:pt x="44765" y="116389"/>
                </a:lnTo>
                <a:lnTo>
                  <a:pt x="44765" y="134295"/>
                </a:lnTo>
                <a:cubicBezTo>
                  <a:pt x="44765" y="137904"/>
                  <a:pt x="42583" y="141178"/>
                  <a:pt x="39225" y="142577"/>
                </a:cubicBezTo>
                <a:cubicBezTo>
                  <a:pt x="35868" y="143975"/>
                  <a:pt x="32035" y="143192"/>
                  <a:pt x="29461" y="14064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4"/>
          <p:cNvSpPr/>
          <p:nvPr/>
        </p:nvSpPr>
        <p:spPr>
          <a:xfrm>
            <a:off x="9004234" y="1114151"/>
            <a:ext cx="2817211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Standard API Request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80359" y="1432480"/>
            <a:ext cx="2833128" cy="1591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0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Client</a:t>
            </a:r>
            <a:pPr>
              <a:lnSpc>
                <a:spcPct val="130000"/>
              </a:lnSpc>
              <a:spcBef>
                <a:spcPts val="10"/>
              </a:spcBef>
            </a:pPr>
            <a:r>
              <a:rPr lang="en-US" sz="10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issues HTTP request via React Query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0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Express Router</a:t>
            </a:r>
            <a:pPr>
              <a:lnSpc>
                <a:spcPct val="130000"/>
              </a:lnSpc>
              <a:spcBef>
                <a:spcPts val="10"/>
              </a:spcBef>
            </a:pPr>
            <a:r>
              <a:rPr lang="en-US" sz="10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matches path through middleware stack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0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Controller</a:t>
            </a:r>
            <a:pPr>
              <a:lnSpc>
                <a:spcPct val="130000"/>
              </a:lnSpc>
              <a:spcBef>
                <a:spcPts val="10"/>
              </a:spcBef>
            </a:pPr>
            <a:r>
              <a:rPr lang="en-US" sz="10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orchestrates response, calls services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0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Services</a:t>
            </a:r>
            <a:pPr>
              <a:lnSpc>
                <a:spcPct val="130000"/>
              </a:lnSpc>
              <a:spcBef>
                <a:spcPts val="10"/>
              </a:spcBef>
            </a:pPr>
            <a:r>
              <a:rPr lang="en-US" sz="10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interact with MongoDB, Redis, or AI Core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0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Response</a:t>
            </a:r>
            <a:pPr>
              <a:lnSpc>
                <a:spcPct val="130000"/>
              </a:lnSpc>
              <a:spcBef>
                <a:spcPts val="10"/>
              </a:spcBef>
            </a:pPr>
            <a:r>
              <a:rPr lang="en-US" sz="10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flows back with React Query caching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93863" y="3278789"/>
            <a:ext cx="3183290" cy="1973640"/>
          </a:xfrm>
          <a:custGeom>
            <a:avLst/>
            <a:gdLst/>
            <a:ahLst/>
            <a:cxnLst/>
            <a:rect l="l" t="t" r="r" b="b"/>
            <a:pathLst>
              <a:path w="3183290" h="1973640">
                <a:moveTo>
                  <a:pt x="63670" y="0"/>
                </a:moveTo>
                <a:lnTo>
                  <a:pt x="3119620" y="0"/>
                </a:lnTo>
                <a:cubicBezTo>
                  <a:pt x="3154784" y="0"/>
                  <a:pt x="3183290" y="28506"/>
                  <a:pt x="3183290" y="63670"/>
                </a:cubicBezTo>
                <a:lnTo>
                  <a:pt x="3183290" y="1909970"/>
                </a:lnTo>
                <a:cubicBezTo>
                  <a:pt x="3183290" y="1945134"/>
                  <a:pt x="3154784" y="1973640"/>
                  <a:pt x="3119620" y="1973640"/>
                </a:cubicBezTo>
                <a:lnTo>
                  <a:pt x="63670" y="1973640"/>
                </a:lnTo>
                <a:cubicBezTo>
                  <a:pt x="28506" y="1973640"/>
                  <a:pt x="0" y="1945134"/>
                  <a:pt x="0" y="1909970"/>
                </a:cubicBezTo>
                <a:lnTo>
                  <a:pt x="0" y="63670"/>
                </a:lnTo>
                <a:cubicBezTo>
                  <a:pt x="0" y="28529"/>
                  <a:pt x="28529" y="0"/>
                  <a:pt x="6367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0" name="Shape 7"/>
          <p:cNvSpPr/>
          <p:nvPr/>
        </p:nvSpPr>
        <p:spPr>
          <a:xfrm>
            <a:off x="8823184" y="3445911"/>
            <a:ext cx="179060" cy="143248"/>
          </a:xfrm>
          <a:custGeom>
            <a:avLst/>
            <a:gdLst/>
            <a:ahLst/>
            <a:cxnLst/>
            <a:rect l="l" t="t" r="r" b="b"/>
            <a:pathLst>
              <a:path w="179060" h="143248">
                <a:moveTo>
                  <a:pt x="98483" y="0"/>
                </a:moveTo>
                <a:cubicBezTo>
                  <a:pt x="98483" y="-4952"/>
                  <a:pt x="94482" y="-8953"/>
                  <a:pt x="89530" y="-8953"/>
                </a:cubicBezTo>
                <a:cubicBezTo>
                  <a:pt x="84578" y="-8953"/>
                  <a:pt x="80577" y="-4952"/>
                  <a:pt x="80577" y="0"/>
                </a:cubicBezTo>
                <a:lnTo>
                  <a:pt x="80577" y="17906"/>
                </a:lnTo>
                <a:lnTo>
                  <a:pt x="53718" y="17906"/>
                </a:lnTo>
                <a:cubicBezTo>
                  <a:pt x="38890" y="17906"/>
                  <a:pt x="26859" y="29937"/>
                  <a:pt x="26859" y="44765"/>
                </a:cubicBezTo>
                <a:lnTo>
                  <a:pt x="26859" y="107436"/>
                </a:lnTo>
                <a:cubicBezTo>
                  <a:pt x="26859" y="122264"/>
                  <a:pt x="38890" y="134295"/>
                  <a:pt x="53718" y="134295"/>
                </a:cubicBezTo>
                <a:lnTo>
                  <a:pt x="125342" y="134295"/>
                </a:lnTo>
                <a:cubicBezTo>
                  <a:pt x="140170" y="134295"/>
                  <a:pt x="152201" y="122264"/>
                  <a:pt x="152201" y="107436"/>
                </a:cubicBezTo>
                <a:lnTo>
                  <a:pt x="152201" y="44765"/>
                </a:lnTo>
                <a:cubicBezTo>
                  <a:pt x="152201" y="29937"/>
                  <a:pt x="140170" y="17906"/>
                  <a:pt x="125342" y="17906"/>
                </a:cubicBezTo>
                <a:lnTo>
                  <a:pt x="98483" y="17906"/>
                </a:lnTo>
                <a:lnTo>
                  <a:pt x="98483" y="0"/>
                </a:lnTo>
                <a:close/>
                <a:moveTo>
                  <a:pt x="44765" y="102960"/>
                </a:moveTo>
                <a:cubicBezTo>
                  <a:pt x="44765" y="99238"/>
                  <a:pt x="47759" y="96245"/>
                  <a:pt x="51480" y="96245"/>
                </a:cubicBezTo>
                <a:lnTo>
                  <a:pt x="60433" y="96245"/>
                </a:lnTo>
                <a:cubicBezTo>
                  <a:pt x="64154" y="96245"/>
                  <a:pt x="67148" y="99238"/>
                  <a:pt x="67148" y="102960"/>
                </a:cubicBezTo>
                <a:cubicBezTo>
                  <a:pt x="67148" y="106681"/>
                  <a:pt x="64154" y="109674"/>
                  <a:pt x="60433" y="109674"/>
                </a:cubicBezTo>
                <a:lnTo>
                  <a:pt x="51480" y="109674"/>
                </a:lnTo>
                <a:cubicBezTo>
                  <a:pt x="47759" y="109674"/>
                  <a:pt x="44765" y="106681"/>
                  <a:pt x="44765" y="102960"/>
                </a:cubicBezTo>
                <a:close/>
                <a:moveTo>
                  <a:pt x="78339" y="102960"/>
                </a:moveTo>
                <a:cubicBezTo>
                  <a:pt x="78339" y="99238"/>
                  <a:pt x="81332" y="96245"/>
                  <a:pt x="85054" y="96245"/>
                </a:cubicBezTo>
                <a:lnTo>
                  <a:pt x="94007" y="96245"/>
                </a:lnTo>
                <a:cubicBezTo>
                  <a:pt x="97728" y="96245"/>
                  <a:pt x="100721" y="99238"/>
                  <a:pt x="100721" y="102960"/>
                </a:cubicBezTo>
                <a:cubicBezTo>
                  <a:pt x="100721" y="106681"/>
                  <a:pt x="97728" y="109674"/>
                  <a:pt x="94007" y="109674"/>
                </a:cubicBezTo>
                <a:lnTo>
                  <a:pt x="85054" y="109674"/>
                </a:lnTo>
                <a:cubicBezTo>
                  <a:pt x="81332" y="109674"/>
                  <a:pt x="78339" y="106681"/>
                  <a:pt x="78339" y="102960"/>
                </a:cubicBezTo>
                <a:close/>
                <a:moveTo>
                  <a:pt x="111913" y="102960"/>
                </a:moveTo>
                <a:cubicBezTo>
                  <a:pt x="111913" y="99238"/>
                  <a:pt x="114906" y="96245"/>
                  <a:pt x="118627" y="96245"/>
                </a:cubicBezTo>
                <a:lnTo>
                  <a:pt x="127580" y="96245"/>
                </a:lnTo>
                <a:cubicBezTo>
                  <a:pt x="131301" y="96245"/>
                  <a:pt x="134295" y="99238"/>
                  <a:pt x="134295" y="102960"/>
                </a:cubicBezTo>
                <a:cubicBezTo>
                  <a:pt x="134295" y="106681"/>
                  <a:pt x="131301" y="109674"/>
                  <a:pt x="127580" y="109674"/>
                </a:cubicBezTo>
                <a:lnTo>
                  <a:pt x="118627" y="109674"/>
                </a:lnTo>
                <a:cubicBezTo>
                  <a:pt x="114906" y="109674"/>
                  <a:pt x="111913" y="106681"/>
                  <a:pt x="111913" y="102960"/>
                </a:cubicBezTo>
                <a:close/>
                <a:moveTo>
                  <a:pt x="62671" y="49242"/>
                </a:moveTo>
                <a:cubicBezTo>
                  <a:pt x="70083" y="49242"/>
                  <a:pt x="76101" y="55259"/>
                  <a:pt x="76101" y="62671"/>
                </a:cubicBezTo>
                <a:cubicBezTo>
                  <a:pt x="76101" y="70083"/>
                  <a:pt x="70083" y="76101"/>
                  <a:pt x="62671" y="76101"/>
                </a:cubicBezTo>
                <a:cubicBezTo>
                  <a:pt x="55259" y="76101"/>
                  <a:pt x="49242" y="70083"/>
                  <a:pt x="49242" y="62671"/>
                </a:cubicBezTo>
                <a:cubicBezTo>
                  <a:pt x="49242" y="55259"/>
                  <a:pt x="55259" y="49242"/>
                  <a:pt x="62671" y="49242"/>
                </a:cubicBezTo>
                <a:close/>
                <a:moveTo>
                  <a:pt x="102960" y="62671"/>
                </a:moveTo>
                <a:cubicBezTo>
                  <a:pt x="102960" y="55259"/>
                  <a:pt x="108977" y="49242"/>
                  <a:pt x="116389" y="49242"/>
                </a:cubicBezTo>
                <a:cubicBezTo>
                  <a:pt x="123801" y="49242"/>
                  <a:pt x="129819" y="55259"/>
                  <a:pt x="129819" y="62671"/>
                </a:cubicBezTo>
                <a:cubicBezTo>
                  <a:pt x="129819" y="70083"/>
                  <a:pt x="123801" y="76101"/>
                  <a:pt x="116389" y="76101"/>
                </a:cubicBezTo>
                <a:cubicBezTo>
                  <a:pt x="108977" y="76101"/>
                  <a:pt x="102960" y="70083"/>
                  <a:pt x="102960" y="62671"/>
                </a:cubicBezTo>
                <a:close/>
                <a:moveTo>
                  <a:pt x="17906" y="62671"/>
                </a:moveTo>
                <a:cubicBezTo>
                  <a:pt x="17906" y="57719"/>
                  <a:pt x="13905" y="53718"/>
                  <a:pt x="8953" y="53718"/>
                </a:cubicBezTo>
                <a:cubicBezTo>
                  <a:pt x="4001" y="53718"/>
                  <a:pt x="0" y="57719"/>
                  <a:pt x="0" y="62671"/>
                </a:cubicBezTo>
                <a:lnTo>
                  <a:pt x="0" y="89530"/>
                </a:lnTo>
                <a:cubicBezTo>
                  <a:pt x="0" y="94482"/>
                  <a:pt x="4001" y="98483"/>
                  <a:pt x="8953" y="98483"/>
                </a:cubicBezTo>
                <a:cubicBezTo>
                  <a:pt x="13905" y="98483"/>
                  <a:pt x="17906" y="94482"/>
                  <a:pt x="17906" y="89530"/>
                </a:cubicBezTo>
                <a:lnTo>
                  <a:pt x="17906" y="62671"/>
                </a:lnTo>
                <a:close/>
                <a:moveTo>
                  <a:pt x="170107" y="53718"/>
                </a:moveTo>
                <a:cubicBezTo>
                  <a:pt x="165155" y="53718"/>
                  <a:pt x="161154" y="57719"/>
                  <a:pt x="161154" y="62671"/>
                </a:cubicBezTo>
                <a:lnTo>
                  <a:pt x="161154" y="89530"/>
                </a:lnTo>
                <a:cubicBezTo>
                  <a:pt x="161154" y="94482"/>
                  <a:pt x="165155" y="98483"/>
                  <a:pt x="170107" y="98483"/>
                </a:cubicBezTo>
                <a:cubicBezTo>
                  <a:pt x="175059" y="98483"/>
                  <a:pt x="179060" y="94482"/>
                  <a:pt x="179060" y="89530"/>
                </a:cubicBezTo>
                <a:lnTo>
                  <a:pt x="179060" y="62671"/>
                </a:lnTo>
                <a:cubicBezTo>
                  <a:pt x="179060" y="57719"/>
                  <a:pt x="175059" y="53718"/>
                  <a:pt x="170107" y="5371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8"/>
          <p:cNvSpPr/>
          <p:nvPr/>
        </p:nvSpPr>
        <p:spPr>
          <a:xfrm>
            <a:off x="9004234" y="3406120"/>
            <a:ext cx="2817211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Request Flow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980359" y="3724449"/>
            <a:ext cx="2833128" cy="1400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0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Client sends request to </a:t>
            </a:r>
            <a:pPr>
              <a:lnSpc>
                <a:spcPct val="130000"/>
              </a:lnSpc>
              <a:spcBef>
                <a:spcPts val="10"/>
              </a:spcBef>
            </a:pPr>
            <a:r>
              <a:rPr lang="en-US" sz="877" dirty="0">
                <a:solidFill>
                  <a:srgbClr val="1F2937"/>
                </a:solidFill>
                <a:highlight>
                  <a:srgbClr val="F9FAFB">
                    <a:alpha val="10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/api/v1/ai/stream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0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Server's </a:t>
            </a:r>
            <a:pPr>
              <a:lnSpc>
                <a:spcPct val="130000"/>
              </a:lnSpc>
              <a:spcBef>
                <a:spcPts val="10"/>
              </a:spcBef>
            </a:pPr>
            <a:r>
              <a:rPr lang="en-US" sz="10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aiCoreClient</a:t>
            </a:r>
            <a:pPr>
              <a:lnSpc>
                <a:spcPct val="130000"/>
              </a:lnSpc>
              <a:spcBef>
                <a:spcPts val="10"/>
              </a:spcBef>
            </a:pPr>
            <a:r>
              <a:rPr lang="en-US" sz="10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loads context, files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0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Request forwarded to </a:t>
            </a:r>
            <a:pPr>
              <a:lnSpc>
                <a:spcPct val="130000"/>
              </a:lnSpc>
              <a:spcBef>
                <a:spcPts val="10"/>
              </a:spcBef>
            </a:pPr>
            <a:r>
              <a:rPr lang="en-US" sz="10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Python AI Core</a:t>
            </a:r>
            <a:pPr>
              <a:lnSpc>
                <a:spcPct val="130000"/>
              </a:lnSpc>
              <a:spcBef>
                <a:spcPts val="10"/>
              </a:spcBef>
            </a:pPr>
            <a:r>
              <a:rPr lang="en-US" sz="10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at port 8001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0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LangGraph workflow</a:t>
            </a:r>
            <a:pPr>
              <a:lnSpc>
                <a:spcPct val="130000"/>
              </a:lnSpc>
              <a:spcBef>
                <a:spcPts val="10"/>
              </a:spcBef>
            </a:pPr>
            <a:r>
              <a:rPr lang="en-US" sz="10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routes to specialist agents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Font typeface="+mj-lt"/>
              <a:buAutoNum type="arabicPeriod" startAt="1"/>
            </a:pPr>
            <a:r>
              <a:rPr lang="en-US" sz="10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Master synthesis</a:t>
            </a:r>
            <a:pPr>
              <a:lnSpc>
                <a:spcPct val="130000"/>
              </a:lnSpc>
              <a:spcBef>
                <a:spcPts val="10"/>
              </a:spcBef>
            </a:pPr>
            <a:r>
              <a:rPr lang="en-US" sz="10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combines outputs, streams response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97842" y="5383739"/>
            <a:ext cx="3175332" cy="1153943"/>
          </a:xfrm>
          <a:custGeom>
            <a:avLst/>
            <a:gdLst/>
            <a:ahLst/>
            <a:cxnLst/>
            <a:rect l="l" t="t" r="r" b="b"/>
            <a:pathLst>
              <a:path w="3175332" h="1153943">
                <a:moveTo>
                  <a:pt x="63663" y="0"/>
                </a:moveTo>
                <a:lnTo>
                  <a:pt x="3111669" y="0"/>
                </a:lnTo>
                <a:cubicBezTo>
                  <a:pt x="3146829" y="0"/>
                  <a:pt x="3175332" y="28503"/>
                  <a:pt x="3175332" y="63663"/>
                </a:cubicBezTo>
                <a:lnTo>
                  <a:pt x="3175332" y="1090280"/>
                </a:lnTo>
                <a:cubicBezTo>
                  <a:pt x="3175332" y="1125440"/>
                  <a:pt x="3146829" y="1153943"/>
                  <a:pt x="3111669" y="1153943"/>
                </a:cubicBezTo>
                <a:lnTo>
                  <a:pt x="63663" y="1153943"/>
                </a:lnTo>
                <a:cubicBezTo>
                  <a:pt x="28503" y="1153943"/>
                  <a:pt x="0" y="1125440"/>
                  <a:pt x="0" y="1090280"/>
                </a:cubicBezTo>
                <a:lnTo>
                  <a:pt x="0" y="63663"/>
                </a:lnTo>
                <a:cubicBezTo>
                  <a:pt x="0" y="28526"/>
                  <a:pt x="28526" y="0"/>
                  <a:pt x="63663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29153" y="5515050"/>
            <a:ext cx="2976376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Design Decisions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845069" y="5801546"/>
            <a:ext cx="111415" cy="111415"/>
          </a:xfrm>
          <a:custGeom>
            <a:avLst/>
            <a:gdLst/>
            <a:ahLst/>
            <a:cxnLst/>
            <a:rect l="l" t="t" r="r" b="b"/>
            <a:pathLst>
              <a:path w="111415" h="111415">
                <a:moveTo>
                  <a:pt x="109370" y="60626"/>
                </a:moveTo>
                <a:cubicBezTo>
                  <a:pt x="112090" y="57905"/>
                  <a:pt x="112090" y="53488"/>
                  <a:pt x="109370" y="50768"/>
                </a:cubicBezTo>
                <a:lnTo>
                  <a:pt x="74552" y="15951"/>
                </a:lnTo>
                <a:cubicBezTo>
                  <a:pt x="71832" y="13231"/>
                  <a:pt x="67415" y="13231"/>
                  <a:pt x="64695" y="15951"/>
                </a:cubicBezTo>
                <a:cubicBezTo>
                  <a:pt x="61975" y="18671"/>
                  <a:pt x="61975" y="23088"/>
                  <a:pt x="64695" y="25808"/>
                </a:cubicBezTo>
                <a:lnTo>
                  <a:pt x="87631" y="48744"/>
                </a:lnTo>
                <a:lnTo>
                  <a:pt x="6963" y="48744"/>
                </a:lnTo>
                <a:cubicBezTo>
                  <a:pt x="3112" y="48744"/>
                  <a:pt x="0" y="51856"/>
                  <a:pt x="0" y="55708"/>
                </a:cubicBezTo>
                <a:cubicBezTo>
                  <a:pt x="0" y="59559"/>
                  <a:pt x="3112" y="62671"/>
                  <a:pt x="6963" y="62671"/>
                </a:cubicBezTo>
                <a:lnTo>
                  <a:pt x="87631" y="62671"/>
                </a:lnTo>
                <a:lnTo>
                  <a:pt x="64695" y="85607"/>
                </a:lnTo>
                <a:cubicBezTo>
                  <a:pt x="61975" y="88327"/>
                  <a:pt x="61975" y="92744"/>
                  <a:pt x="64695" y="95464"/>
                </a:cubicBezTo>
                <a:cubicBezTo>
                  <a:pt x="67415" y="98185"/>
                  <a:pt x="71832" y="98185"/>
                  <a:pt x="74552" y="95464"/>
                </a:cubicBezTo>
                <a:lnTo>
                  <a:pt x="109370" y="60647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3"/>
          <p:cNvSpPr/>
          <p:nvPr/>
        </p:nvSpPr>
        <p:spPr>
          <a:xfrm>
            <a:off x="9032087" y="5769713"/>
            <a:ext cx="2284010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Monorepo-style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for unified development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845069" y="6024376"/>
            <a:ext cx="111415" cy="111415"/>
          </a:xfrm>
          <a:custGeom>
            <a:avLst/>
            <a:gdLst/>
            <a:ahLst/>
            <a:cxnLst/>
            <a:rect l="l" t="t" r="r" b="b"/>
            <a:pathLst>
              <a:path w="111415" h="111415">
                <a:moveTo>
                  <a:pt x="109370" y="60626"/>
                </a:moveTo>
                <a:cubicBezTo>
                  <a:pt x="112090" y="57905"/>
                  <a:pt x="112090" y="53488"/>
                  <a:pt x="109370" y="50768"/>
                </a:cubicBezTo>
                <a:lnTo>
                  <a:pt x="74552" y="15951"/>
                </a:lnTo>
                <a:cubicBezTo>
                  <a:pt x="71832" y="13231"/>
                  <a:pt x="67415" y="13231"/>
                  <a:pt x="64695" y="15951"/>
                </a:cubicBezTo>
                <a:cubicBezTo>
                  <a:pt x="61975" y="18671"/>
                  <a:pt x="61975" y="23088"/>
                  <a:pt x="64695" y="25808"/>
                </a:cubicBezTo>
                <a:lnTo>
                  <a:pt x="87631" y="48744"/>
                </a:lnTo>
                <a:lnTo>
                  <a:pt x="6963" y="48744"/>
                </a:lnTo>
                <a:cubicBezTo>
                  <a:pt x="3112" y="48744"/>
                  <a:pt x="0" y="51856"/>
                  <a:pt x="0" y="55708"/>
                </a:cubicBezTo>
                <a:cubicBezTo>
                  <a:pt x="0" y="59559"/>
                  <a:pt x="3112" y="62671"/>
                  <a:pt x="6963" y="62671"/>
                </a:cubicBezTo>
                <a:lnTo>
                  <a:pt x="87631" y="62671"/>
                </a:lnTo>
                <a:lnTo>
                  <a:pt x="64695" y="85607"/>
                </a:lnTo>
                <a:cubicBezTo>
                  <a:pt x="61975" y="88327"/>
                  <a:pt x="61975" y="92744"/>
                  <a:pt x="64695" y="95464"/>
                </a:cubicBezTo>
                <a:cubicBezTo>
                  <a:pt x="67415" y="98185"/>
                  <a:pt x="71832" y="98185"/>
                  <a:pt x="74552" y="95464"/>
                </a:cubicBezTo>
                <a:lnTo>
                  <a:pt x="109370" y="60647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5"/>
          <p:cNvSpPr/>
          <p:nvPr/>
        </p:nvSpPr>
        <p:spPr>
          <a:xfrm>
            <a:off x="9032087" y="5992543"/>
            <a:ext cx="2451133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Zustand over Redux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for minimal boilerplate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845069" y="6247206"/>
            <a:ext cx="111415" cy="111415"/>
          </a:xfrm>
          <a:custGeom>
            <a:avLst/>
            <a:gdLst/>
            <a:ahLst/>
            <a:cxnLst/>
            <a:rect l="l" t="t" r="r" b="b"/>
            <a:pathLst>
              <a:path w="111415" h="111415">
                <a:moveTo>
                  <a:pt x="109370" y="60626"/>
                </a:moveTo>
                <a:cubicBezTo>
                  <a:pt x="112090" y="57905"/>
                  <a:pt x="112090" y="53488"/>
                  <a:pt x="109370" y="50768"/>
                </a:cubicBezTo>
                <a:lnTo>
                  <a:pt x="74552" y="15951"/>
                </a:lnTo>
                <a:cubicBezTo>
                  <a:pt x="71832" y="13231"/>
                  <a:pt x="67415" y="13231"/>
                  <a:pt x="64695" y="15951"/>
                </a:cubicBezTo>
                <a:cubicBezTo>
                  <a:pt x="61975" y="18671"/>
                  <a:pt x="61975" y="23088"/>
                  <a:pt x="64695" y="25808"/>
                </a:cubicBezTo>
                <a:lnTo>
                  <a:pt x="87631" y="48744"/>
                </a:lnTo>
                <a:lnTo>
                  <a:pt x="6963" y="48744"/>
                </a:lnTo>
                <a:cubicBezTo>
                  <a:pt x="3112" y="48744"/>
                  <a:pt x="0" y="51856"/>
                  <a:pt x="0" y="55708"/>
                </a:cubicBezTo>
                <a:cubicBezTo>
                  <a:pt x="0" y="59559"/>
                  <a:pt x="3112" y="62671"/>
                  <a:pt x="6963" y="62671"/>
                </a:cubicBezTo>
                <a:lnTo>
                  <a:pt x="87631" y="62671"/>
                </a:lnTo>
                <a:lnTo>
                  <a:pt x="64695" y="85607"/>
                </a:lnTo>
                <a:cubicBezTo>
                  <a:pt x="61975" y="88327"/>
                  <a:pt x="61975" y="92744"/>
                  <a:pt x="64695" y="95464"/>
                </a:cubicBezTo>
                <a:cubicBezTo>
                  <a:pt x="67415" y="98185"/>
                  <a:pt x="71832" y="98185"/>
                  <a:pt x="74552" y="95464"/>
                </a:cubicBezTo>
                <a:lnTo>
                  <a:pt x="109370" y="60647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7"/>
          <p:cNvSpPr/>
          <p:nvPr/>
        </p:nvSpPr>
        <p:spPr>
          <a:xfrm>
            <a:off x="9032087" y="6215373"/>
            <a:ext cx="2411342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LangGraph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for modular, testable reasoning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16" y="359116"/>
            <a:ext cx="115366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spc="49" kern="0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3.1 AI CORE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116" y="610498"/>
            <a:ext cx="1163537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Hierarchical Multi-Agent Design</a:t>
            </a:r>
            <a:endParaRPr lang="en-US" sz="1600" dirty="0"/>
          </a:p>
        </p:txBody>
      </p:sp>
      <p:pic>
        <p:nvPicPr>
          <p:cNvPr id="4" name="Image 0" descr="https://kimi-img.moonshot.cn/pub/slides/26-04-04-19:38:47-d78fghqm52tddlf56mb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9116" y="1041437"/>
            <a:ext cx="5844619" cy="4848071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6735395" y="1041437"/>
            <a:ext cx="5099452" cy="1580112"/>
          </a:xfrm>
          <a:custGeom>
            <a:avLst/>
            <a:gdLst/>
            <a:ahLst/>
            <a:cxnLst/>
            <a:rect l="l" t="t" r="r" b="b"/>
            <a:pathLst>
              <a:path w="5099452" h="1580112">
                <a:moveTo>
                  <a:pt x="71816" y="0"/>
                </a:moveTo>
                <a:lnTo>
                  <a:pt x="5027636" y="0"/>
                </a:lnTo>
                <a:cubicBezTo>
                  <a:pt x="5067299" y="0"/>
                  <a:pt x="5099452" y="32153"/>
                  <a:pt x="5099452" y="71816"/>
                </a:cubicBezTo>
                <a:lnTo>
                  <a:pt x="5099452" y="1508296"/>
                </a:lnTo>
                <a:cubicBezTo>
                  <a:pt x="5099452" y="1547959"/>
                  <a:pt x="5067299" y="1580112"/>
                  <a:pt x="5027636" y="1580112"/>
                </a:cubicBezTo>
                <a:lnTo>
                  <a:pt x="71816" y="1580112"/>
                </a:lnTo>
                <a:cubicBezTo>
                  <a:pt x="32153" y="1580112"/>
                  <a:pt x="0" y="1547959"/>
                  <a:pt x="0" y="1508296"/>
                </a:cubicBezTo>
                <a:lnTo>
                  <a:pt x="0" y="71816"/>
                </a:lnTo>
                <a:cubicBezTo>
                  <a:pt x="0" y="32180"/>
                  <a:pt x="32180" y="0"/>
                  <a:pt x="71816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3"/>
          <p:cNvSpPr/>
          <p:nvPr/>
        </p:nvSpPr>
        <p:spPr>
          <a:xfrm>
            <a:off x="6855475" y="1194062"/>
            <a:ext cx="181803" cy="161602"/>
          </a:xfrm>
          <a:custGeom>
            <a:avLst/>
            <a:gdLst/>
            <a:ahLst/>
            <a:cxnLst/>
            <a:rect l="l" t="t" r="r" b="b"/>
            <a:pathLst>
              <a:path w="181803" h="161602">
                <a:moveTo>
                  <a:pt x="98792" y="27523"/>
                </a:moveTo>
                <a:cubicBezTo>
                  <a:pt x="101696" y="25219"/>
                  <a:pt x="103527" y="21652"/>
                  <a:pt x="103527" y="17675"/>
                </a:cubicBezTo>
                <a:cubicBezTo>
                  <a:pt x="103527" y="10700"/>
                  <a:pt x="97877" y="5050"/>
                  <a:pt x="90901" y="5050"/>
                </a:cubicBezTo>
                <a:cubicBezTo>
                  <a:pt x="83926" y="5050"/>
                  <a:pt x="78276" y="10700"/>
                  <a:pt x="78276" y="17675"/>
                </a:cubicBezTo>
                <a:cubicBezTo>
                  <a:pt x="78276" y="21652"/>
                  <a:pt x="80138" y="25219"/>
                  <a:pt x="83011" y="27523"/>
                </a:cubicBezTo>
                <a:lnTo>
                  <a:pt x="61422" y="61485"/>
                </a:lnTo>
                <a:cubicBezTo>
                  <a:pt x="58265" y="66440"/>
                  <a:pt x="51542" y="67671"/>
                  <a:pt x="46839" y="64136"/>
                </a:cubicBezTo>
                <a:lnTo>
                  <a:pt x="28059" y="50090"/>
                </a:lnTo>
                <a:cubicBezTo>
                  <a:pt x="29480" y="48070"/>
                  <a:pt x="30300" y="45577"/>
                  <a:pt x="30300" y="42926"/>
                </a:cubicBezTo>
                <a:cubicBezTo>
                  <a:pt x="30300" y="35950"/>
                  <a:pt x="24651" y="30300"/>
                  <a:pt x="17675" y="30300"/>
                </a:cubicBezTo>
                <a:cubicBezTo>
                  <a:pt x="10700" y="30300"/>
                  <a:pt x="5050" y="35950"/>
                  <a:pt x="5050" y="42926"/>
                </a:cubicBezTo>
                <a:cubicBezTo>
                  <a:pt x="5050" y="49806"/>
                  <a:pt x="10574" y="55425"/>
                  <a:pt x="17423" y="55551"/>
                </a:cubicBezTo>
                <a:lnTo>
                  <a:pt x="27712" y="124200"/>
                </a:lnTo>
                <a:cubicBezTo>
                  <a:pt x="29196" y="134079"/>
                  <a:pt x="37686" y="141402"/>
                  <a:pt x="47692" y="141402"/>
                </a:cubicBezTo>
                <a:lnTo>
                  <a:pt x="134111" y="141402"/>
                </a:lnTo>
                <a:cubicBezTo>
                  <a:pt x="144116" y="141402"/>
                  <a:pt x="152607" y="134079"/>
                  <a:pt x="154090" y="124200"/>
                </a:cubicBezTo>
                <a:lnTo>
                  <a:pt x="164380" y="55551"/>
                </a:lnTo>
                <a:cubicBezTo>
                  <a:pt x="171229" y="55425"/>
                  <a:pt x="176753" y="49806"/>
                  <a:pt x="176753" y="42926"/>
                </a:cubicBezTo>
                <a:cubicBezTo>
                  <a:pt x="176753" y="35950"/>
                  <a:pt x="171103" y="30300"/>
                  <a:pt x="164127" y="30300"/>
                </a:cubicBezTo>
                <a:cubicBezTo>
                  <a:pt x="157152" y="30300"/>
                  <a:pt x="151502" y="35950"/>
                  <a:pt x="151502" y="42926"/>
                </a:cubicBezTo>
                <a:cubicBezTo>
                  <a:pt x="151502" y="45577"/>
                  <a:pt x="152323" y="48070"/>
                  <a:pt x="153743" y="50090"/>
                </a:cubicBezTo>
                <a:lnTo>
                  <a:pt x="134995" y="64167"/>
                </a:lnTo>
                <a:cubicBezTo>
                  <a:pt x="130292" y="67703"/>
                  <a:pt x="123569" y="66472"/>
                  <a:pt x="120413" y="61516"/>
                </a:cubicBezTo>
                <a:lnTo>
                  <a:pt x="98792" y="2752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049622" y="1149172"/>
            <a:ext cx="4758292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Master Orchestrator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43130" y="1472377"/>
            <a:ext cx="4955806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Central coordination point that decomposes queries, delegates to specialists, validates constraints, and synthesizes final responses.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43130" y="1975140"/>
            <a:ext cx="2406080" cy="538675"/>
          </a:xfrm>
          <a:custGeom>
            <a:avLst/>
            <a:gdLst/>
            <a:ahLst/>
            <a:cxnLst/>
            <a:rect l="l" t="t" r="r" b="b"/>
            <a:pathLst>
              <a:path w="2406080" h="538675">
                <a:moveTo>
                  <a:pt x="35913" y="0"/>
                </a:moveTo>
                <a:lnTo>
                  <a:pt x="2370166" y="0"/>
                </a:lnTo>
                <a:cubicBezTo>
                  <a:pt x="2390001" y="0"/>
                  <a:pt x="2406080" y="16079"/>
                  <a:pt x="2406080" y="35913"/>
                </a:cubicBezTo>
                <a:lnTo>
                  <a:pt x="2406080" y="502761"/>
                </a:lnTo>
                <a:cubicBezTo>
                  <a:pt x="2406080" y="522596"/>
                  <a:pt x="2390001" y="538675"/>
                  <a:pt x="2370166" y="538675"/>
                </a:cubicBezTo>
                <a:lnTo>
                  <a:pt x="35913" y="538675"/>
                </a:lnTo>
                <a:cubicBezTo>
                  <a:pt x="16079" y="538675"/>
                  <a:pt x="0" y="522596"/>
                  <a:pt x="0" y="502761"/>
                </a:cubicBezTo>
                <a:lnTo>
                  <a:pt x="0" y="35913"/>
                </a:lnTo>
                <a:cubicBezTo>
                  <a:pt x="0" y="16092"/>
                  <a:pt x="16092" y="0"/>
                  <a:pt x="3591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950865" y="2011052"/>
            <a:ext cx="229834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950865" y="2298345"/>
            <a:ext cx="225345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Specialist Agents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321033" y="1975140"/>
            <a:ext cx="2406080" cy="538675"/>
          </a:xfrm>
          <a:custGeom>
            <a:avLst/>
            <a:gdLst/>
            <a:ahLst/>
            <a:cxnLst/>
            <a:rect l="l" t="t" r="r" b="b"/>
            <a:pathLst>
              <a:path w="2406080" h="538675">
                <a:moveTo>
                  <a:pt x="35913" y="0"/>
                </a:moveTo>
                <a:lnTo>
                  <a:pt x="2370166" y="0"/>
                </a:lnTo>
                <a:cubicBezTo>
                  <a:pt x="2390001" y="0"/>
                  <a:pt x="2406080" y="16079"/>
                  <a:pt x="2406080" y="35913"/>
                </a:cubicBezTo>
                <a:lnTo>
                  <a:pt x="2406080" y="502761"/>
                </a:lnTo>
                <a:cubicBezTo>
                  <a:pt x="2406080" y="522596"/>
                  <a:pt x="2390001" y="538675"/>
                  <a:pt x="2370166" y="538675"/>
                </a:cubicBezTo>
                <a:lnTo>
                  <a:pt x="35913" y="538675"/>
                </a:lnTo>
                <a:cubicBezTo>
                  <a:pt x="16079" y="538675"/>
                  <a:pt x="0" y="522596"/>
                  <a:pt x="0" y="502761"/>
                </a:cubicBezTo>
                <a:lnTo>
                  <a:pt x="0" y="35913"/>
                </a:lnTo>
                <a:cubicBezTo>
                  <a:pt x="0" y="16092"/>
                  <a:pt x="16092" y="0"/>
                  <a:pt x="3591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9428768" y="2011052"/>
            <a:ext cx="2298345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1.23s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428768" y="2298345"/>
            <a:ext cx="225345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Avg Response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753351" y="2657461"/>
            <a:ext cx="5081496" cy="933703"/>
          </a:xfrm>
          <a:custGeom>
            <a:avLst/>
            <a:gdLst/>
            <a:ahLst/>
            <a:cxnLst/>
            <a:rect l="l" t="t" r="r" b="b"/>
            <a:pathLst>
              <a:path w="5081496" h="933703">
                <a:moveTo>
                  <a:pt x="35912" y="0"/>
                </a:moveTo>
                <a:lnTo>
                  <a:pt x="5009676" y="0"/>
                </a:lnTo>
                <a:cubicBezTo>
                  <a:pt x="5049341" y="0"/>
                  <a:pt x="5081496" y="32155"/>
                  <a:pt x="5081496" y="71820"/>
                </a:cubicBezTo>
                <a:lnTo>
                  <a:pt x="5081496" y="861882"/>
                </a:lnTo>
                <a:cubicBezTo>
                  <a:pt x="5081496" y="901547"/>
                  <a:pt x="5049341" y="933703"/>
                  <a:pt x="5009676" y="933703"/>
                </a:cubicBezTo>
                <a:lnTo>
                  <a:pt x="35912" y="933703"/>
                </a:lnTo>
                <a:cubicBezTo>
                  <a:pt x="16078" y="933703"/>
                  <a:pt x="0" y="917624"/>
                  <a:pt x="0" y="89779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3"/>
          <p:cNvSpPr/>
          <p:nvPr/>
        </p:nvSpPr>
        <p:spPr>
          <a:xfrm>
            <a:off x="6753351" y="2657461"/>
            <a:ext cx="35912" cy="933703"/>
          </a:xfrm>
          <a:custGeom>
            <a:avLst/>
            <a:gdLst/>
            <a:ahLst/>
            <a:cxnLst/>
            <a:rect l="l" t="t" r="r" b="b"/>
            <a:pathLst>
              <a:path w="35912" h="933703">
                <a:moveTo>
                  <a:pt x="35912" y="0"/>
                </a:moveTo>
                <a:lnTo>
                  <a:pt x="35912" y="0"/>
                </a:lnTo>
                <a:lnTo>
                  <a:pt x="35912" y="933703"/>
                </a:lnTo>
                <a:lnTo>
                  <a:pt x="35912" y="933703"/>
                </a:lnTo>
                <a:cubicBezTo>
                  <a:pt x="16078" y="933703"/>
                  <a:pt x="0" y="917624"/>
                  <a:pt x="0" y="89779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4"/>
          <p:cNvSpPr/>
          <p:nvPr/>
        </p:nvSpPr>
        <p:spPr>
          <a:xfrm>
            <a:off x="6879042" y="2765196"/>
            <a:ext cx="169682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Income/Expense Analyzer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400682" y="2783152"/>
            <a:ext cx="38605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97.3%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79042" y="3016577"/>
            <a:ext cx="4919894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Transaction patterns, spending trends, savings rates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896998" y="3303870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0"/>
                </a:moveTo>
                <a:cubicBezTo>
                  <a:pt x="111464" y="0"/>
                  <a:pt x="143647" y="32183"/>
                  <a:pt x="143647" y="71823"/>
                </a:cubicBezTo>
                <a:cubicBezTo>
                  <a:pt x="143647" y="111464"/>
                  <a:pt x="111464" y="143647"/>
                  <a:pt x="71823" y="143647"/>
                </a:cubicBezTo>
                <a:cubicBezTo>
                  <a:pt x="32183" y="143647"/>
                  <a:pt x="0" y="111464"/>
                  <a:pt x="0" y="71823"/>
                </a:cubicBezTo>
                <a:cubicBezTo>
                  <a:pt x="0" y="32183"/>
                  <a:pt x="32183" y="0"/>
                  <a:pt x="71823" y="0"/>
                </a:cubicBezTo>
                <a:close/>
                <a:moveTo>
                  <a:pt x="65090" y="33667"/>
                </a:moveTo>
                <a:lnTo>
                  <a:pt x="65090" y="71823"/>
                </a:lnTo>
                <a:cubicBezTo>
                  <a:pt x="65090" y="74068"/>
                  <a:pt x="66212" y="76172"/>
                  <a:pt x="68092" y="77434"/>
                </a:cubicBezTo>
                <a:lnTo>
                  <a:pt x="95026" y="95390"/>
                </a:lnTo>
                <a:cubicBezTo>
                  <a:pt x="98112" y="97466"/>
                  <a:pt x="102292" y="96625"/>
                  <a:pt x="104368" y="93511"/>
                </a:cubicBezTo>
                <a:cubicBezTo>
                  <a:pt x="106444" y="90396"/>
                  <a:pt x="105603" y="86244"/>
                  <a:pt x="102488" y="84168"/>
                </a:cubicBezTo>
                <a:lnTo>
                  <a:pt x="78557" y="68232"/>
                </a:lnTo>
                <a:lnTo>
                  <a:pt x="78557" y="33667"/>
                </a:lnTo>
                <a:cubicBezTo>
                  <a:pt x="78557" y="29936"/>
                  <a:pt x="75555" y="26934"/>
                  <a:pt x="71823" y="26934"/>
                </a:cubicBezTo>
                <a:cubicBezTo>
                  <a:pt x="68092" y="26934"/>
                  <a:pt x="65090" y="29936"/>
                  <a:pt x="65090" y="33667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8"/>
          <p:cNvSpPr/>
          <p:nvPr/>
        </p:nvSpPr>
        <p:spPr>
          <a:xfrm>
            <a:off x="7058600" y="3267959"/>
            <a:ext cx="44889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0.34s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586613" y="3303870"/>
            <a:ext cx="161602" cy="143647"/>
          </a:xfrm>
          <a:custGeom>
            <a:avLst/>
            <a:gdLst/>
            <a:ahLst/>
            <a:cxnLst/>
            <a:rect l="l" t="t" r="r" b="b"/>
            <a:pathLst>
              <a:path w="161602" h="143647">
                <a:moveTo>
                  <a:pt x="143759" y="67334"/>
                </a:moveTo>
                <a:lnTo>
                  <a:pt x="94380" y="67334"/>
                </a:lnTo>
                <a:cubicBezTo>
                  <a:pt x="89414" y="67334"/>
                  <a:pt x="85402" y="63322"/>
                  <a:pt x="85402" y="58356"/>
                </a:cubicBezTo>
                <a:lnTo>
                  <a:pt x="85402" y="8978"/>
                </a:lnTo>
                <a:cubicBezTo>
                  <a:pt x="85402" y="4012"/>
                  <a:pt x="89442" y="-56"/>
                  <a:pt x="94352" y="589"/>
                </a:cubicBezTo>
                <a:cubicBezTo>
                  <a:pt x="124372" y="4573"/>
                  <a:pt x="148164" y="28365"/>
                  <a:pt x="152147" y="58384"/>
                </a:cubicBezTo>
                <a:cubicBezTo>
                  <a:pt x="152793" y="63294"/>
                  <a:pt x="148725" y="67334"/>
                  <a:pt x="143759" y="67334"/>
                </a:cubicBezTo>
                <a:close/>
                <a:moveTo>
                  <a:pt x="62453" y="10437"/>
                </a:moveTo>
                <a:cubicBezTo>
                  <a:pt x="67531" y="9371"/>
                  <a:pt x="71935" y="13523"/>
                  <a:pt x="71935" y="18713"/>
                </a:cubicBezTo>
                <a:lnTo>
                  <a:pt x="71935" y="74068"/>
                </a:lnTo>
                <a:cubicBezTo>
                  <a:pt x="71935" y="75639"/>
                  <a:pt x="72497" y="77154"/>
                  <a:pt x="73479" y="78360"/>
                </a:cubicBezTo>
                <a:lnTo>
                  <a:pt x="110541" y="123082"/>
                </a:lnTo>
                <a:cubicBezTo>
                  <a:pt x="113823" y="127037"/>
                  <a:pt x="113122" y="133013"/>
                  <a:pt x="108605" y="135454"/>
                </a:cubicBezTo>
                <a:cubicBezTo>
                  <a:pt x="99038" y="140673"/>
                  <a:pt x="88068" y="143647"/>
                  <a:pt x="76424" y="143647"/>
                </a:cubicBezTo>
                <a:cubicBezTo>
                  <a:pt x="39250" y="143647"/>
                  <a:pt x="9090" y="113486"/>
                  <a:pt x="9090" y="76312"/>
                </a:cubicBezTo>
                <a:cubicBezTo>
                  <a:pt x="9090" y="43908"/>
                  <a:pt x="31956" y="16862"/>
                  <a:pt x="62453" y="10437"/>
                </a:cubicBezTo>
                <a:close/>
                <a:moveTo>
                  <a:pt x="134051" y="80801"/>
                </a:moveTo>
                <a:lnTo>
                  <a:pt x="152007" y="80801"/>
                </a:lnTo>
                <a:cubicBezTo>
                  <a:pt x="157198" y="80801"/>
                  <a:pt x="161350" y="85206"/>
                  <a:pt x="160284" y="90284"/>
                </a:cubicBezTo>
                <a:cubicBezTo>
                  <a:pt x="157422" y="103863"/>
                  <a:pt x="150464" y="115927"/>
                  <a:pt x="140757" y="125130"/>
                </a:cubicBezTo>
                <a:cubicBezTo>
                  <a:pt x="137306" y="128412"/>
                  <a:pt x="131891" y="127711"/>
                  <a:pt x="128861" y="124035"/>
                </a:cubicBezTo>
                <a:lnTo>
                  <a:pt x="105182" y="95503"/>
                </a:lnTo>
                <a:cubicBezTo>
                  <a:pt x="100328" y="89639"/>
                  <a:pt x="104508" y="80801"/>
                  <a:pt x="112084" y="80801"/>
                </a:cubicBezTo>
                <a:lnTo>
                  <a:pt x="134023" y="80801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7757194" y="3267959"/>
            <a:ext cx="84392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22% contrib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753351" y="3627075"/>
            <a:ext cx="5081496" cy="933703"/>
          </a:xfrm>
          <a:custGeom>
            <a:avLst/>
            <a:gdLst/>
            <a:ahLst/>
            <a:cxnLst/>
            <a:rect l="l" t="t" r="r" b="b"/>
            <a:pathLst>
              <a:path w="5081496" h="933703">
                <a:moveTo>
                  <a:pt x="35912" y="0"/>
                </a:moveTo>
                <a:lnTo>
                  <a:pt x="5009676" y="0"/>
                </a:lnTo>
                <a:cubicBezTo>
                  <a:pt x="5049341" y="0"/>
                  <a:pt x="5081496" y="32155"/>
                  <a:pt x="5081496" y="71820"/>
                </a:cubicBezTo>
                <a:lnTo>
                  <a:pt x="5081496" y="861882"/>
                </a:lnTo>
                <a:cubicBezTo>
                  <a:pt x="5081496" y="901547"/>
                  <a:pt x="5049341" y="933703"/>
                  <a:pt x="5009676" y="933703"/>
                </a:cubicBezTo>
                <a:lnTo>
                  <a:pt x="35912" y="933703"/>
                </a:lnTo>
                <a:cubicBezTo>
                  <a:pt x="16078" y="933703"/>
                  <a:pt x="0" y="917624"/>
                  <a:pt x="0" y="89779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5" name="Shape 22"/>
          <p:cNvSpPr/>
          <p:nvPr/>
        </p:nvSpPr>
        <p:spPr>
          <a:xfrm>
            <a:off x="6753351" y="3627075"/>
            <a:ext cx="35912" cy="933703"/>
          </a:xfrm>
          <a:custGeom>
            <a:avLst/>
            <a:gdLst/>
            <a:ahLst/>
            <a:cxnLst/>
            <a:rect l="l" t="t" r="r" b="b"/>
            <a:pathLst>
              <a:path w="35912" h="933703">
                <a:moveTo>
                  <a:pt x="35912" y="0"/>
                </a:moveTo>
                <a:lnTo>
                  <a:pt x="35912" y="0"/>
                </a:lnTo>
                <a:lnTo>
                  <a:pt x="35912" y="933703"/>
                </a:lnTo>
                <a:lnTo>
                  <a:pt x="35912" y="933703"/>
                </a:lnTo>
                <a:cubicBezTo>
                  <a:pt x="16078" y="933703"/>
                  <a:pt x="0" y="917624"/>
                  <a:pt x="0" y="89779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26" name="Text 23"/>
          <p:cNvSpPr/>
          <p:nvPr/>
        </p:nvSpPr>
        <p:spPr>
          <a:xfrm>
            <a:off x="6879042" y="3734810"/>
            <a:ext cx="102348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Budget Planner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387495" y="3752766"/>
            <a:ext cx="40400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95.8%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79042" y="3986191"/>
            <a:ext cx="4919894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50/30/20 rule, zero-based budgeting, optimizations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896998" y="4273485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0"/>
                </a:moveTo>
                <a:cubicBezTo>
                  <a:pt x="111464" y="0"/>
                  <a:pt x="143647" y="32183"/>
                  <a:pt x="143647" y="71823"/>
                </a:cubicBezTo>
                <a:cubicBezTo>
                  <a:pt x="143647" y="111464"/>
                  <a:pt x="111464" y="143647"/>
                  <a:pt x="71823" y="143647"/>
                </a:cubicBezTo>
                <a:cubicBezTo>
                  <a:pt x="32183" y="143647"/>
                  <a:pt x="0" y="111464"/>
                  <a:pt x="0" y="71823"/>
                </a:cubicBezTo>
                <a:cubicBezTo>
                  <a:pt x="0" y="32183"/>
                  <a:pt x="32183" y="0"/>
                  <a:pt x="71823" y="0"/>
                </a:cubicBezTo>
                <a:close/>
                <a:moveTo>
                  <a:pt x="65090" y="33667"/>
                </a:moveTo>
                <a:lnTo>
                  <a:pt x="65090" y="71823"/>
                </a:lnTo>
                <a:cubicBezTo>
                  <a:pt x="65090" y="74068"/>
                  <a:pt x="66212" y="76172"/>
                  <a:pt x="68092" y="77434"/>
                </a:cubicBezTo>
                <a:lnTo>
                  <a:pt x="95026" y="95390"/>
                </a:lnTo>
                <a:cubicBezTo>
                  <a:pt x="98112" y="97466"/>
                  <a:pt x="102292" y="96625"/>
                  <a:pt x="104368" y="93511"/>
                </a:cubicBezTo>
                <a:cubicBezTo>
                  <a:pt x="106444" y="90396"/>
                  <a:pt x="105603" y="86244"/>
                  <a:pt x="102488" y="84168"/>
                </a:cubicBezTo>
                <a:lnTo>
                  <a:pt x="78557" y="68232"/>
                </a:lnTo>
                <a:lnTo>
                  <a:pt x="78557" y="33667"/>
                </a:lnTo>
                <a:cubicBezTo>
                  <a:pt x="78557" y="29936"/>
                  <a:pt x="75555" y="26934"/>
                  <a:pt x="71823" y="26934"/>
                </a:cubicBezTo>
                <a:cubicBezTo>
                  <a:pt x="68092" y="26934"/>
                  <a:pt x="65090" y="29936"/>
                  <a:pt x="65090" y="33667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0" name="Text 27"/>
          <p:cNvSpPr/>
          <p:nvPr/>
        </p:nvSpPr>
        <p:spPr>
          <a:xfrm>
            <a:off x="7058600" y="4237573"/>
            <a:ext cx="44889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0.28s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590120" y="4273485"/>
            <a:ext cx="161602" cy="143647"/>
          </a:xfrm>
          <a:custGeom>
            <a:avLst/>
            <a:gdLst/>
            <a:ahLst/>
            <a:cxnLst/>
            <a:rect l="l" t="t" r="r" b="b"/>
            <a:pathLst>
              <a:path w="161602" h="143647">
                <a:moveTo>
                  <a:pt x="143759" y="67334"/>
                </a:moveTo>
                <a:lnTo>
                  <a:pt x="94380" y="67334"/>
                </a:lnTo>
                <a:cubicBezTo>
                  <a:pt x="89414" y="67334"/>
                  <a:pt x="85402" y="63322"/>
                  <a:pt x="85402" y="58356"/>
                </a:cubicBezTo>
                <a:lnTo>
                  <a:pt x="85402" y="8978"/>
                </a:lnTo>
                <a:cubicBezTo>
                  <a:pt x="85402" y="4012"/>
                  <a:pt x="89442" y="-56"/>
                  <a:pt x="94352" y="589"/>
                </a:cubicBezTo>
                <a:cubicBezTo>
                  <a:pt x="124372" y="4573"/>
                  <a:pt x="148164" y="28365"/>
                  <a:pt x="152147" y="58384"/>
                </a:cubicBezTo>
                <a:cubicBezTo>
                  <a:pt x="152793" y="63294"/>
                  <a:pt x="148725" y="67334"/>
                  <a:pt x="143759" y="67334"/>
                </a:cubicBezTo>
                <a:close/>
                <a:moveTo>
                  <a:pt x="62453" y="10437"/>
                </a:moveTo>
                <a:cubicBezTo>
                  <a:pt x="67531" y="9371"/>
                  <a:pt x="71935" y="13523"/>
                  <a:pt x="71935" y="18713"/>
                </a:cubicBezTo>
                <a:lnTo>
                  <a:pt x="71935" y="74068"/>
                </a:lnTo>
                <a:cubicBezTo>
                  <a:pt x="71935" y="75639"/>
                  <a:pt x="72497" y="77154"/>
                  <a:pt x="73479" y="78360"/>
                </a:cubicBezTo>
                <a:lnTo>
                  <a:pt x="110541" y="123082"/>
                </a:lnTo>
                <a:cubicBezTo>
                  <a:pt x="113823" y="127037"/>
                  <a:pt x="113122" y="133013"/>
                  <a:pt x="108605" y="135454"/>
                </a:cubicBezTo>
                <a:cubicBezTo>
                  <a:pt x="99038" y="140673"/>
                  <a:pt x="88068" y="143647"/>
                  <a:pt x="76424" y="143647"/>
                </a:cubicBezTo>
                <a:cubicBezTo>
                  <a:pt x="39250" y="143647"/>
                  <a:pt x="9090" y="113486"/>
                  <a:pt x="9090" y="76312"/>
                </a:cubicBezTo>
                <a:cubicBezTo>
                  <a:pt x="9090" y="43908"/>
                  <a:pt x="31956" y="16862"/>
                  <a:pt x="62453" y="10437"/>
                </a:cubicBezTo>
                <a:close/>
                <a:moveTo>
                  <a:pt x="134051" y="80801"/>
                </a:moveTo>
                <a:lnTo>
                  <a:pt x="152007" y="80801"/>
                </a:lnTo>
                <a:cubicBezTo>
                  <a:pt x="157198" y="80801"/>
                  <a:pt x="161350" y="85206"/>
                  <a:pt x="160284" y="90284"/>
                </a:cubicBezTo>
                <a:cubicBezTo>
                  <a:pt x="157422" y="103863"/>
                  <a:pt x="150464" y="115927"/>
                  <a:pt x="140757" y="125130"/>
                </a:cubicBezTo>
                <a:cubicBezTo>
                  <a:pt x="137306" y="128412"/>
                  <a:pt x="131891" y="127711"/>
                  <a:pt x="128861" y="124035"/>
                </a:cubicBezTo>
                <a:lnTo>
                  <a:pt x="105182" y="95503"/>
                </a:lnTo>
                <a:cubicBezTo>
                  <a:pt x="100328" y="89639"/>
                  <a:pt x="104508" y="80801"/>
                  <a:pt x="112084" y="80801"/>
                </a:cubicBezTo>
                <a:lnTo>
                  <a:pt x="134023" y="80801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2" name="Text 29"/>
          <p:cNvSpPr/>
          <p:nvPr/>
        </p:nvSpPr>
        <p:spPr>
          <a:xfrm>
            <a:off x="7760701" y="4237573"/>
            <a:ext cx="85290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28% contrib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753351" y="4596689"/>
            <a:ext cx="5081496" cy="933703"/>
          </a:xfrm>
          <a:custGeom>
            <a:avLst/>
            <a:gdLst/>
            <a:ahLst/>
            <a:cxnLst/>
            <a:rect l="l" t="t" r="r" b="b"/>
            <a:pathLst>
              <a:path w="5081496" h="933703">
                <a:moveTo>
                  <a:pt x="35912" y="0"/>
                </a:moveTo>
                <a:lnTo>
                  <a:pt x="5009676" y="0"/>
                </a:lnTo>
                <a:cubicBezTo>
                  <a:pt x="5049341" y="0"/>
                  <a:pt x="5081496" y="32155"/>
                  <a:pt x="5081496" y="71820"/>
                </a:cubicBezTo>
                <a:lnTo>
                  <a:pt x="5081496" y="861882"/>
                </a:lnTo>
                <a:cubicBezTo>
                  <a:pt x="5081496" y="901547"/>
                  <a:pt x="5049341" y="933703"/>
                  <a:pt x="5009676" y="933703"/>
                </a:cubicBezTo>
                <a:lnTo>
                  <a:pt x="35912" y="933703"/>
                </a:lnTo>
                <a:cubicBezTo>
                  <a:pt x="16078" y="933703"/>
                  <a:pt x="0" y="917624"/>
                  <a:pt x="0" y="89779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4" name="Shape 31"/>
          <p:cNvSpPr/>
          <p:nvPr/>
        </p:nvSpPr>
        <p:spPr>
          <a:xfrm>
            <a:off x="6753351" y="4596689"/>
            <a:ext cx="35912" cy="933703"/>
          </a:xfrm>
          <a:custGeom>
            <a:avLst/>
            <a:gdLst/>
            <a:ahLst/>
            <a:cxnLst/>
            <a:rect l="l" t="t" r="r" b="b"/>
            <a:pathLst>
              <a:path w="35912" h="933703">
                <a:moveTo>
                  <a:pt x="35912" y="0"/>
                </a:moveTo>
                <a:lnTo>
                  <a:pt x="35912" y="0"/>
                </a:lnTo>
                <a:lnTo>
                  <a:pt x="35912" y="933703"/>
                </a:lnTo>
                <a:lnTo>
                  <a:pt x="35912" y="933703"/>
                </a:lnTo>
                <a:cubicBezTo>
                  <a:pt x="16078" y="933703"/>
                  <a:pt x="0" y="917624"/>
                  <a:pt x="0" y="89779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5" name="Text 32"/>
          <p:cNvSpPr/>
          <p:nvPr/>
        </p:nvSpPr>
        <p:spPr>
          <a:xfrm>
            <a:off x="6879042" y="4704424"/>
            <a:ext cx="1301797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Investment Advisor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1394088" y="4722380"/>
            <a:ext cx="39502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93.2%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879042" y="4955806"/>
            <a:ext cx="4919894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Portfolio allocation, risk analysis, rebalancing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896998" y="5243099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0"/>
                </a:moveTo>
                <a:cubicBezTo>
                  <a:pt x="111464" y="0"/>
                  <a:pt x="143647" y="32183"/>
                  <a:pt x="143647" y="71823"/>
                </a:cubicBezTo>
                <a:cubicBezTo>
                  <a:pt x="143647" y="111464"/>
                  <a:pt x="111464" y="143647"/>
                  <a:pt x="71823" y="143647"/>
                </a:cubicBezTo>
                <a:cubicBezTo>
                  <a:pt x="32183" y="143647"/>
                  <a:pt x="0" y="111464"/>
                  <a:pt x="0" y="71823"/>
                </a:cubicBezTo>
                <a:cubicBezTo>
                  <a:pt x="0" y="32183"/>
                  <a:pt x="32183" y="0"/>
                  <a:pt x="71823" y="0"/>
                </a:cubicBezTo>
                <a:close/>
                <a:moveTo>
                  <a:pt x="65090" y="33667"/>
                </a:moveTo>
                <a:lnTo>
                  <a:pt x="65090" y="71823"/>
                </a:lnTo>
                <a:cubicBezTo>
                  <a:pt x="65090" y="74068"/>
                  <a:pt x="66212" y="76172"/>
                  <a:pt x="68092" y="77434"/>
                </a:cubicBezTo>
                <a:lnTo>
                  <a:pt x="95026" y="95390"/>
                </a:lnTo>
                <a:cubicBezTo>
                  <a:pt x="98112" y="97466"/>
                  <a:pt x="102292" y="96625"/>
                  <a:pt x="104368" y="93511"/>
                </a:cubicBezTo>
                <a:cubicBezTo>
                  <a:pt x="106444" y="90396"/>
                  <a:pt x="105603" y="86244"/>
                  <a:pt x="102488" y="84168"/>
                </a:cubicBezTo>
                <a:lnTo>
                  <a:pt x="78557" y="68232"/>
                </a:lnTo>
                <a:lnTo>
                  <a:pt x="78557" y="33667"/>
                </a:lnTo>
                <a:cubicBezTo>
                  <a:pt x="78557" y="29936"/>
                  <a:pt x="75555" y="26934"/>
                  <a:pt x="71823" y="26934"/>
                </a:cubicBezTo>
                <a:cubicBezTo>
                  <a:pt x="68092" y="26934"/>
                  <a:pt x="65090" y="29936"/>
                  <a:pt x="65090" y="3366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9" name="Text 36"/>
          <p:cNvSpPr/>
          <p:nvPr/>
        </p:nvSpPr>
        <p:spPr>
          <a:xfrm>
            <a:off x="7058600" y="5207187"/>
            <a:ext cx="412984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0.41s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555331" y="5243099"/>
            <a:ext cx="161602" cy="143647"/>
          </a:xfrm>
          <a:custGeom>
            <a:avLst/>
            <a:gdLst/>
            <a:ahLst/>
            <a:cxnLst/>
            <a:rect l="l" t="t" r="r" b="b"/>
            <a:pathLst>
              <a:path w="161602" h="143647">
                <a:moveTo>
                  <a:pt x="143759" y="67334"/>
                </a:moveTo>
                <a:lnTo>
                  <a:pt x="94380" y="67334"/>
                </a:lnTo>
                <a:cubicBezTo>
                  <a:pt x="89414" y="67334"/>
                  <a:pt x="85402" y="63322"/>
                  <a:pt x="85402" y="58356"/>
                </a:cubicBezTo>
                <a:lnTo>
                  <a:pt x="85402" y="8978"/>
                </a:lnTo>
                <a:cubicBezTo>
                  <a:pt x="85402" y="4012"/>
                  <a:pt x="89442" y="-56"/>
                  <a:pt x="94352" y="589"/>
                </a:cubicBezTo>
                <a:cubicBezTo>
                  <a:pt x="124372" y="4573"/>
                  <a:pt x="148164" y="28365"/>
                  <a:pt x="152147" y="58384"/>
                </a:cubicBezTo>
                <a:cubicBezTo>
                  <a:pt x="152793" y="63294"/>
                  <a:pt x="148725" y="67334"/>
                  <a:pt x="143759" y="67334"/>
                </a:cubicBezTo>
                <a:close/>
                <a:moveTo>
                  <a:pt x="62453" y="10437"/>
                </a:moveTo>
                <a:cubicBezTo>
                  <a:pt x="67531" y="9371"/>
                  <a:pt x="71935" y="13523"/>
                  <a:pt x="71935" y="18713"/>
                </a:cubicBezTo>
                <a:lnTo>
                  <a:pt x="71935" y="74068"/>
                </a:lnTo>
                <a:cubicBezTo>
                  <a:pt x="71935" y="75639"/>
                  <a:pt x="72497" y="77154"/>
                  <a:pt x="73479" y="78360"/>
                </a:cubicBezTo>
                <a:lnTo>
                  <a:pt x="110541" y="123082"/>
                </a:lnTo>
                <a:cubicBezTo>
                  <a:pt x="113823" y="127037"/>
                  <a:pt x="113122" y="133013"/>
                  <a:pt x="108605" y="135454"/>
                </a:cubicBezTo>
                <a:cubicBezTo>
                  <a:pt x="99038" y="140673"/>
                  <a:pt x="88068" y="143647"/>
                  <a:pt x="76424" y="143647"/>
                </a:cubicBezTo>
                <a:cubicBezTo>
                  <a:pt x="39250" y="143647"/>
                  <a:pt x="9090" y="113486"/>
                  <a:pt x="9090" y="76312"/>
                </a:cubicBezTo>
                <a:cubicBezTo>
                  <a:pt x="9090" y="43908"/>
                  <a:pt x="31956" y="16862"/>
                  <a:pt x="62453" y="10437"/>
                </a:cubicBezTo>
                <a:close/>
                <a:moveTo>
                  <a:pt x="134051" y="80801"/>
                </a:moveTo>
                <a:lnTo>
                  <a:pt x="152007" y="80801"/>
                </a:lnTo>
                <a:cubicBezTo>
                  <a:pt x="157198" y="80801"/>
                  <a:pt x="161350" y="85206"/>
                  <a:pt x="160284" y="90284"/>
                </a:cubicBezTo>
                <a:cubicBezTo>
                  <a:pt x="157422" y="103863"/>
                  <a:pt x="150464" y="115927"/>
                  <a:pt x="140757" y="125130"/>
                </a:cubicBezTo>
                <a:cubicBezTo>
                  <a:pt x="137306" y="128412"/>
                  <a:pt x="131891" y="127711"/>
                  <a:pt x="128861" y="124035"/>
                </a:cubicBezTo>
                <a:lnTo>
                  <a:pt x="105182" y="95503"/>
                </a:lnTo>
                <a:cubicBezTo>
                  <a:pt x="100328" y="89639"/>
                  <a:pt x="104508" y="80801"/>
                  <a:pt x="112084" y="80801"/>
                </a:cubicBezTo>
                <a:lnTo>
                  <a:pt x="134023" y="80801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1" name="Text 38"/>
          <p:cNvSpPr/>
          <p:nvPr/>
        </p:nvSpPr>
        <p:spPr>
          <a:xfrm>
            <a:off x="7725911" y="5207187"/>
            <a:ext cx="825968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19% contrib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753351" y="5566303"/>
            <a:ext cx="5081496" cy="933703"/>
          </a:xfrm>
          <a:custGeom>
            <a:avLst/>
            <a:gdLst/>
            <a:ahLst/>
            <a:cxnLst/>
            <a:rect l="l" t="t" r="r" b="b"/>
            <a:pathLst>
              <a:path w="5081496" h="933703">
                <a:moveTo>
                  <a:pt x="35912" y="0"/>
                </a:moveTo>
                <a:lnTo>
                  <a:pt x="5009676" y="0"/>
                </a:lnTo>
                <a:cubicBezTo>
                  <a:pt x="5049341" y="0"/>
                  <a:pt x="5081496" y="32155"/>
                  <a:pt x="5081496" y="71820"/>
                </a:cubicBezTo>
                <a:lnTo>
                  <a:pt x="5081496" y="861882"/>
                </a:lnTo>
                <a:cubicBezTo>
                  <a:pt x="5081496" y="901547"/>
                  <a:pt x="5049341" y="933703"/>
                  <a:pt x="5009676" y="933703"/>
                </a:cubicBezTo>
                <a:lnTo>
                  <a:pt x="35912" y="933703"/>
                </a:lnTo>
                <a:cubicBezTo>
                  <a:pt x="16078" y="933703"/>
                  <a:pt x="0" y="917624"/>
                  <a:pt x="0" y="89779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3" name="Shape 40"/>
          <p:cNvSpPr/>
          <p:nvPr/>
        </p:nvSpPr>
        <p:spPr>
          <a:xfrm>
            <a:off x="6753351" y="5566303"/>
            <a:ext cx="35912" cy="933703"/>
          </a:xfrm>
          <a:custGeom>
            <a:avLst/>
            <a:gdLst/>
            <a:ahLst/>
            <a:cxnLst/>
            <a:rect l="l" t="t" r="r" b="b"/>
            <a:pathLst>
              <a:path w="35912" h="933703">
                <a:moveTo>
                  <a:pt x="35912" y="0"/>
                </a:moveTo>
                <a:lnTo>
                  <a:pt x="35912" y="0"/>
                </a:lnTo>
                <a:lnTo>
                  <a:pt x="35912" y="933703"/>
                </a:lnTo>
                <a:lnTo>
                  <a:pt x="35912" y="933703"/>
                </a:lnTo>
                <a:cubicBezTo>
                  <a:pt x="16078" y="933703"/>
                  <a:pt x="0" y="917624"/>
                  <a:pt x="0" y="897791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4" name="Text 41"/>
          <p:cNvSpPr/>
          <p:nvPr/>
        </p:nvSpPr>
        <p:spPr>
          <a:xfrm>
            <a:off x="6879042" y="5674038"/>
            <a:ext cx="1041437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Debt Optimizer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1415271" y="5691994"/>
            <a:ext cx="37707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98.1%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879042" y="5925420"/>
            <a:ext cx="4919894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Avalanche vs snowball, payoff timelines, consolidation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896998" y="6212713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0"/>
                </a:moveTo>
                <a:cubicBezTo>
                  <a:pt x="111464" y="0"/>
                  <a:pt x="143647" y="32183"/>
                  <a:pt x="143647" y="71823"/>
                </a:cubicBezTo>
                <a:cubicBezTo>
                  <a:pt x="143647" y="111464"/>
                  <a:pt x="111464" y="143647"/>
                  <a:pt x="71823" y="143647"/>
                </a:cubicBezTo>
                <a:cubicBezTo>
                  <a:pt x="32183" y="143647"/>
                  <a:pt x="0" y="111464"/>
                  <a:pt x="0" y="71823"/>
                </a:cubicBezTo>
                <a:cubicBezTo>
                  <a:pt x="0" y="32183"/>
                  <a:pt x="32183" y="0"/>
                  <a:pt x="71823" y="0"/>
                </a:cubicBezTo>
                <a:close/>
                <a:moveTo>
                  <a:pt x="65090" y="33667"/>
                </a:moveTo>
                <a:lnTo>
                  <a:pt x="65090" y="71823"/>
                </a:lnTo>
                <a:cubicBezTo>
                  <a:pt x="65090" y="74068"/>
                  <a:pt x="66212" y="76172"/>
                  <a:pt x="68092" y="77434"/>
                </a:cubicBezTo>
                <a:lnTo>
                  <a:pt x="95026" y="95390"/>
                </a:lnTo>
                <a:cubicBezTo>
                  <a:pt x="98112" y="97466"/>
                  <a:pt x="102292" y="96625"/>
                  <a:pt x="104368" y="93511"/>
                </a:cubicBezTo>
                <a:cubicBezTo>
                  <a:pt x="106444" y="90396"/>
                  <a:pt x="105603" y="86244"/>
                  <a:pt x="102488" y="84168"/>
                </a:cubicBezTo>
                <a:lnTo>
                  <a:pt x="78557" y="68232"/>
                </a:lnTo>
                <a:lnTo>
                  <a:pt x="78557" y="33667"/>
                </a:lnTo>
                <a:cubicBezTo>
                  <a:pt x="78557" y="29936"/>
                  <a:pt x="75555" y="26934"/>
                  <a:pt x="71823" y="26934"/>
                </a:cubicBezTo>
                <a:cubicBezTo>
                  <a:pt x="68092" y="26934"/>
                  <a:pt x="65090" y="29936"/>
                  <a:pt x="65090" y="33667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8" name="Text 45"/>
          <p:cNvSpPr/>
          <p:nvPr/>
        </p:nvSpPr>
        <p:spPr>
          <a:xfrm>
            <a:off x="7058600" y="6176801"/>
            <a:ext cx="42196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0.19s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7561644" y="6212713"/>
            <a:ext cx="161602" cy="143647"/>
          </a:xfrm>
          <a:custGeom>
            <a:avLst/>
            <a:gdLst/>
            <a:ahLst/>
            <a:cxnLst/>
            <a:rect l="l" t="t" r="r" b="b"/>
            <a:pathLst>
              <a:path w="161602" h="143647">
                <a:moveTo>
                  <a:pt x="143759" y="67334"/>
                </a:moveTo>
                <a:lnTo>
                  <a:pt x="94380" y="67334"/>
                </a:lnTo>
                <a:cubicBezTo>
                  <a:pt x="89414" y="67334"/>
                  <a:pt x="85402" y="63322"/>
                  <a:pt x="85402" y="58356"/>
                </a:cubicBezTo>
                <a:lnTo>
                  <a:pt x="85402" y="8978"/>
                </a:lnTo>
                <a:cubicBezTo>
                  <a:pt x="85402" y="4012"/>
                  <a:pt x="89442" y="-56"/>
                  <a:pt x="94352" y="589"/>
                </a:cubicBezTo>
                <a:cubicBezTo>
                  <a:pt x="124372" y="4573"/>
                  <a:pt x="148164" y="28365"/>
                  <a:pt x="152147" y="58384"/>
                </a:cubicBezTo>
                <a:cubicBezTo>
                  <a:pt x="152793" y="63294"/>
                  <a:pt x="148725" y="67334"/>
                  <a:pt x="143759" y="67334"/>
                </a:cubicBezTo>
                <a:close/>
                <a:moveTo>
                  <a:pt x="62453" y="10437"/>
                </a:moveTo>
                <a:cubicBezTo>
                  <a:pt x="67531" y="9371"/>
                  <a:pt x="71935" y="13523"/>
                  <a:pt x="71935" y="18713"/>
                </a:cubicBezTo>
                <a:lnTo>
                  <a:pt x="71935" y="74068"/>
                </a:lnTo>
                <a:cubicBezTo>
                  <a:pt x="71935" y="75639"/>
                  <a:pt x="72497" y="77154"/>
                  <a:pt x="73479" y="78360"/>
                </a:cubicBezTo>
                <a:lnTo>
                  <a:pt x="110541" y="123082"/>
                </a:lnTo>
                <a:cubicBezTo>
                  <a:pt x="113823" y="127037"/>
                  <a:pt x="113122" y="133013"/>
                  <a:pt x="108605" y="135454"/>
                </a:cubicBezTo>
                <a:cubicBezTo>
                  <a:pt x="99038" y="140673"/>
                  <a:pt x="88068" y="143647"/>
                  <a:pt x="76424" y="143647"/>
                </a:cubicBezTo>
                <a:cubicBezTo>
                  <a:pt x="39250" y="143647"/>
                  <a:pt x="9090" y="113486"/>
                  <a:pt x="9090" y="76312"/>
                </a:cubicBezTo>
                <a:cubicBezTo>
                  <a:pt x="9090" y="43908"/>
                  <a:pt x="31956" y="16862"/>
                  <a:pt x="62453" y="10437"/>
                </a:cubicBezTo>
                <a:close/>
                <a:moveTo>
                  <a:pt x="134051" y="80801"/>
                </a:moveTo>
                <a:lnTo>
                  <a:pt x="152007" y="80801"/>
                </a:lnTo>
                <a:cubicBezTo>
                  <a:pt x="157198" y="80801"/>
                  <a:pt x="161350" y="85206"/>
                  <a:pt x="160284" y="90284"/>
                </a:cubicBezTo>
                <a:cubicBezTo>
                  <a:pt x="157422" y="103863"/>
                  <a:pt x="150464" y="115927"/>
                  <a:pt x="140757" y="125130"/>
                </a:cubicBezTo>
                <a:cubicBezTo>
                  <a:pt x="137306" y="128412"/>
                  <a:pt x="131891" y="127711"/>
                  <a:pt x="128861" y="124035"/>
                </a:cubicBezTo>
                <a:lnTo>
                  <a:pt x="105182" y="95503"/>
                </a:lnTo>
                <a:cubicBezTo>
                  <a:pt x="100328" y="89639"/>
                  <a:pt x="104508" y="80801"/>
                  <a:pt x="112084" y="80801"/>
                </a:cubicBezTo>
                <a:lnTo>
                  <a:pt x="134023" y="80801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0" name="Text 47"/>
          <p:cNvSpPr/>
          <p:nvPr/>
        </p:nvSpPr>
        <p:spPr>
          <a:xfrm>
            <a:off x="7732224" y="6176801"/>
            <a:ext cx="81699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17% contrib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772" y="325772"/>
            <a:ext cx="11597467" cy="162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8" b="1" spc="45" kern="0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3.2 RESILIENCE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5772" y="553812"/>
            <a:ext cx="11687054" cy="32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09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Four-Level Provider Failover</a:t>
            </a:r>
            <a:endParaRPr lang="en-US" sz="1600" dirty="0"/>
          </a:p>
        </p:txBody>
      </p:sp>
      <p:pic>
        <p:nvPicPr>
          <p:cNvPr id="4" name="Image 0" descr="https://kimi-img.moonshot.cn/pub/slides/26-04-04-19:38:48-d78fgi697i0lsosau5i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5772" y="1009892"/>
            <a:ext cx="4788842" cy="4560802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6193222" y="1009892"/>
            <a:ext cx="2785347" cy="1237932"/>
          </a:xfrm>
          <a:custGeom>
            <a:avLst/>
            <a:gdLst/>
            <a:ahLst/>
            <a:cxnLst/>
            <a:rect l="l" t="t" r="r" b="b"/>
            <a:pathLst>
              <a:path w="2785347" h="1237932">
                <a:moveTo>
                  <a:pt x="65152" y="0"/>
                </a:moveTo>
                <a:lnTo>
                  <a:pt x="2720194" y="0"/>
                </a:lnTo>
                <a:cubicBezTo>
                  <a:pt x="2756177" y="0"/>
                  <a:pt x="2785347" y="29170"/>
                  <a:pt x="2785347" y="65152"/>
                </a:cubicBezTo>
                <a:lnTo>
                  <a:pt x="2785347" y="1172780"/>
                </a:lnTo>
                <a:cubicBezTo>
                  <a:pt x="2785347" y="1208738"/>
                  <a:pt x="2756153" y="1237932"/>
                  <a:pt x="2720194" y="1237932"/>
                </a:cubicBezTo>
                <a:lnTo>
                  <a:pt x="65152" y="1237932"/>
                </a:lnTo>
                <a:cubicBezTo>
                  <a:pt x="29170" y="1237932"/>
                  <a:pt x="0" y="1208762"/>
                  <a:pt x="0" y="1172780"/>
                </a:cubicBezTo>
                <a:lnTo>
                  <a:pt x="0" y="65152"/>
                </a:lnTo>
                <a:cubicBezTo>
                  <a:pt x="0" y="29170"/>
                  <a:pt x="29170" y="0"/>
                  <a:pt x="6515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3"/>
          <p:cNvSpPr/>
          <p:nvPr/>
        </p:nvSpPr>
        <p:spPr>
          <a:xfrm>
            <a:off x="6323531" y="1140200"/>
            <a:ext cx="260617" cy="260617"/>
          </a:xfrm>
          <a:custGeom>
            <a:avLst/>
            <a:gdLst/>
            <a:ahLst/>
            <a:cxnLst/>
            <a:rect l="l" t="t" r="r" b="b"/>
            <a:pathLst>
              <a:path w="260617" h="260617">
                <a:moveTo>
                  <a:pt x="130309" y="0"/>
                </a:moveTo>
                <a:lnTo>
                  <a:pt x="130309" y="0"/>
                </a:lnTo>
                <a:cubicBezTo>
                  <a:pt x="202228" y="0"/>
                  <a:pt x="260617" y="58389"/>
                  <a:pt x="260617" y="130309"/>
                </a:cubicBezTo>
                <a:lnTo>
                  <a:pt x="260617" y="130309"/>
                </a:lnTo>
                <a:cubicBezTo>
                  <a:pt x="260617" y="202228"/>
                  <a:pt x="202228" y="260617"/>
                  <a:pt x="130309" y="260617"/>
                </a:cubicBezTo>
                <a:lnTo>
                  <a:pt x="130309" y="260617"/>
                </a:lnTo>
                <a:cubicBezTo>
                  <a:pt x="58389" y="260617"/>
                  <a:pt x="0" y="202228"/>
                  <a:pt x="0" y="130309"/>
                </a:cubicBezTo>
                <a:lnTo>
                  <a:pt x="0" y="130309"/>
                </a:lnTo>
                <a:cubicBezTo>
                  <a:pt x="0" y="58389"/>
                  <a:pt x="58389" y="0"/>
                  <a:pt x="13030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286882" y="1140200"/>
            <a:ext cx="333916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49303" y="1156489"/>
            <a:ext cx="1026180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 Failover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23531" y="1465972"/>
            <a:ext cx="2589884" cy="39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Within same provider, try next model candidate on 404 errors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39820" y="1954629"/>
            <a:ext cx="130309" cy="130309"/>
          </a:xfrm>
          <a:custGeom>
            <a:avLst/>
            <a:gdLst/>
            <a:ahLst/>
            <a:cxnLst/>
            <a:rect l="l" t="t" r="r" b="b"/>
            <a:pathLst>
              <a:path w="130309" h="130309">
                <a:moveTo>
                  <a:pt x="59173" y="1323"/>
                </a:moveTo>
                <a:cubicBezTo>
                  <a:pt x="62966" y="-433"/>
                  <a:pt x="67343" y="-433"/>
                  <a:pt x="71135" y="1323"/>
                </a:cubicBezTo>
                <a:lnTo>
                  <a:pt x="126771" y="27029"/>
                </a:lnTo>
                <a:cubicBezTo>
                  <a:pt x="128934" y="28021"/>
                  <a:pt x="130309" y="30185"/>
                  <a:pt x="130309" y="32577"/>
                </a:cubicBezTo>
                <a:cubicBezTo>
                  <a:pt x="130309" y="34970"/>
                  <a:pt x="128934" y="37133"/>
                  <a:pt x="126771" y="38125"/>
                </a:cubicBezTo>
                <a:lnTo>
                  <a:pt x="71135" y="63831"/>
                </a:lnTo>
                <a:cubicBezTo>
                  <a:pt x="67343" y="65587"/>
                  <a:pt x="62966" y="65587"/>
                  <a:pt x="59173" y="63831"/>
                </a:cubicBezTo>
                <a:lnTo>
                  <a:pt x="3538" y="38125"/>
                </a:lnTo>
                <a:cubicBezTo>
                  <a:pt x="1374" y="37107"/>
                  <a:pt x="0" y="34944"/>
                  <a:pt x="0" y="32577"/>
                </a:cubicBezTo>
                <a:cubicBezTo>
                  <a:pt x="0" y="30210"/>
                  <a:pt x="1374" y="28021"/>
                  <a:pt x="3538" y="27029"/>
                </a:cubicBezTo>
                <a:lnTo>
                  <a:pt x="59173" y="1323"/>
                </a:lnTo>
                <a:close/>
                <a:moveTo>
                  <a:pt x="12242" y="55585"/>
                </a:moveTo>
                <a:lnTo>
                  <a:pt x="54058" y="74902"/>
                </a:lnTo>
                <a:cubicBezTo>
                  <a:pt x="61108" y="78160"/>
                  <a:pt x="69226" y="78160"/>
                  <a:pt x="76276" y="74902"/>
                </a:cubicBezTo>
                <a:lnTo>
                  <a:pt x="118092" y="55585"/>
                </a:lnTo>
                <a:lnTo>
                  <a:pt x="126771" y="59606"/>
                </a:lnTo>
                <a:cubicBezTo>
                  <a:pt x="128934" y="60599"/>
                  <a:pt x="130309" y="62762"/>
                  <a:pt x="130309" y="65154"/>
                </a:cubicBezTo>
                <a:cubicBezTo>
                  <a:pt x="130309" y="67547"/>
                  <a:pt x="128934" y="69710"/>
                  <a:pt x="126771" y="70703"/>
                </a:cubicBezTo>
                <a:lnTo>
                  <a:pt x="71135" y="96408"/>
                </a:lnTo>
                <a:cubicBezTo>
                  <a:pt x="67343" y="98164"/>
                  <a:pt x="62966" y="98164"/>
                  <a:pt x="59173" y="96408"/>
                </a:cubicBezTo>
                <a:lnTo>
                  <a:pt x="3538" y="70703"/>
                </a:lnTo>
                <a:cubicBezTo>
                  <a:pt x="1374" y="69685"/>
                  <a:pt x="0" y="67521"/>
                  <a:pt x="0" y="65154"/>
                </a:cubicBezTo>
                <a:cubicBezTo>
                  <a:pt x="0" y="62787"/>
                  <a:pt x="1374" y="60599"/>
                  <a:pt x="3538" y="59606"/>
                </a:cubicBezTo>
                <a:lnTo>
                  <a:pt x="12216" y="55585"/>
                </a:lnTo>
                <a:close/>
                <a:moveTo>
                  <a:pt x="3538" y="92183"/>
                </a:moveTo>
                <a:lnTo>
                  <a:pt x="12216" y="88162"/>
                </a:lnTo>
                <a:lnTo>
                  <a:pt x="54032" y="107479"/>
                </a:lnTo>
                <a:cubicBezTo>
                  <a:pt x="61082" y="110737"/>
                  <a:pt x="69201" y="110737"/>
                  <a:pt x="76251" y="107479"/>
                </a:cubicBezTo>
                <a:lnTo>
                  <a:pt x="118067" y="88162"/>
                </a:lnTo>
                <a:lnTo>
                  <a:pt x="126745" y="92183"/>
                </a:lnTo>
                <a:cubicBezTo>
                  <a:pt x="128909" y="93176"/>
                  <a:pt x="130283" y="95339"/>
                  <a:pt x="130283" y="97731"/>
                </a:cubicBezTo>
                <a:cubicBezTo>
                  <a:pt x="130283" y="100124"/>
                  <a:pt x="128909" y="102287"/>
                  <a:pt x="126745" y="103280"/>
                </a:cubicBezTo>
                <a:lnTo>
                  <a:pt x="71110" y="128985"/>
                </a:lnTo>
                <a:cubicBezTo>
                  <a:pt x="67318" y="130741"/>
                  <a:pt x="62940" y="130741"/>
                  <a:pt x="59148" y="128985"/>
                </a:cubicBezTo>
                <a:lnTo>
                  <a:pt x="3538" y="103280"/>
                </a:lnTo>
                <a:cubicBezTo>
                  <a:pt x="1374" y="102262"/>
                  <a:pt x="0" y="100098"/>
                  <a:pt x="0" y="97731"/>
                </a:cubicBezTo>
                <a:cubicBezTo>
                  <a:pt x="0" y="95365"/>
                  <a:pt x="1374" y="93176"/>
                  <a:pt x="3538" y="921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6528199" y="1922052"/>
            <a:ext cx="238521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candidates per provider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9078082" y="1009892"/>
            <a:ext cx="2785347" cy="1237932"/>
          </a:xfrm>
          <a:custGeom>
            <a:avLst/>
            <a:gdLst/>
            <a:ahLst/>
            <a:cxnLst/>
            <a:rect l="l" t="t" r="r" b="b"/>
            <a:pathLst>
              <a:path w="2785347" h="1237932">
                <a:moveTo>
                  <a:pt x="65152" y="0"/>
                </a:moveTo>
                <a:lnTo>
                  <a:pt x="2720194" y="0"/>
                </a:lnTo>
                <a:cubicBezTo>
                  <a:pt x="2756177" y="0"/>
                  <a:pt x="2785347" y="29170"/>
                  <a:pt x="2785347" y="65152"/>
                </a:cubicBezTo>
                <a:lnTo>
                  <a:pt x="2785347" y="1172780"/>
                </a:lnTo>
                <a:cubicBezTo>
                  <a:pt x="2785347" y="1208738"/>
                  <a:pt x="2756153" y="1237932"/>
                  <a:pt x="2720194" y="1237932"/>
                </a:cubicBezTo>
                <a:lnTo>
                  <a:pt x="65152" y="1237932"/>
                </a:lnTo>
                <a:cubicBezTo>
                  <a:pt x="29170" y="1237932"/>
                  <a:pt x="0" y="1208762"/>
                  <a:pt x="0" y="1172780"/>
                </a:cubicBezTo>
                <a:lnTo>
                  <a:pt x="0" y="65152"/>
                </a:lnTo>
                <a:cubicBezTo>
                  <a:pt x="0" y="29170"/>
                  <a:pt x="29170" y="0"/>
                  <a:pt x="65152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3" name="Shape 10"/>
          <p:cNvSpPr/>
          <p:nvPr/>
        </p:nvSpPr>
        <p:spPr>
          <a:xfrm>
            <a:off x="9208391" y="1140200"/>
            <a:ext cx="260617" cy="260617"/>
          </a:xfrm>
          <a:custGeom>
            <a:avLst/>
            <a:gdLst/>
            <a:ahLst/>
            <a:cxnLst/>
            <a:rect l="l" t="t" r="r" b="b"/>
            <a:pathLst>
              <a:path w="260617" h="260617">
                <a:moveTo>
                  <a:pt x="130309" y="0"/>
                </a:moveTo>
                <a:lnTo>
                  <a:pt x="130309" y="0"/>
                </a:lnTo>
                <a:cubicBezTo>
                  <a:pt x="202228" y="0"/>
                  <a:pt x="260617" y="58389"/>
                  <a:pt x="260617" y="130309"/>
                </a:cubicBezTo>
                <a:lnTo>
                  <a:pt x="260617" y="130309"/>
                </a:lnTo>
                <a:cubicBezTo>
                  <a:pt x="260617" y="202228"/>
                  <a:pt x="202228" y="260617"/>
                  <a:pt x="130309" y="260617"/>
                </a:cubicBezTo>
                <a:lnTo>
                  <a:pt x="130309" y="260617"/>
                </a:lnTo>
                <a:cubicBezTo>
                  <a:pt x="58389" y="260617"/>
                  <a:pt x="0" y="202228"/>
                  <a:pt x="0" y="130309"/>
                </a:cubicBezTo>
                <a:lnTo>
                  <a:pt x="0" y="130309"/>
                </a:lnTo>
                <a:cubicBezTo>
                  <a:pt x="0" y="58389"/>
                  <a:pt x="58389" y="0"/>
                  <a:pt x="13030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9171741" y="1140200"/>
            <a:ext cx="333916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534162" y="1156489"/>
            <a:ext cx="863295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Failover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208391" y="1465972"/>
            <a:ext cx="2589884" cy="39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Multi-key pools with health tracking per API key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224679" y="1954629"/>
            <a:ext cx="130309" cy="130309"/>
          </a:xfrm>
          <a:custGeom>
            <a:avLst/>
            <a:gdLst/>
            <a:ahLst/>
            <a:cxnLst/>
            <a:rect l="l" t="t" r="r" b="b"/>
            <a:pathLst>
              <a:path w="130309" h="130309">
                <a:moveTo>
                  <a:pt x="85515" y="89587"/>
                </a:moveTo>
                <a:cubicBezTo>
                  <a:pt x="110253" y="89587"/>
                  <a:pt x="130309" y="69532"/>
                  <a:pt x="130309" y="44794"/>
                </a:cubicBezTo>
                <a:cubicBezTo>
                  <a:pt x="130309" y="20055"/>
                  <a:pt x="110253" y="0"/>
                  <a:pt x="85515" y="0"/>
                </a:cubicBezTo>
                <a:cubicBezTo>
                  <a:pt x="60777" y="0"/>
                  <a:pt x="40721" y="20055"/>
                  <a:pt x="40721" y="44794"/>
                </a:cubicBezTo>
                <a:cubicBezTo>
                  <a:pt x="40721" y="49553"/>
                  <a:pt x="41460" y="54160"/>
                  <a:pt x="42834" y="58461"/>
                </a:cubicBezTo>
                <a:lnTo>
                  <a:pt x="1782" y="99513"/>
                </a:lnTo>
                <a:cubicBezTo>
                  <a:pt x="636" y="100658"/>
                  <a:pt x="0" y="102211"/>
                  <a:pt x="0" y="103840"/>
                </a:cubicBezTo>
                <a:lnTo>
                  <a:pt x="0" y="124200"/>
                </a:lnTo>
                <a:cubicBezTo>
                  <a:pt x="0" y="127585"/>
                  <a:pt x="2723" y="130309"/>
                  <a:pt x="6108" y="130309"/>
                </a:cubicBezTo>
                <a:lnTo>
                  <a:pt x="26469" y="130309"/>
                </a:lnTo>
                <a:cubicBezTo>
                  <a:pt x="29854" y="130309"/>
                  <a:pt x="32577" y="127585"/>
                  <a:pt x="32577" y="124200"/>
                </a:cubicBezTo>
                <a:lnTo>
                  <a:pt x="32577" y="114020"/>
                </a:lnTo>
                <a:lnTo>
                  <a:pt x="42758" y="114020"/>
                </a:lnTo>
                <a:cubicBezTo>
                  <a:pt x="46142" y="114020"/>
                  <a:pt x="48866" y="111297"/>
                  <a:pt x="48866" y="107912"/>
                </a:cubicBezTo>
                <a:lnTo>
                  <a:pt x="48866" y="97731"/>
                </a:lnTo>
                <a:lnTo>
                  <a:pt x="59046" y="97731"/>
                </a:lnTo>
                <a:cubicBezTo>
                  <a:pt x="60675" y="97731"/>
                  <a:pt x="62227" y="97095"/>
                  <a:pt x="63373" y="95950"/>
                </a:cubicBezTo>
                <a:lnTo>
                  <a:pt x="71848" y="87475"/>
                </a:lnTo>
                <a:cubicBezTo>
                  <a:pt x="76149" y="88849"/>
                  <a:pt x="80756" y="89587"/>
                  <a:pt x="85515" y="89587"/>
                </a:cubicBezTo>
                <a:close/>
                <a:moveTo>
                  <a:pt x="95695" y="24433"/>
                </a:moveTo>
                <a:cubicBezTo>
                  <a:pt x="101314" y="24433"/>
                  <a:pt x="105876" y="28995"/>
                  <a:pt x="105876" y="34613"/>
                </a:cubicBezTo>
                <a:cubicBezTo>
                  <a:pt x="105876" y="40232"/>
                  <a:pt x="101314" y="44794"/>
                  <a:pt x="95695" y="44794"/>
                </a:cubicBezTo>
                <a:cubicBezTo>
                  <a:pt x="90077" y="44794"/>
                  <a:pt x="85515" y="40232"/>
                  <a:pt x="85515" y="34613"/>
                </a:cubicBezTo>
                <a:cubicBezTo>
                  <a:pt x="85515" y="28995"/>
                  <a:pt x="90077" y="24433"/>
                  <a:pt x="95695" y="244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9413059" y="1922052"/>
            <a:ext cx="238521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Indexed keys + health scoring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93222" y="2345555"/>
            <a:ext cx="2785347" cy="1237932"/>
          </a:xfrm>
          <a:custGeom>
            <a:avLst/>
            <a:gdLst/>
            <a:ahLst/>
            <a:cxnLst/>
            <a:rect l="l" t="t" r="r" b="b"/>
            <a:pathLst>
              <a:path w="2785347" h="1237932">
                <a:moveTo>
                  <a:pt x="65152" y="0"/>
                </a:moveTo>
                <a:lnTo>
                  <a:pt x="2720194" y="0"/>
                </a:lnTo>
                <a:cubicBezTo>
                  <a:pt x="2756177" y="0"/>
                  <a:pt x="2785347" y="29170"/>
                  <a:pt x="2785347" y="65152"/>
                </a:cubicBezTo>
                <a:lnTo>
                  <a:pt x="2785347" y="1172780"/>
                </a:lnTo>
                <a:cubicBezTo>
                  <a:pt x="2785347" y="1208738"/>
                  <a:pt x="2756153" y="1237932"/>
                  <a:pt x="2720194" y="1237932"/>
                </a:cubicBezTo>
                <a:lnTo>
                  <a:pt x="65152" y="1237932"/>
                </a:lnTo>
                <a:cubicBezTo>
                  <a:pt x="29170" y="1237932"/>
                  <a:pt x="0" y="1208762"/>
                  <a:pt x="0" y="1172780"/>
                </a:cubicBezTo>
                <a:lnTo>
                  <a:pt x="0" y="65152"/>
                </a:lnTo>
                <a:cubicBezTo>
                  <a:pt x="0" y="29170"/>
                  <a:pt x="29170" y="0"/>
                  <a:pt x="65152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0" name="Shape 17"/>
          <p:cNvSpPr/>
          <p:nvPr/>
        </p:nvSpPr>
        <p:spPr>
          <a:xfrm>
            <a:off x="6323531" y="2475864"/>
            <a:ext cx="260617" cy="260617"/>
          </a:xfrm>
          <a:custGeom>
            <a:avLst/>
            <a:gdLst/>
            <a:ahLst/>
            <a:cxnLst/>
            <a:rect l="l" t="t" r="r" b="b"/>
            <a:pathLst>
              <a:path w="260617" h="260617">
                <a:moveTo>
                  <a:pt x="130309" y="0"/>
                </a:moveTo>
                <a:lnTo>
                  <a:pt x="130309" y="0"/>
                </a:lnTo>
                <a:cubicBezTo>
                  <a:pt x="202228" y="0"/>
                  <a:pt x="260617" y="58389"/>
                  <a:pt x="260617" y="130309"/>
                </a:cubicBezTo>
                <a:lnTo>
                  <a:pt x="260617" y="130309"/>
                </a:lnTo>
                <a:cubicBezTo>
                  <a:pt x="260617" y="202228"/>
                  <a:pt x="202228" y="260617"/>
                  <a:pt x="130309" y="260617"/>
                </a:cubicBezTo>
                <a:lnTo>
                  <a:pt x="130309" y="260617"/>
                </a:lnTo>
                <a:cubicBezTo>
                  <a:pt x="58389" y="260617"/>
                  <a:pt x="0" y="202228"/>
                  <a:pt x="0" y="130309"/>
                </a:cubicBezTo>
                <a:lnTo>
                  <a:pt x="0" y="130309"/>
                </a:lnTo>
                <a:cubicBezTo>
                  <a:pt x="0" y="58389"/>
                  <a:pt x="58389" y="0"/>
                  <a:pt x="13030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286882" y="2475864"/>
            <a:ext cx="333916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49303" y="2492152"/>
            <a:ext cx="1156489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Provider Failover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23531" y="2801635"/>
            <a:ext cx="2589884" cy="39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Chain across 8+ LLM vendors with priority ordering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331675" y="3290293"/>
            <a:ext cx="146597" cy="130309"/>
          </a:xfrm>
          <a:custGeom>
            <a:avLst/>
            <a:gdLst/>
            <a:ahLst/>
            <a:cxnLst/>
            <a:rect l="l" t="t" r="r" b="b"/>
            <a:pathLst>
              <a:path w="146597" h="130309">
                <a:moveTo>
                  <a:pt x="63118" y="22397"/>
                </a:moveTo>
                <a:lnTo>
                  <a:pt x="83479" y="22397"/>
                </a:lnTo>
                <a:lnTo>
                  <a:pt x="83479" y="34613"/>
                </a:lnTo>
                <a:lnTo>
                  <a:pt x="63118" y="34613"/>
                </a:lnTo>
                <a:lnTo>
                  <a:pt x="63118" y="22397"/>
                </a:lnTo>
                <a:close/>
                <a:moveTo>
                  <a:pt x="61082" y="8144"/>
                </a:moveTo>
                <a:cubicBezTo>
                  <a:pt x="54338" y="8144"/>
                  <a:pt x="48866" y="13616"/>
                  <a:pt x="48866" y="20361"/>
                </a:cubicBezTo>
                <a:lnTo>
                  <a:pt x="48866" y="36649"/>
                </a:lnTo>
                <a:cubicBezTo>
                  <a:pt x="48866" y="43394"/>
                  <a:pt x="54338" y="48866"/>
                  <a:pt x="61082" y="48866"/>
                </a:cubicBezTo>
                <a:lnTo>
                  <a:pt x="65154" y="48866"/>
                </a:lnTo>
                <a:lnTo>
                  <a:pt x="65154" y="57010"/>
                </a:lnTo>
                <a:lnTo>
                  <a:pt x="8144" y="57010"/>
                </a:lnTo>
                <a:cubicBezTo>
                  <a:pt x="3639" y="57010"/>
                  <a:pt x="0" y="60649"/>
                  <a:pt x="0" y="65154"/>
                </a:cubicBezTo>
                <a:cubicBezTo>
                  <a:pt x="0" y="69659"/>
                  <a:pt x="3639" y="73299"/>
                  <a:pt x="8144" y="73299"/>
                </a:cubicBezTo>
                <a:lnTo>
                  <a:pt x="32577" y="73299"/>
                </a:lnTo>
                <a:lnTo>
                  <a:pt x="32577" y="81443"/>
                </a:lnTo>
                <a:lnTo>
                  <a:pt x="28505" y="81443"/>
                </a:lnTo>
                <a:cubicBezTo>
                  <a:pt x="21761" y="81443"/>
                  <a:pt x="16289" y="86915"/>
                  <a:pt x="16289" y="93659"/>
                </a:cubicBezTo>
                <a:lnTo>
                  <a:pt x="16289" y="109948"/>
                </a:lnTo>
                <a:cubicBezTo>
                  <a:pt x="16289" y="116692"/>
                  <a:pt x="21761" y="122164"/>
                  <a:pt x="28505" y="122164"/>
                </a:cubicBezTo>
                <a:lnTo>
                  <a:pt x="52938" y="122164"/>
                </a:lnTo>
                <a:cubicBezTo>
                  <a:pt x="59682" y="122164"/>
                  <a:pt x="65154" y="116692"/>
                  <a:pt x="65154" y="109948"/>
                </a:cubicBezTo>
                <a:lnTo>
                  <a:pt x="65154" y="93659"/>
                </a:lnTo>
                <a:cubicBezTo>
                  <a:pt x="65154" y="86915"/>
                  <a:pt x="59682" y="81443"/>
                  <a:pt x="52938" y="81443"/>
                </a:cubicBezTo>
                <a:lnTo>
                  <a:pt x="48866" y="81443"/>
                </a:lnTo>
                <a:lnTo>
                  <a:pt x="48866" y="73299"/>
                </a:lnTo>
                <a:lnTo>
                  <a:pt x="97731" y="73299"/>
                </a:lnTo>
                <a:lnTo>
                  <a:pt x="97731" y="81443"/>
                </a:lnTo>
                <a:lnTo>
                  <a:pt x="93659" y="81443"/>
                </a:lnTo>
                <a:cubicBezTo>
                  <a:pt x="86915" y="81443"/>
                  <a:pt x="81443" y="86915"/>
                  <a:pt x="81443" y="93659"/>
                </a:cubicBezTo>
                <a:lnTo>
                  <a:pt x="81443" y="109948"/>
                </a:lnTo>
                <a:cubicBezTo>
                  <a:pt x="81443" y="116692"/>
                  <a:pt x="86915" y="122164"/>
                  <a:pt x="93659" y="122164"/>
                </a:cubicBezTo>
                <a:lnTo>
                  <a:pt x="118092" y="122164"/>
                </a:lnTo>
                <a:cubicBezTo>
                  <a:pt x="124837" y="122164"/>
                  <a:pt x="130309" y="116692"/>
                  <a:pt x="130309" y="109948"/>
                </a:cubicBezTo>
                <a:lnTo>
                  <a:pt x="130309" y="93659"/>
                </a:lnTo>
                <a:cubicBezTo>
                  <a:pt x="130309" y="86915"/>
                  <a:pt x="124837" y="81443"/>
                  <a:pt x="118092" y="81443"/>
                </a:cubicBezTo>
                <a:lnTo>
                  <a:pt x="114020" y="81443"/>
                </a:lnTo>
                <a:lnTo>
                  <a:pt x="114020" y="73299"/>
                </a:lnTo>
                <a:lnTo>
                  <a:pt x="138453" y="73299"/>
                </a:lnTo>
                <a:cubicBezTo>
                  <a:pt x="142958" y="73299"/>
                  <a:pt x="146597" y="69659"/>
                  <a:pt x="146597" y="65154"/>
                </a:cubicBezTo>
                <a:cubicBezTo>
                  <a:pt x="146597" y="60649"/>
                  <a:pt x="142958" y="57010"/>
                  <a:pt x="138453" y="57010"/>
                </a:cubicBezTo>
                <a:lnTo>
                  <a:pt x="81443" y="57010"/>
                </a:lnTo>
                <a:lnTo>
                  <a:pt x="81443" y="48866"/>
                </a:lnTo>
                <a:lnTo>
                  <a:pt x="85515" y="48866"/>
                </a:lnTo>
                <a:cubicBezTo>
                  <a:pt x="92260" y="48866"/>
                  <a:pt x="97731" y="43394"/>
                  <a:pt x="97731" y="36649"/>
                </a:cubicBezTo>
                <a:lnTo>
                  <a:pt x="97731" y="20361"/>
                </a:lnTo>
                <a:cubicBezTo>
                  <a:pt x="97731" y="13616"/>
                  <a:pt x="92260" y="8144"/>
                  <a:pt x="85515" y="8144"/>
                </a:cubicBezTo>
                <a:lnTo>
                  <a:pt x="61082" y="8144"/>
                </a:lnTo>
                <a:close/>
                <a:moveTo>
                  <a:pt x="114020" y="95695"/>
                </a:moveTo>
                <a:lnTo>
                  <a:pt x="116056" y="95695"/>
                </a:lnTo>
                <a:lnTo>
                  <a:pt x="116056" y="107912"/>
                </a:lnTo>
                <a:lnTo>
                  <a:pt x="95695" y="107912"/>
                </a:lnTo>
                <a:lnTo>
                  <a:pt x="95695" y="95695"/>
                </a:lnTo>
                <a:lnTo>
                  <a:pt x="114020" y="95695"/>
                </a:lnTo>
                <a:close/>
                <a:moveTo>
                  <a:pt x="48866" y="95695"/>
                </a:moveTo>
                <a:lnTo>
                  <a:pt x="50902" y="95695"/>
                </a:lnTo>
                <a:lnTo>
                  <a:pt x="50902" y="107912"/>
                </a:lnTo>
                <a:lnTo>
                  <a:pt x="30541" y="107912"/>
                </a:lnTo>
                <a:lnTo>
                  <a:pt x="30541" y="95695"/>
                </a:lnTo>
                <a:lnTo>
                  <a:pt x="48866" y="9569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528199" y="3257715"/>
            <a:ext cx="238521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configured providers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086226" y="2353699"/>
            <a:ext cx="2769058" cy="1221643"/>
          </a:xfrm>
          <a:custGeom>
            <a:avLst/>
            <a:gdLst/>
            <a:ahLst/>
            <a:cxnLst/>
            <a:rect l="l" t="t" r="r" b="b"/>
            <a:pathLst>
              <a:path w="2769058" h="1221643">
                <a:moveTo>
                  <a:pt x="65150" y="0"/>
                </a:moveTo>
                <a:lnTo>
                  <a:pt x="2703908" y="0"/>
                </a:lnTo>
                <a:cubicBezTo>
                  <a:pt x="2739889" y="0"/>
                  <a:pt x="2769058" y="29169"/>
                  <a:pt x="2769058" y="65150"/>
                </a:cubicBezTo>
                <a:lnTo>
                  <a:pt x="2769058" y="1156493"/>
                </a:lnTo>
                <a:cubicBezTo>
                  <a:pt x="2769058" y="1192475"/>
                  <a:pt x="2739889" y="1221643"/>
                  <a:pt x="2703908" y="1221643"/>
                </a:cubicBezTo>
                <a:lnTo>
                  <a:pt x="65150" y="1221643"/>
                </a:lnTo>
                <a:cubicBezTo>
                  <a:pt x="29169" y="1221643"/>
                  <a:pt x="0" y="1192475"/>
                  <a:pt x="0" y="1156493"/>
                </a:cubicBezTo>
                <a:lnTo>
                  <a:pt x="0" y="65150"/>
                </a:lnTo>
                <a:cubicBezTo>
                  <a:pt x="0" y="29169"/>
                  <a:pt x="29169" y="0"/>
                  <a:pt x="65150" y="0"/>
                </a:cubicBezTo>
                <a:close/>
              </a:path>
            </a:pathLst>
          </a:custGeom>
          <a:solidFill>
            <a:srgbClr val="8B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224679" y="2492152"/>
            <a:ext cx="260617" cy="260617"/>
          </a:xfrm>
          <a:custGeom>
            <a:avLst/>
            <a:gdLst/>
            <a:ahLst/>
            <a:cxnLst/>
            <a:rect l="l" t="t" r="r" b="b"/>
            <a:pathLst>
              <a:path w="260617" h="260617">
                <a:moveTo>
                  <a:pt x="130309" y="0"/>
                </a:moveTo>
                <a:lnTo>
                  <a:pt x="130309" y="0"/>
                </a:lnTo>
                <a:cubicBezTo>
                  <a:pt x="202228" y="0"/>
                  <a:pt x="260617" y="58389"/>
                  <a:pt x="260617" y="130309"/>
                </a:cubicBezTo>
                <a:lnTo>
                  <a:pt x="260617" y="130309"/>
                </a:lnTo>
                <a:cubicBezTo>
                  <a:pt x="260617" y="202228"/>
                  <a:pt x="202228" y="260617"/>
                  <a:pt x="130309" y="260617"/>
                </a:cubicBezTo>
                <a:lnTo>
                  <a:pt x="130309" y="260617"/>
                </a:lnTo>
                <a:cubicBezTo>
                  <a:pt x="58389" y="260617"/>
                  <a:pt x="0" y="202228"/>
                  <a:pt x="0" y="130309"/>
                </a:cubicBezTo>
                <a:lnTo>
                  <a:pt x="0" y="130309"/>
                </a:lnTo>
                <a:cubicBezTo>
                  <a:pt x="0" y="58389"/>
                  <a:pt x="58389" y="0"/>
                  <a:pt x="13030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9188030" y="2492152"/>
            <a:ext cx="333916" cy="26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550451" y="2508441"/>
            <a:ext cx="1490405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4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Deterministic Fallback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224679" y="2817924"/>
            <a:ext cx="2557307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Rule-based analysis when all LLM paths fail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240968" y="3111118"/>
            <a:ext cx="130309" cy="130309"/>
          </a:xfrm>
          <a:custGeom>
            <a:avLst/>
            <a:gdLst/>
            <a:ahLst/>
            <a:cxnLst/>
            <a:rect l="l" t="t" r="r" b="b"/>
            <a:pathLst>
              <a:path w="130309" h="130309">
                <a:moveTo>
                  <a:pt x="65154" y="0"/>
                </a:moveTo>
                <a:cubicBezTo>
                  <a:pt x="66325" y="0"/>
                  <a:pt x="67496" y="255"/>
                  <a:pt x="68565" y="738"/>
                </a:cubicBezTo>
                <a:lnTo>
                  <a:pt x="116514" y="21073"/>
                </a:lnTo>
                <a:cubicBezTo>
                  <a:pt x="122113" y="23440"/>
                  <a:pt x="126287" y="28963"/>
                  <a:pt x="126262" y="35631"/>
                </a:cubicBezTo>
                <a:cubicBezTo>
                  <a:pt x="126135" y="60879"/>
                  <a:pt x="115751" y="107072"/>
                  <a:pt x="71899" y="128069"/>
                </a:cubicBezTo>
                <a:cubicBezTo>
                  <a:pt x="67648" y="130105"/>
                  <a:pt x="62711" y="130105"/>
                  <a:pt x="58461" y="128069"/>
                </a:cubicBezTo>
                <a:cubicBezTo>
                  <a:pt x="14583" y="107072"/>
                  <a:pt x="4225" y="60879"/>
                  <a:pt x="4098" y="35631"/>
                </a:cubicBezTo>
                <a:cubicBezTo>
                  <a:pt x="4072" y="28963"/>
                  <a:pt x="8246" y="23440"/>
                  <a:pt x="13845" y="21073"/>
                </a:cubicBezTo>
                <a:lnTo>
                  <a:pt x="61769" y="738"/>
                </a:lnTo>
                <a:cubicBezTo>
                  <a:pt x="62838" y="255"/>
                  <a:pt x="63984" y="0"/>
                  <a:pt x="65154" y="0"/>
                </a:cubicBezTo>
                <a:close/>
                <a:moveTo>
                  <a:pt x="65154" y="17001"/>
                </a:moveTo>
                <a:lnTo>
                  <a:pt x="65154" y="113231"/>
                </a:lnTo>
                <a:cubicBezTo>
                  <a:pt x="100277" y="96230"/>
                  <a:pt x="109719" y="58563"/>
                  <a:pt x="109948" y="36013"/>
                </a:cubicBezTo>
                <a:lnTo>
                  <a:pt x="65154" y="17027"/>
                </a:lnTo>
                <a:lnTo>
                  <a:pt x="65154" y="1702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9429347" y="3078541"/>
            <a:ext cx="2352639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 availability guarantee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193222" y="3681218"/>
            <a:ext cx="5668425" cy="1335663"/>
          </a:xfrm>
          <a:custGeom>
            <a:avLst/>
            <a:gdLst/>
            <a:ahLst/>
            <a:cxnLst/>
            <a:rect l="l" t="t" r="r" b="b"/>
            <a:pathLst>
              <a:path w="5668425" h="1335663">
                <a:moveTo>
                  <a:pt x="65154" y="0"/>
                </a:moveTo>
                <a:lnTo>
                  <a:pt x="5603271" y="0"/>
                </a:lnTo>
                <a:cubicBezTo>
                  <a:pt x="5639255" y="0"/>
                  <a:pt x="5668425" y="29170"/>
                  <a:pt x="5668425" y="65154"/>
                </a:cubicBezTo>
                <a:lnTo>
                  <a:pt x="5668425" y="1270510"/>
                </a:lnTo>
                <a:cubicBezTo>
                  <a:pt x="5668425" y="1306493"/>
                  <a:pt x="5639255" y="1335663"/>
                  <a:pt x="5603271" y="1335663"/>
                </a:cubicBezTo>
                <a:lnTo>
                  <a:pt x="65154" y="1335663"/>
                </a:lnTo>
                <a:cubicBezTo>
                  <a:pt x="29170" y="1335663"/>
                  <a:pt x="0" y="1306493"/>
                  <a:pt x="0" y="1270510"/>
                </a:cubicBezTo>
                <a:lnTo>
                  <a:pt x="0" y="65154"/>
                </a:lnTo>
                <a:cubicBezTo>
                  <a:pt x="0" y="29170"/>
                  <a:pt x="29170" y="0"/>
                  <a:pt x="65154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4" name="Text 31"/>
          <p:cNvSpPr/>
          <p:nvPr/>
        </p:nvSpPr>
        <p:spPr>
          <a:xfrm>
            <a:off x="6323531" y="3811527"/>
            <a:ext cx="5481106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Supported LLM Providers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27603" y="4141371"/>
            <a:ext cx="1294942" cy="333916"/>
          </a:xfrm>
          <a:custGeom>
            <a:avLst/>
            <a:gdLst/>
            <a:ahLst/>
            <a:cxnLst/>
            <a:rect l="l" t="t" r="r" b="b"/>
            <a:pathLst>
              <a:path w="1294942" h="333916">
                <a:moveTo>
                  <a:pt x="32577" y="0"/>
                </a:moveTo>
                <a:lnTo>
                  <a:pt x="1262365" y="0"/>
                </a:lnTo>
                <a:cubicBezTo>
                  <a:pt x="1280357" y="0"/>
                  <a:pt x="1294942" y="14585"/>
                  <a:pt x="1294942" y="32577"/>
                </a:cubicBezTo>
                <a:lnTo>
                  <a:pt x="1294942" y="301339"/>
                </a:lnTo>
                <a:cubicBezTo>
                  <a:pt x="1294942" y="319331"/>
                  <a:pt x="1280357" y="333916"/>
                  <a:pt x="1262365" y="333916"/>
                </a:cubicBezTo>
                <a:lnTo>
                  <a:pt x="32577" y="333916"/>
                </a:lnTo>
                <a:cubicBezTo>
                  <a:pt x="14585" y="333916"/>
                  <a:pt x="0" y="319331"/>
                  <a:pt x="0" y="301339"/>
                </a:cubicBezTo>
                <a:lnTo>
                  <a:pt x="0" y="32577"/>
                </a:lnTo>
                <a:cubicBezTo>
                  <a:pt x="0" y="14585"/>
                  <a:pt x="14585" y="0"/>
                  <a:pt x="3257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13118" y="4243174"/>
            <a:ext cx="130309" cy="130309"/>
          </a:xfrm>
          <a:custGeom>
            <a:avLst/>
            <a:gdLst/>
            <a:ahLst/>
            <a:cxnLst/>
            <a:rect l="l" t="t" r="r" b="b"/>
            <a:pathLst>
              <a:path w="130309" h="130309">
                <a:moveTo>
                  <a:pt x="65154" y="130309"/>
                </a:moveTo>
                <a:cubicBezTo>
                  <a:pt x="101114" y="130309"/>
                  <a:pt x="130309" y="101114"/>
                  <a:pt x="130309" y="65154"/>
                </a:cubicBezTo>
                <a:cubicBezTo>
                  <a:pt x="130309" y="29195"/>
                  <a:pt x="101114" y="0"/>
                  <a:pt x="65154" y="0"/>
                </a:cubicBezTo>
                <a:cubicBezTo>
                  <a:pt x="29195" y="0"/>
                  <a:pt x="0" y="29195"/>
                  <a:pt x="0" y="65154"/>
                </a:cubicBezTo>
                <a:cubicBezTo>
                  <a:pt x="0" y="101114"/>
                  <a:pt x="29195" y="130309"/>
                  <a:pt x="65154" y="130309"/>
                </a:cubicBezTo>
                <a:close/>
                <a:moveTo>
                  <a:pt x="86635" y="54134"/>
                </a:moveTo>
                <a:lnTo>
                  <a:pt x="66274" y="86711"/>
                </a:lnTo>
                <a:cubicBezTo>
                  <a:pt x="65205" y="88416"/>
                  <a:pt x="63373" y="89485"/>
                  <a:pt x="61362" y="89587"/>
                </a:cubicBezTo>
                <a:cubicBezTo>
                  <a:pt x="59352" y="89689"/>
                  <a:pt x="57417" y="88773"/>
                  <a:pt x="56221" y="87144"/>
                </a:cubicBezTo>
                <a:lnTo>
                  <a:pt x="44005" y="70855"/>
                </a:lnTo>
                <a:cubicBezTo>
                  <a:pt x="41969" y="68158"/>
                  <a:pt x="42528" y="64340"/>
                  <a:pt x="45226" y="62304"/>
                </a:cubicBezTo>
                <a:cubicBezTo>
                  <a:pt x="47924" y="60268"/>
                  <a:pt x="51742" y="60828"/>
                  <a:pt x="53778" y="63525"/>
                </a:cubicBezTo>
                <a:lnTo>
                  <a:pt x="60649" y="72688"/>
                </a:lnTo>
                <a:lnTo>
                  <a:pt x="76276" y="47670"/>
                </a:lnTo>
                <a:cubicBezTo>
                  <a:pt x="78058" y="44819"/>
                  <a:pt x="81825" y="43928"/>
                  <a:pt x="84701" y="45735"/>
                </a:cubicBezTo>
                <a:cubicBezTo>
                  <a:pt x="87577" y="47542"/>
                  <a:pt x="88442" y="51284"/>
                  <a:pt x="86635" y="54160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37" name="Text 34"/>
          <p:cNvSpPr/>
          <p:nvPr/>
        </p:nvSpPr>
        <p:spPr>
          <a:xfrm>
            <a:off x="6624870" y="4210597"/>
            <a:ext cx="464224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Gemini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696734" y="4141371"/>
            <a:ext cx="1294942" cy="333916"/>
          </a:xfrm>
          <a:custGeom>
            <a:avLst/>
            <a:gdLst/>
            <a:ahLst/>
            <a:cxnLst/>
            <a:rect l="l" t="t" r="r" b="b"/>
            <a:pathLst>
              <a:path w="1294942" h="333916">
                <a:moveTo>
                  <a:pt x="32577" y="0"/>
                </a:moveTo>
                <a:lnTo>
                  <a:pt x="1262365" y="0"/>
                </a:lnTo>
                <a:cubicBezTo>
                  <a:pt x="1280357" y="0"/>
                  <a:pt x="1294942" y="14585"/>
                  <a:pt x="1294942" y="32577"/>
                </a:cubicBezTo>
                <a:lnTo>
                  <a:pt x="1294942" y="301339"/>
                </a:lnTo>
                <a:cubicBezTo>
                  <a:pt x="1294942" y="319331"/>
                  <a:pt x="1280357" y="333916"/>
                  <a:pt x="1262365" y="333916"/>
                </a:cubicBezTo>
                <a:lnTo>
                  <a:pt x="32577" y="333916"/>
                </a:lnTo>
                <a:cubicBezTo>
                  <a:pt x="14585" y="333916"/>
                  <a:pt x="0" y="319331"/>
                  <a:pt x="0" y="301339"/>
                </a:cubicBezTo>
                <a:lnTo>
                  <a:pt x="0" y="32577"/>
                </a:lnTo>
                <a:cubicBezTo>
                  <a:pt x="0" y="14585"/>
                  <a:pt x="14585" y="0"/>
                  <a:pt x="3257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82249" y="4243174"/>
            <a:ext cx="130309" cy="130309"/>
          </a:xfrm>
          <a:custGeom>
            <a:avLst/>
            <a:gdLst/>
            <a:ahLst/>
            <a:cxnLst/>
            <a:rect l="l" t="t" r="r" b="b"/>
            <a:pathLst>
              <a:path w="130309" h="130309">
                <a:moveTo>
                  <a:pt x="65154" y="130309"/>
                </a:moveTo>
                <a:cubicBezTo>
                  <a:pt x="101114" y="130309"/>
                  <a:pt x="130309" y="101114"/>
                  <a:pt x="130309" y="65154"/>
                </a:cubicBezTo>
                <a:cubicBezTo>
                  <a:pt x="130309" y="29195"/>
                  <a:pt x="101114" y="0"/>
                  <a:pt x="65154" y="0"/>
                </a:cubicBezTo>
                <a:cubicBezTo>
                  <a:pt x="29195" y="0"/>
                  <a:pt x="0" y="29195"/>
                  <a:pt x="0" y="65154"/>
                </a:cubicBezTo>
                <a:cubicBezTo>
                  <a:pt x="0" y="101114"/>
                  <a:pt x="29195" y="130309"/>
                  <a:pt x="65154" y="130309"/>
                </a:cubicBezTo>
                <a:close/>
                <a:moveTo>
                  <a:pt x="86635" y="54134"/>
                </a:moveTo>
                <a:lnTo>
                  <a:pt x="66274" y="86711"/>
                </a:lnTo>
                <a:cubicBezTo>
                  <a:pt x="65205" y="88416"/>
                  <a:pt x="63373" y="89485"/>
                  <a:pt x="61362" y="89587"/>
                </a:cubicBezTo>
                <a:cubicBezTo>
                  <a:pt x="59352" y="89689"/>
                  <a:pt x="57417" y="88773"/>
                  <a:pt x="56221" y="87144"/>
                </a:cubicBezTo>
                <a:lnTo>
                  <a:pt x="44005" y="70855"/>
                </a:lnTo>
                <a:cubicBezTo>
                  <a:pt x="41969" y="68158"/>
                  <a:pt x="42528" y="64340"/>
                  <a:pt x="45226" y="62304"/>
                </a:cubicBezTo>
                <a:cubicBezTo>
                  <a:pt x="47924" y="60268"/>
                  <a:pt x="51742" y="60828"/>
                  <a:pt x="53778" y="63525"/>
                </a:cubicBezTo>
                <a:lnTo>
                  <a:pt x="60649" y="72688"/>
                </a:lnTo>
                <a:lnTo>
                  <a:pt x="76276" y="47670"/>
                </a:lnTo>
                <a:cubicBezTo>
                  <a:pt x="78058" y="44819"/>
                  <a:pt x="81825" y="43928"/>
                  <a:pt x="84701" y="45735"/>
                </a:cubicBezTo>
                <a:cubicBezTo>
                  <a:pt x="87577" y="47542"/>
                  <a:pt x="88442" y="51284"/>
                  <a:pt x="86635" y="54160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40" name="Text 37"/>
          <p:cNvSpPr/>
          <p:nvPr/>
        </p:nvSpPr>
        <p:spPr>
          <a:xfrm>
            <a:off x="7994001" y="4210597"/>
            <a:ext cx="749275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OpenRouter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9065866" y="4141371"/>
            <a:ext cx="1294942" cy="333916"/>
          </a:xfrm>
          <a:custGeom>
            <a:avLst/>
            <a:gdLst/>
            <a:ahLst/>
            <a:cxnLst/>
            <a:rect l="l" t="t" r="r" b="b"/>
            <a:pathLst>
              <a:path w="1294942" h="333916">
                <a:moveTo>
                  <a:pt x="32577" y="0"/>
                </a:moveTo>
                <a:lnTo>
                  <a:pt x="1262365" y="0"/>
                </a:lnTo>
                <a:cubicBezTo>
                  <a:pt x="1280357" y="0"/>
                  <a:pt x="1294942" y="14585"/>
                  <a:pt x="1294942" y="32577"/>
                </a:cubicBezTo>
                <a:lnTo>
                  <a:pt x="1294942" y="301339"/>
                </a:lnTo>
                <a:cubicBezTo>
                  <a:pt x="1294942" y="319331"/>
                  <a:pt x="1280357" y="333916"/>
                  <a:pt x="1262365" y="333916"/>
                </a:cubicBezTo>
                <a:lnTo>
                  <a:pt x="32577" y="333916"/>
                </a:lnTo>
                <a:cubicBezTo>
                  <a:pt x="14585" y="333916"/>
                  <a:pt x="0" y="319331"/>
                  <a:pt x="0" y="301339"/>
                </a:cubicBezTo>
                <a:lnTo>
                  <a:pt x="0" y="32577"/>
                </a:lnTo>
                <a:cubicBezTo>
                  <a:pt x="0" y="14585"/>
                  <a:pt x="14585" y="0"/>
                  <a:pt x="3257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151381" y="4243174"/>
            <a:ext cx="130309" cy="130309"/>
          </a:xfrm>
          <a:custGeom>
            <a:avLst/>
            <a:gdLst/>
            <a:ahLst/>
            <a:cxnLst/>
            <a:rect l="l" t="t" r="r" b="b"/>
            <a:pathLst>
              <a:path w="130309" h="130309">
                <a:moveTo>
                  <a:pt x="65154" y="130309"/>
                </a:moveTo>
                <a:cubicBezTo>
                  <a:pt x="101114" y="130309"/>
                  <a:pt x="130309" y="101114"/>
                  <a:pt x="130309" y="65154"/>
                </a:cubicBezTo>
                <a:cubicBezTo>
                  <a:pt x="130309" y="29195"/>
                  <a:pt x="101114" y="0"/>
                  <a:pt x="65154" y="0"/>
                </a:cubicBezTo>
                <a:cubicBezTo>
                  <a:pt x="29195" y="0"/>
                  <a:pt x="0" y="29195"/>
                  <a:pt x="0" y="65154"/>
                </a:cubicBezTo>
                <a:cubicBezTo>
                  <a:pt x="0" y="101114"/>
                  <a:pt x="29195" y="130309"/>
                  <a:pt x="65154" y="130309"/>
                </a:cubicBezTo>
                <a:close/>
                <a:moveTo>
                  <a:pt x="86635" y="54134"/>
                </a:moveTo>
                <a:lnTo>
                  <a:pt x="66274" y="86711"/>
                </a:lnTo>
                <a:cubicBezTo>
                  <a:pt x="65205" y="88416"/>
                  <a:pt x="63373" y="89485"/>
                  <a:pt x="61362" y="89587"/>
                </a:cubicBezTo>
                <a:cubicBezTo>
                  <a:pt x="59352" y="89689"/>
                  <a:pt x="57417" y="88773"/>
                  <a:pt x="56221" y="87144"/>
                </a:cubicBezTo>
                <a:lnTo>
                  <a:pt x="44005" y="70855"/>
                </a:lnTo>
                <a:cubicBezTo>
                  <a:pt x="41969" y="68158"/>
                  <a:pt x="42528" y="64340"/>
                  <a:pt x="45226" y="62304"/>
                </a:cubicBezTo>
                <a:cubicBezTo>
                  <a:pt x="47924" y="60268"/>
                  <a:pt x="51742" y="60828"/>
                  <a:pt x="53778" y="63525"/>
                </a:cubicBezTo>
                <a:lnTo>
                  <a:pt x="60649" y="72688"/>
                </a:lnTo>
                <a:lnTo>
                  <a:pt x="76276" y="47670"/>
                </a:lnTo>
                <a:cubicBezTo>
                  <a:pt x="78058" y="44819"/>
                  <a:pt x="81825" y="43928"/>
                  <a:pt x="84701" y="45735"/>
                </a:cubicBezTo>
                <a:cubicBezTo>
                  <a:pt x="87577" y="47542"/>
                  <a:pt x="88442" y="51284"/>
                  <a:pt x="86635" y="54160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43" name="Text 40"/>
          <p:cNvSpPr/>
          <p:nvPr/>
        </p:nvSpPr>
        <p:spPr>
          <a:xfrm>
            <a:off x="9363132" y="4210597"/>
            <a:ext cx="350204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Groq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0434997" y="4141371"/>
            <a:ext cx="1294942" cy="333916"/>
          </a:xfrm>
          <a:custGeom>
            <a:avLst/>
            <a:gdLst/>
            <a:ahLst/>
            <a:cxnLst/>
            <a:rect l="l" t="t" r="r" b="b"/>
            <a:pathLst>
              <a:path w="1294942" h="333916">
                <a:moveTo>
                  <a:pt x="32577" y="0"/>
                </a:moveTo>
                <a:lnTo>
                  <a:pt x="1262365" y="0"/>
                </a:lnTo>
                <a:cubicBezTo>
                  <a:pt x="1280357" y="0"/>
                  <a:pt x="1294942" y="14585"/>
                  <a:pt x="1294942" y="32577"/>
                </a:cubicBezTo>
                <a:lnTo>
                  <a:pt x="1294942" y="301339"/>
                </a:lnTo>
                <a:cubicBezTo>
                  <a:pt x="1294942" y="319331"/>
                  <a:pt x="1280357" y="333916"/>
                  <a:pt x="1262365" y="333916"/>
                </a:cubicBezTo>
                <a:lnTo>
                  <a:pt x="32577" y="333916"/>
                </a:lnTo>
                <a:cubicBezTo>
                  <a:pt x="14585" y="333916"/>
                  <a:pt x="0" y="319331"/>
                  <a:pt x="0" y="301339"/>
                </a:cubicBezTo>
                <a:lnTo>
                  <a:pt x="0" y="32577"/>
                </a:lnTo>
                <a:cubicBezTo>
                  <a:pt x="0" y="14585"/>
                  <a:pt x="14585" y="0"/>
                  <a:pt x="3257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520512" y="4243174"/>
            <a:ext cx="130309" cy="130309"/>
          </a:xfrm>
          <a:custGeom>
            <a:avLst/>
            <a:gdLst/>
            <a:ahLst/>
            <a:cxnLst/>
            <a:rect l="l" t="t" r="r" b="b"/>
            <a:pathLst>
              <a:path w="130309" h="130309">
                <a:moveTo>
                  <a:pt x="65154" y="130309"/>
                </a:moveTo>
                <a:cubicBezTo>
                  <a:pt x="101114" y="130309"/>
                  <a:pt x="130309" y="101114"/>
                  <a:pt x="130309" y="65154"/>
                </a:cubicBezTo>
                <a:cubicBezTo>
                  <a:pt x="130309" y="29195"/>
                  <a:pt x="101114" y="0"/>
                  <a:pt x="65154" y="0"/>
                </a:cubicBezTo>
                <a:cubicBezTo>
                  <a:pt x="29195" y="0"/>
                  <a:pt x="0" y="29195"/>
                  <a:pt x="0" y="65154"/>
                </a:cubicBezTo>
                <a:cubicBezTo>
                  <a:pt x="0" y="101114"/>
                  <a:pt x="29195" y="130309"/>
                  <a:pt x="65154" y="130309"/>
                </a:cubicBezTo>
                <a:close/>
                <a:moveTo>
                  <a:pt x="86635" y="54134"/>
                </a:moveTo>
                <a:lnTo>
                  <a:pt x="66274" y="86711"/>
                </a:lnTo>
                <a:cubicBezTo>
                  <a:pt x="65205" y="88416"/>
                  <a:pt x="63373" y="89485"/>
                  <a:pt x="61362" y="89587"/>
                </a:cubicBezTo>
                <a:cubicBezTo>
                  <a:pt x="59352" y="89689"/>
                  <a:pt x="57417" y="88773"/>
                  <a:pt x="56221" y="87144"/>
                </a:cubicBezTo>
                <a:lnTo>
                  <a:pt x="44005" y="70855"/>
                </a:lnTo>
                <a:cubicBezTo>
                  <a:pt x="41969" y="68158"/>
                  <a:pt x="42528" y="64340"/>
                  <a:pt x="45226" y="62304"/>
                </a:cubicBezTo>
                <a:cubicBezTo>
                  <a:pt x="47924" y="60268"/>
                  <a:pt x="51742" y="60828"/>
                  <a:pt x="53778" y="63525"/>
                </a:cubicBezTo>
                <a:lnTo>
                  <a:pt x="60649" y="72688"/>
                </a:lnTo>
                <a:lnTo>
                  <a:pt x="76276" y="47670"/>
                </a:lnTo>
                <a:cubicBezTo>
                  <a:pt x="78058" y="44819"/>
                  <a:pt x="81825" y="43928"/>
                  <a:pt x="84701" y="45735"/>
                </a:cubicBezTo>
                <a:cubicBezTo>
                  <a:pt x="87577" y="47542"/>
                  <a:pt x="88442" y="51284"/>
                  <a:pt x="86635" y="54160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46" name="Text 43"/>
          <p:cNvSpPr/>
          <p:nvPr/>
        </p:nvSpPr>
        <p:spPr>
          <a:xfrm>
            <a:off x="10732264" y="4210597"/>
            <a:ext cx="33391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Grok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27603" y="4548585"/>
            <a:ext cx="1294942" cy="333916"/>
          </a:xfrm>
          <a:custGeom>
            <a:avLst/>
            <a:gdLst/>
            <a:ahLst/>
            <a:cxnLst/>
            <a:rect l="l" t="t" r="r" b="b"/>
            <a:pathLst>
              <a:path w="1294942" h="333916">
                <a:moveTo>
                  <a:pt x="32577" y="0"/>
                </a:moveTo>
                <a:lnTo>
                  <a:pt x="1262365" y="0"/>
                </a:lnTo>
                <a:cubicBezTo>
                  <a:pt x="1280357" y="0"/>
                  <a:pt x="1294942" y="14585"/>
                  <a:pt x="1294942" y="32577"/>
                </a:cubicBezTo>
                <a:lnTo>
                  <a:pt x="1294942" y="301339"/>
                </a:lnTo>
                <a:cubicBezTo>
                  <a:pt x="1294942" y="319331"/>
                  <a:pt x="1280357" y="333916"/>
                  <a:pt x="1262365" y="333916"/>
                </a:cubicBezTo>
                <a:lnTo>
                  <a:pt x="32577" y="333916"/>
                </a:lnTo>
                <a:cubicBezTo>
                  <a:pt x="14585" y="333916"/>
                  <a:pt x="0" y="319331"/>
                  <a:pt x="0" y="301339"/>
                </a:cubicBezTo>
                <a:lnTo>
                  <a:pt x="0" y="32577"/>
                </a:lnTo>
                <a:cubicBezTo>
                  <a:pt x="0" y="14585"/>
                  <a:pt x="14585" y="0"/>
                  <a:pt x="3257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413118" y="4650389"/>
            <a:ext cx="130309" cy="130309"/>
          </a:xfrm>
          <a:custGeom>
            <a:avLst/>
            <a:gdLst/>
            <a:ahLst/>
            <a:cxnLst/>
            <a:rect l="l" t="t" r="r" b="b"/>
            <a:pathLst>
              <a:path w="130309" h="130309">
                <a:moveTo>
                  <a:pt x="65154" y="130309"/>
                </a:moveTo>
                <a:cubicBezTo>
                  <a:pt x="101114" y="130309"/>
                  <a:pt x="130309" y="101114"/>
                  <a:pt x="130309" y="65154"/>
                </a:cubicBezTo>
                <a:cubicBezTo>
                  <a:pt x="130309" y="29195"/>
                  <a:pt x="101114" y="0"/>
                  <a:pt x="65154" y="0"/>
                </a:cubicBezTo>
                <a:cubicBezTo>
                  <a:pt x="29195" y="0"/>
                  <a:pt x="0" y="29195"/>
                  <a:pt x="0" y="65154"/>
                </a:cubicBezTo>
                <a:cubicBezTo>
                  <a:pt x="0" y="101114"/>
                  <a:pt x="29195" y="130309"/>
                  <a:pt x="65154" y="130309"/>
                </a:cubicBezTo>
                <a:close/>
                <a:moveTo>
                  <a:pt x="86635" y="54134"/>
                </a:moveTo>
                <a:lnTo>
                  <a:pt x="66274" y="86711"/>
                </a:lnTo>
                <a:cubicBezTo>
                  <a:pt x="65205" y="88416"/>
                  <a:pt x="63373" y="89485"/>
                  <a:pt x="61362" y="89587"/>
                </a:cubicBezTo>
                <a:cubicBezTo>
                  <a:pt x="59352" y="89689"/>
                  <a:pt x="57417" y="88773"/>
                  <a:pt x="56221" y="87144"/>
                </a:cubicBezTo>
                <a:lnTo>
                  <a:pt x="44005" y="70855"/>
                </a:lnTo>
                <a:cubicBezTo>
                  <a:pt x="41969" y="68158"/>
                  <a:pt x="42528" y="64340"/>
                  <a:pt x="45226" y="62304"/>
                </a:cubicBezTo>
                <a:cubicBezTo>
                  <a:pt x="47924" y="60268"/>
                  <a:pt x="51742" y="60828"/>
                  <a:pt x="53778" y="63525"/>
                </a:cubicBezTo>
                <a:lnTo>
                  <a:pt x="60649" y="72688"/>
                </a:lnTo>
                <a:lnTo>
                  <a:pt x="76276" y="47670"/>
                </a:lnTo>
                <a:cubicBezTo>
                  <a:pt x="78058" y="44819"/>
                  <a:pt x="81825" y="43928"/>
                  <a:pt x="84701" y="45735"/>
                </a:cubicBezTo>
                <a:cubicBezTo>
                  <a:pt x="87577" y="47542"/>
                  <a:pt x="88442" y="51284"/>
                  <a:pt x="86635" y="54160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49" name="Text 46"/>
          <p:cNvSpPr/>
          <p:nvPr/>
        </p:nvSpPr>
        <p:spPr>
          <a:xfrm>
            <a:off x="6624870" y="4617812"/>
            <a:ext cx="570100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Together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7696734" y="4548585"/>
            <a:ext cx="1294942" cy="333916"/>
          </a:xfrm>
          <a:custGeom>
            <a:avLst/>
            <a:gdLst/>
            <a:ahLst/>
            <a:cxnLst/>
            <a:rect l="l" t="t" r="r" b="b"/>
            <a:pathLst>
              <a:path w="1294942" h="333916">
                <a:moveTo>
                  <a:pt x="32577" y="0"/>
                </a:moveTo>
                <a:lnTo>
                  <a:pt x="1262365" y="0"/>
                </a:lnTo>
                <a:cubicBezTo>
                  <a:pt x="1280357" y="0"/>
                  <a:pt x="1294942" y="14585"/>
                  <a:pt x="1294942" y="32577"/>
                </a:cubicBezTo>
                <a:lnTo>
                  <a:pt x="1294942" y="301339"/>
                </a:lnTo>
                <a:cubicBezTo>
                  <a:pt x="1294942" y="319331"/>
                  <a:pt x="1280357" y="333916"/>
                  <a:pt x="1262365" y="333916"/>
                </a:cubicBezTo>
                <a:lnTo>
                  <a:pt x="32577" y="333916"/>
                </a:lnTo>
                <a:cubicBezTo>
                  <a:pt x="14585" y="333916"/>
                  <a:pt x="0" y="319331"/>
                  <a:pt x="0" y="301339"/>
                </a:cubicBezTo>
                <a:lnTo>
                  <a:pt x="0" y="32577"/>
                </a:lnTo>
                <a:cubicBezTo>
                  <a:pt x="0" y="14585"/>
                  <a:pt x="14585" y="0"/>
                  <a:pt x="3257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782249" y="4650389"/>
            <a:ext cx="130309" cy="130309"/>
          </a:xfrm>
          <a:custGeom>
            <a:avLst/>
            <a:gdLst/>
            <a:ahLst/>
            <a:cxnLst/>
            <a:rect l="l" t="t" r="r" b="b"/>
            <a:pathLst>
              <a:path w="130309" h="130309">
                <a:moveTo>
                  <a:pt x="65154" y="130309"/>
                </a:moveTo>
                <a:cubicBezTo>
                  <a:pt x="101114" y="130309"/>
                  <a:pt x="130309" y="101114"/>
                  <a:pt x="130309" y="65154"/>
                </a:cubicBezTo>
                <a:cubicBezTo>
                  <a:pt x="130309" y="29195"/>
                  <a:pt x="101114" y="0"/>
                  <a:pt x="65154" y="0"/>
                </a:cubicBezTo>
                <a:cubicBezTo>
                  <a:pt x="29195" y="0"/>
                  <a:pt x="0" y="29195"/>
                  <a:pt x="0" y="65154"/>
                </a:cubicBezTo>
                <a:cubicBezTo>
                  <a:pt x="0" y="101114"/>
                  <a:pt x="29195" y="130309"/>
                  <a:pt x="65154" y="130309"/>
                </a:cubicBezTo>
                <a:close/>
                <a:moveTo>
                  <a:pt x="86635" y="54134"/>
                </a:moveTo>
                <a:lnTo>
                  <a:pt x="66274" y="86711"/>
                </a:lnTo>
                <a:cubicBezTo>
                  <a:pt x="65205" y="88416"/>
                  <a:pt x="63373" y="89485"/>
                  <a:pt x="61362" y="89587"/>
                </a:cubicBezTo>
                <a:cubicBezTo>
                  <a:pt x="59352" y="89689"/>
                  <a:pt x="57417" y="88773"/>
                  <a:pt x="56221" y="87144"/>
                </a:cubicBezTo>
                <a:lnTo>
                  <a:pt x="44005" y="70855"/>
                </a:lnTo>
                <a:cubicBezTo>
                  <a:pt x="41969" y="68158"/>
                  <a:pt x="42528" y="64340"/>
                  <a:pt x="45226" y="62304"/>
                </a:cubicBezTo>
                <a:cubicBezTo>
                  <a:pt x="47924" y="60268"/>
                  <a:pt x="51742" y="60828"/>
                  <a:pt x="53778" y="63525"/>
                </a:cubicBezTo>
                <a:lnTo>
                  <a:pt x="60649" y="72688"/>
                </a:lnTo>
                <a:lnTo>
                  <a:pt x="76276" y="47670"/>
                </a:lnTo>
                <a:cubicBezTo>
                  <a:pt x="78058" y="44819"/>
                  <a:pt x="81825" y="43928"/>
                  <a:pt x="84701" y="45735"/>
                </a:cubicBezTo>
                <a:cubicBezTo>
                  <a:pt x="87577" y="47542"/>
                  <a:pt x="88442" y="51284"/>
                  <a:pt x="86635" y="54160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52" name="Text 49"/>
          <p:cNvSpPr/>
          <p:nvPr/>
        </p:nvSpPr>
        <p:spPr>
          <a:xfrm>
            <a:off x="7994001" y="4617812"/>
            <a:ext cx="44793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Mistral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065866" y="4548585"/>
            <a:ext cx="1294942" cy="333916"/>
          </a:xfrm>
          <a:custGeom>
            <a:avLst/>
            <a:gdLst/>
            <a:ahLst/>
            <a:cxnLst/>
            <a:rect l="l" t="t" r="r" b="b"/>
            <a:pathLst>
              <a:path w="1294942" h="333916">
                <a:moveTo>
                  <a:pt x="32577" y="0"/>
                </a:moveTo>
                <a:lnTo>
                  <a:pt x="1262365" y="0"/>
                </a:lnTo>
                <a:cubicBezTo>
                  <a:pt x="1280357" y="0"/>
                  <a:pt x="1294942" y="14585"/>
                  <a:pt x="1294942" y="32577"/>
                </a:cubicBezTo>
                <a:lnTo>
                  <a:pt x="1294942" y="301339"/>
                </a:lnTo>
                <a:cubicBezTo>
                  <a:pt x="1294942" y="319331"/>
                  <a:pt x="1280357" y="333916"/>
                  <a:pt x="1262365" y="333916"/>
                </a:cubicBezTo>
                <a:lnTo>
                  <a:pt x="32577" y="333916"/>
                </a:lnTo>
                <a:cubicBezTo>
                  <a:pt x="14585" y="333916"/>
                  <a:pt x="0" y="319331"/>
                  <a:pt x="0" y="301339"/>
                </a:cubicBezTo>
                <a:lnTo>
                  <a:pt x="0" y="32577"/>
                </a:lnTo>
                <a:cubicBezTo>
                  <a:pt x="0" y="14585"/>
                  <a:pt x="14585" y="0"/>
                  <a:pt x="3257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151381" y="4650389"/>
            <a:ext cx="130309" cy="130309"/>
          </a:xfrm>
          <a:custGeom>
            <a:avLst/>
            <a:gdLst/>
            <a:ahLst/>
            <a:cxnLst/>
            <a:rect l="l" t="t" r="r" b="b"/>
            <a:pathLst>
              <a:path w="130309" h="130309">
                <a:moveTo>
                  <a:pt x="65154" y="130309"/>
                </a:moveTo>
                <a:cubicBezTo>
                  <a:pt x="101114" y="130309"/>
                  <a:pt x="130309" y="101114"/>
                  <a:pt x="130309" y="65154"/>
                </a:cubicBezTo>
                <a:cubicBezTo>
                  <a:pt x="130309" y="29195"/>
                  <a:pt x="101114" y="0"/>
                  <a:pt x="65154" y="0"/>
                </a:cubicBezTo>
                <a:cubicBezTo>
                  <a:pt x="29195" y="0"/>
                  <a:pt x="0" y="29195"/>
                  <a:pt x="0" y="65154"/>
                </a:cubicBezTo>
                <a:cubicBezTo>
                  <a:pt x="0" y="101114"/>
                  <a:pt x="29195" y="130309"/>
                  <a:pt x="65154" y="130309"/>
                </a:cubicBezTo>
                <a:close/>
                <a:moveTo>
                  <a:pt x="86635" y="54134"/>
                </a:moveTo>
                <a:lnTo>
                  <a:pt x="66274" y="86711"/>
                </a:lnTo>
                <a:cubicBezTo>
                  <a:pt x="65205" y="88416"/>
                  <a:pt x="63373" y="89485"/>
                  <a:pt x="61362" y="89587"/>
                </a:cubicBezTo>
                <a:cubicBezTo>
                  <a:pt x="59352" y="89689"/>
                  <a:pt x="57417" y="88773"/>
                  <a:pt x="56221" y="87144"/>
                </a:cubicBezTo>
                <a:lnTo>
                  <a:pt x="44005" y="70855"/>
                </a:lnTo>
                <a:cubicBezTo>
                  <a:pt x="41969" y="68158"/>
                  <a:pt x="42528" y="64340"/>
                  <a:pt x="45226" y="62304"/>
                </a:cubicBezTo>
                <a:cubicBezTo>
                  <a:pt x="47924" y="60268"/>
                  <a:pt x="51742" y="60828"/>
                  <a:pt x="53778" y="63525"/>
                </a:cubicBezTo>
                <a:lnTo>
                  <a:pt x="60649" y="72688"/>
                </a:lnTo>
                <a:lnTo>
                  <a:pt x="76276" y="47670"/>
                </a:lnTo>
                <a:cubicBezTo>
                  <a:pt x="78058" y="44819"/>
                  <a:pt x="81825" y="43928"/>
                  <a:pt x="84701" y="45735"/>
                </a:cubicBezTo>
                <a:cubicBezTo>
                  <a:pt x="87577" y="47542"/>
                  <a:pt x="88442" y="51284"/>
                  <a:pt x="86635" y="54160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55" name="Text 52"/>
          <p:cNvSpPr/>
          <p:nvPr/>
        </p:nvSpPr>
        <p:spPr>
          <a:xfrm>
            <a:off x="9363132" y="4617812"/>
            <a:ext cx="496802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OpenAI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10434997" y="4548585"/>
            <a:ext cx="1294942" cy="333916"/>
          </a:xfrm>
          <a:custGeom>
            <a:avLst/>
            <a:gdLst/>
            <a:ahLst/>
            <a:cxnLst/>
            <a:rect l="l" t="t" r="r" b="b"/>
            <a:pathLst>
              <a:path w="1294942" h="333916">
                <a:moveTo>
                  <a:pt x="32577" y="0"/>
                </a:moveTo>
                <a:lnTo>
                  <a:pt x="1262365" y="0"/>
                </a:lnTo>
                <a:cubicBezTo>
                  <a:pt x="1280357" y="0"/>
                  <a:pt x="1294942" y="14585"/>
                  <a:pt x="1294942" y="32577"/>
                </a:cubicBezTo>
                <a:lnTo>
                  <a:pt x="1294942" y="301339"/>
                </a:lnTo>
                <a:cubicBezTo>
                  <a:pt x="1294942" y="319331"/>
                  <a:pt x="1280357" y="333916"/>
                  <a:pt x="1262365" y="333916"/>
                </a:cubicBezTo>
                <a:lnTo>
                  <a:pt x="32577" y="333916"/>
                </a:lnTo>
                <a:cubicBezTo>
                  <a:pt x="14585" y="333916"/>
                  <a:pt x="0" y="319331"/>
                  <a:pt x="0" y="301339"/>
                </a:cubicBezTo>
                <a:lnTo>
                  <a:pt x="0" y="32577"/>
                </a:lnTo>
                <a:cubicBezTo>
                  <a:pt x="0" y="14585"/>
                  <a:pt x="14585" y="0"/>
                  <a:pt x="3257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520512" y="4650389"/>
            <a:ext cx="130309" cy="130309"/>
          </a:xfrm>
          <a:custGeom>
            <a:avLst/>
            <a:gdLst/>
            <a:ahLst/>
            <a:cxnLst/>
            <a:rect l="l" t="t" r="r" b="b"/>
            <a:pathLst>
              <a:path w="130309" h="130309">
                <a:moveTo>
                  <a:pt x="65154" y="130309"/>
                </a:moveTo>
                <a:cubicBezTo>
                  <a:pt x="101114" y="130309"/>
                  <a:pt x="130309" y="101114"/>
                  <a:pt x="130309" y="65154"/>
                </a:cubicBezTo>
                <a:cubicBezTo>
                  <a:pt x="130309" y="29195"/>
                  <a:pt x="101114" y="0"/>
                  <a:pt x="65154" y="0"/>
                </a:cubicBezTo>
                <a:cubicBezTo>
                  <a:pt x="29195" y="0"/>
                  <a:pt x="0" y="29195"/>
                  <a:pt x="0" y="65154"/>
                </a:cubicBezTo>
                <a:cubicBezTo>
                  <a:pt x="0" y="101114"/>
                  <a:pt x="29195" y="130309"/>
                  <a:pt x="65154" y="130309"/>
                </a:cubicBezTo>
                <a:close/>
                <a:moveTo>
                  <a:pt x="86635" y="54134"/>
                </a:moveTo>
                <a:lnTo>
                  <a:pt x="66274" y="86711"/>
                </a:lnTo>
                <a:cubicBezTo>
                  <a:pt x="65205" y="88416"/>
                  <a:pt x="63373" y="89485"/>
                  <a:pt x="61362" y="89587"/>
                </a:cubicBezTo>
                <a:cubicBezTo>
                  <a:pt x="59352" y="89689"/>
                  <a:pt x="57417" y="88773"/>
                  <a:pt x="56221" y="87144"/>
                </a:cubicBezTo>
                <a:lnTo>
                  <a:pt x="44005" y="70855"/>
                </a:lnTo>
                <a:cubicBezTo>
                  <a:pt x="41969" y="68158"/>
                  <a:pt x="42528" y="64340"/>
                  <a:pt x="45226" y="62304"/>
                </a:cubicBezTo>
                <a:cubicBezTo>
                  <a:pt x="47924" y="60268"/>
                  <a:pt x="51742" y="60828"/>
                  <a:pt x="53778" y="63525"/>
                </a:cubicBezTo>
                <a:lnTo>
                  <a:pt x="60649" y="72688"/>
                </a:lnTo>
                <a:lnTo>
                  <a:pt x="76276" y="47670"/>
                </a:lnTo>
                <a:cubicBezTo>
                  <a:pt x="78058" y="44819"/>
                  <a:pt x="81825" y="43928"/>
                  <a:pt x="84701" y="45735"/>
                </a:cubicBezTo>
                <a:cubicBezTo>
                  <a:pt x="87577" y="47542"/>
                  <a:pt x="88442" y="51284"/>
                  <a:pt x="86635" y="54160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58" name="Text 55"/>
          <p:cNvSpPr/>
          <p:nvPr/>
        </p:nvSpPr>
        <p:spPr>
          <a:xfrm>
            <a:off x="10732264" y="4617812"/>
            <a:ext cx="635255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DeepSeek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6197295" y="5118685"/>
            <a:ext cx="5660281" cy="1180922"/>
          </a:xfrm>
          <a:custGeom>
            <a:avLst/>
            <a:gdLst/>
            <a:ahLst/>
            <a:cxnLst/>
            <a:rect l="l" t="t" r="r" b="b"/>
            <a:pathLst>
              <a:path w="5660281" h="1180922">
                <a:moveTo>
                  <a:pt x="65151" y="0"/>
                </a:moveTo>
                <a:lnTo>
                  <a:pt x="5595129" y="0"/>
                </a:lnTo>
                <a:cubicBezTo>
                  <a:pt x="5631111" y="0"/>
                  <a:pt x="5660281" y="29169"/>
                  <a:pt x="5660281" y="65151"/>
                </a:cubicBezTo>
                <a:lnTo>
                  <a:pt x="5660281" y="1115770"/>
                </a:lnTo>
                <a:cubicBezTo>
                  <a:pt x="5660281" y="1151753"/>
                  <a:pt x="5631111" y="1180922"/>
                  <a:pt x="5595129" y="1180922"/>
                </a:cubicBezTo>
                <a:lnTo>
                  <a:pt x="65151" y="1180922"/>
                </a:lnTo>
                <a:cubicBezTo>
                  <a:pt x="29169" y="1180922"/>
                  <a:pt x="0" y="1151753"/>
                  <a:pt x="0" y="1115770"/>
                </a:cubicBezTo>
                <a:lnTo>
                  <a:pt x="0" y="65151"/>
                </a:lnTo>
                <a:cubicBezTo>
                  <a:pt x="0" y="29169"/>
                  <a:pt x="29169" y="0"/>
                  <a:pt x="65151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331675" y="5253066"/>
            <a:ext cx="5456673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 Catalog Features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6340838" y="5546261"/>
            <a:ext cx="128273" cy="114020"/>
          </a:xfrm>
          <a:custGeom>
            <a:avLst/>
            <a:gdLst/>
            <a:ahLst/>
            <a:cxnLst/>
            <a:rect l="l" t="t" r="r" b="b"/>
            <a:pathLst>
              <a:path w="128273" h="114020">
                <a:moveTo>
                  <a:pt x="68924" y="-4209"/>
                </a:moveTo>
                <a:cubicBezTo>
                  <a:pt x="68011" y="-5991"/>
                  <a:pt x="66163" y="-7126"/>
                  <a:pt x="64159" y="-7126"/>
                </a:cubicBezTo>
                <a:cubicBezTo>
                  <a:pt x="62154" y="-7126"/>
                  <a:pt x="60306" y="-5991"/>
                  <a:pt x="59393" y="-4209"/>
                </a:cubicBezTo>
                <a:lnTo>
                  <a:pt x="43002" y="27904"/>
                </a:lnTo>
                <a:lnTo>
                  <a:pt x="7393" y="33560"/>
                </a:lnTo>
                <a:cubicBezTo>
                  <a:pt x="5411" y="33872"/>
                  <a:pt x="3764" y="35275"/>
                  <a:pt x="3140" y="37190"/>
                </a:cubicBezTo>
                <a:cubicBezTo>
                  <a:pt x="2516" y="39105"/>
                  <a:pt x="3029" y="41199"/>
                  <a:pt x="4432" y="42624"/>
                </a:cubicBezTo>
                <a:lnTo>
                  <a:pt x="29908" y="68123"/>
                </a:lnTo>
                <a:lnTo>
                  <a:pt x="24296" y="103732"/>
                </a:lnTo>
                <a:cubicBezTo>
                  <a:pt x="23984" y="105714"/>
                  <a:pt x="24808" y="107718"/>
                  <a:pt x="26434" y="108898"/>
                </a:cubicBezTo>
                <a:cubicBezTo>
                  <a:pt x="28060" y="110078"/>
                  <a:pt x="30197" y="110256"/>
                  <a:pt x="32001" y="109343"/>
                </a:cubicBezTo>
                <a:lnTo>
                  <a:pt x="64159" y="92998"/>
                </a:lnTo>
                <a:lnTo>
                  <a:pt x="96293" y="109343"/>
                </a:lnTo>
                <a:cubicBezTo>
                  <a:pt x="98075" y="110256"/>
                  <a:pt x="100235" y="110078"/>
                  <a:pt x="101861" y="108898"/>
                </a:cubicBezTo>
                <a:cubicBezTo>
                  <a:pt x="103487" y="107718"/>
                  <a:pt x="104311" y="105736"/>
                  <a:pt x="103999" y="103732"/>
                </a:cubicBezTo>
                <a:lnTo>
                  <a:pt x="98365" y="68123"/>
                </a:lnTo>
                <a:lnTo>
                  <a:pt x="123841" y="42624"/>
                </a:lnTo>
                <a:cubicBezTo>
                  <a:pt x="125266" y="41199"/>
                  <a:pt x="125756" y="39105"/>
                  <a:pt x="125133" y="37190"/>
                </a:cubicBezTo>
                <a:cubicBezTo>
                  <a:pt x="124509" y="35275"/>
                  <a:pt x="122883" y="33872"/>
                  <a:pt x="120879" y="33560"/>
                </a:cubicBezTo>
                <a:lnTo>
                  <a:pt x="85292" y="27904"/>
                </a:lnTo>
                <a:lnTo>
                  <a:pt x="68924" y="-4209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2" name="Text 59"/>
          <p:cNvSpPr/>
          <p:nvPr/>
        </p:nvSpPr>
        <p:spPr>
          <a:xfrm>
            <a:off x="6539355" y="5513683"/>
            <a:ext cx="2646894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100+ managed entries</a:t>
            </a:r>
            <a:pPr>
              <a:lnSpc>
                <a:spcPct val="130000"/>
              </a:lnSpc>
            </a:pPr>
            <a:r>
              <a:rPr lang="en-US" sz="102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capability metadata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6340838" y="5774301"/>
            <a:ext cx="128273" cy="114020"/>
          </a:xfrm>
          <a:custGeom>
            <a:avLst/>
            <a:gdLst/>
            <a:ahLst/>
            <a:cxnLst/>
            <a:rect l="l" t="t" r="r" b="b"/>
            <a:pathLst>
              <a:path w="128273" h="114020">
                <a:moveTo>
                  <a:pt x="68924" y="-4209"/>
                </a:moveTo>
                <a:cubicBezTo>
                  <a:pt x="68011" y="-5991"/>
                  <a:pt x="66163" y="-7126"/>
                  <a:pt x="64159" y="-7126"/>
                </a:cubicBezTo>
                <a:cubicBezTo>
                  <a:pt x="62154" y="-7126"/>
                  <a:pt x="60306" y="-5991"/>
                  <a:pt x="59393" y="-4209"/>
                </a:cubicBezTo>
                <a:lnTo>
                  <a:pt x="43002" y="27904"/>
                </a:lnTo>
                <a:lnTo>
                  <a:pt x="7393" y="33560"/>
                </a:lnTo>
                <a:cubicBezTo>
                  <a:pt x="5411" y="33872"/>
                  <a:pt x="3764" y="35275"/>
                  <a:pt x="3140" y="37190"/>
                </a:cubicBezTo>
                <a:cubicBezTo>
                  <a:pt x="2516" y="39105"/>
                  <a:pt x="3029" y="41199"/>
                  <a:pt x="4432" y="42624"/>
                </a:cubicBezTo>
                <a:lnTo>
                  <a:pt x="29908" y="68123"/>
                </a:lnTo>
                <a:lnTo>
                  <a:pt x="24296" y="103732"/>
                </a:lnTo>
                <a:cubicBezTo>
                  <a:pt x="23984" y="105714"/>
                  <a:pt x="24808" y="107718"/>
                  <a:pt x="26434" y="108898"/>
                </a:cubicBezTo>
                <a:cubicBezTo>
                  <a:pt x="28060" y="110078"/>
                  <a:pt x="30197" y="110256"/>
                  <a:pt x="32001" y="109343"/>
                </a:cubicBezTo>
                <a:lnTo>
                  <a:pt x="64159" y="92998"/>
                </a:lnTo>
                <a:lnTo>
                  <a:pt x="96293" y="109343"/>
                </a:lnTo>
                <a:cubicBezTo>
                  <a:pt x="98075" y="110256"/>
                  <a:pt x="100235" y="110078"/>
                  <a:pt x="101861" y="108898"/>
                </a:cubicBezTo>
                <a:cubicBezTo>
                  <a:pt x="103487" y="107718"/>
                  <a:pt x="104311" y="105736"/>
                  <a:pt x="103999" y="103732"/>
                </a:cubicBezTo>
                <a:lnTo>
                  <a:pt x="98365" y="68123"/>
                </a:lnTo>
                <a:lnTo>
                  <a:pt x="123841" y="42624"/>
                </a:lnTo>
                <a:cubicBezTo>
                  <a:pt x="125266" y="41199"/>
                  <a:pt x="125756" y="39105"/>
                  <a:pt x="125133" y="37190"/>
                </a:cubicBezTo>
                <a:cubicBezTo>
                  <a:pt x="124509" y="35275"/>
                  <a:pt x="122883" y="33872"/>
                  <a:pt x="120879" y="33560"/>
                </a:cubicBezTo>
                <a:lnTo>
                  <a:pt x="85292" y="27904"/>
                </a:lnTo>
                <a:lnTo>
                  <a:pt x="68924" y="-4209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4" name="Text 61"/>
          <p:cNvSpPr/>
          <p:nvPr/>
        </p:nvSpPr>
        <p:spPr>
          <a:xfrm>
            <a:off x="6539355" y="5741723"/>
            <a:ext cx="3054108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Task-aware routing</a:t>
            </a:r>
            <a:pPr>
              <a:lnSpc>
                <a:spcPct val="130000"/>
              </a:lnSpc>
            </a:pPr>
            <a:r>
              <a:rPr lang="en-US" sz="102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by reasoning strength, speed, cost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6340838" y="6002341"/>
            <a:ext cx="128273" cy="114020"/>
          </a:xfrm>
          <a:custGeom>
            <a:avLst/>
            <a:gdLst/>
            <a:ahLst/>
            <a:cxnLst/>
            <a:rect l="l" t="t" r="r" b="b"/>
            <a:pathLst>
              <a:path w="128273" h="114020">
                <a:moveTo>
                  <a:pt x="68924" y="-4209"/>
                </a:moveTo>
                <a:cubicBezTo>
                  <a:pt x="68011" y="-5991"/>
                  <a:pt x="66163" y="-7126"/>
                  <a:pt x="64159" y="-7126"/>
                </a:cubicBezTo>
                <a:cubicBezTo>
                  <a:pt x="62154" y="-7126"/>
                  <a:pt x="60306" y="-5991"/>
                  <a:pt x="59393" y="-4209"/>
                </a:cubicBezTo>
                <a:lnTo>
                  <a:pt x="43002" y="27904"/>
                </a:lnTo>
                <a:lnTo>
                  <a:pt x="7393" y="33560"/>
                </a:lnTo>
                <a:cubicBezTo>
                  <a:pt x="5411" y="33872"/>
                  <a:pt x="3764" y="35275"/>
                  <a:pt x="3140" y="37190"/>
                </a:cubicBezTo>
                <a:cubicBezTo>
                  <a:pt x="2516" y="39105"/>
                  <a:pt x="3029" y="41199"/>
                  <a:pt x="4432" y="42624"/>
                </a:cubicBezTo>
                <a:lnTo>
                  <a:pt x="29908" y="68123"/>
                </a:lnTo>
                <a:lnTo>
                  <a:pt x="24296" y="103732"/>
                </a:lnTo>
                <a:cubicBezTo>
                  <a:pt x="23984" y="105714"/>
                  <a:pt x="24808" y="107718"/>
                  <a:pt x="26434" y="108898"/>
                </a:cubicBezTo>
                <a:cubicBezTo>
                  <a:pt x="28060" y="110078"/>
                  <a:pt x="30197" y="110256"/>
                  <a:pt x="32001" y="109343"/>
                </a:cubicBezTo>
                <a:lnTo>
                  <a:pt x="64159" y="92998"/>
                </a:lnTo>
                <a:lnTo>
                  <a:pt x="96293" y="109343"/>
                </a:lnTo>
                <a:cubicBezTo>
                  <a:pt x="98075" y="110256"/>
                  <a:pt x="100235" y="110078"/>
                  <a:pt x="101861" y="108898"/>
                </a:cubicBezTo>
                <a:cubicBezTo>
                  <a:pt x="103487" y="107718"/>
                  <a:pt x="104311" y="105736"/>
                  <a:pt x="103999" y="103732"/>
                </a:cubicBezTo>
                <a:lnTo>
                  <a:pt x="98365" y="68123"/>
                </a:lnTo>
                <a:lnTo>
                  <a:pt x="123841" y="42624"/>
                </a:lnTo>
                <a:cubicBezTo>
                  <a:pt x="125266" y="41199"/>
                  <a:pt x="125756" y="39105"/>
                  <a:pt x="125133" y="37190"/>
                </a:cubicBezTo>
                <a:cubicBezTo>
                  <a:pt x="124509" y="35275"/>
                  <a:pt x="122883" y="33872"/>
                  <a:pt x="120879" y="33560"/>
                </a:cubicBezTo>
                <a:lnTo>
                  <a:pt x="85292" y="27904"/>
                </a:lnTo>
                <a:lnTo>
                  <a:pt x="68924" y="-4209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6" name="Text 63"/>
          <p:cNvSpPr/>
          <p:nvPr/>
        </p:nvSpPr>
        <p:spPr>
          <a:xfrm>
            <a:off x="6539355" y="5969764"/>
            <a:ext cx="3021531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Health scoring</a:t>
            </a:r>
            <a:pPr>
              <a:lnSpc>
                <a:spcPct val="130000"/>
              </a:lnSpc>
            </a:pPr>
            <a:r>
              <a:rPr lang="en-US" sz="1026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per-model latency/error tracking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4.1 CORE CAPABILITIES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Comprehensive Feature Set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00150"/>
            <a:ext cx="3705225" cy="2038350"/>
          </a:xfrm>
          <a:custGeom>
            <a:avLst/>
            <a:gdLst/>
            <a:ahLst/>
            <a:cxnLst/>
            <a:rect l="l" t="t" r="r" b="b"/>
            <a:pathLst>
              <a:path w="3705225" h="2038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962156"/>
                </a:lnTo>
                <a:cubicBezTo>
                  <a:pt x="3705225" y="2004237"/>
                  <a:pt x="3671112" y="2038350"/>
                  <a:pt x="3629031" y="2038350"/>
                </a:cubicBezTo>
                <a:lnTo>
                  <a:pt x="76194" y="2038350"/>
                </a:lnTo>
                <a:cubicBezTo>
                  <a:pt x="34113" y="2038350"/>
                  <a:pt x="0" y="2004237"/>
                  <a:pt x="0" y="19621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200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66750" y="1504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1438"/>
                </a:lnTo>
                <a:cubicBezTo>
                  <a:pt x="190500" y="58303"/>
                  <a:pt x="179822" y="47625"/>
                  <a:pt x="166688" y="47625"/>
                </a:cubicBezTo>
                <a:lnTo>
                  <a:pt x="26789" y="47625"/>
                </a:lnTo>
                <a:cubicBezTo>
                  <a:pt x="21841" y="47625"/>
                  <a:pt x="17859" y="43644"/>
                  <a:pt x="17859" y="38695"/>
                </a:cubicBezTo>
                <a:cubicBezTo>
                  <a:pt x="17859" y="33747"/>
                  <a:pt x="21841" y="29766"/>
                  <a:pt x="26789" y="29766"/>
                </a:cubicBezTo>
                <a:lnTo>
                  <a:pt x="169664" y="29766"/>
                </a:lnTo>
                <a:cubicBezTo>
                  <a:pt x="174613" y="29766"/>
                  <a:pt x="178594" y="25784"/>
                  <a:pt x="178594" y="20836"/>
                </a:cubicBezTo>
                <a:cubicBezTo>
                  <a:pt x="178594" y="15887"/>
                  <a:pt x="174613" y="11906"/>
                  <a:pt x="169664" y="11906"/>
                </a:cubicBezTo>
                <a:lnTo>
                  <a:pt x="23812" y="11906"/>
                </a:lnTo>
                <a:close/>
                <a:moveTo>
                  <a:pt x="154781" y="95250"/>
                </a:moveTo>
                <a:cubicBezTo>
                  <a:pt x="161352" y="95250"/>
                  <a:pt x="166688" y="100585"/>
                  <a:pt x="166688" y="107156"/>
                </a:cubicBezTo>
                <a:cubicBezTo>
                  <a:pt x="166688" y="113727"/>
                  <a:pt x="161352" y="119063"/>
                  <a:pt x="154781" y="119063"/>
                </a:cubicBezTo>
                <a:cubicBezTo>
                  <a:pt x="148210" y="119063"/>
                  <a:pt x="142875" y="113727"/>
                  <a:pt x="142875" y="107156"/>
                </a:cubicBezTo>
                <a:cubicBezTo>
                  <a:pt x="142875" y="100585"/>
                  <a:pt x="148210" y="95250"/>
                  <a:pt x="154781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04900" y="1466850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Personal Finance Tracking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0784" y="1981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776288" y="1943100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Transaction management &amp; categorization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0784" y="2286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776288" y="2247900"/>
            <a:ext cx="2066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Budget creation &amp; monitoring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0784" y="2590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76288" y="2552700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Financial goals &amp; debt tracking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0784" y="2895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76288" y="2857500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Analytics &amp; visualizations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41750" y="1200150"/>
            <a:ext cx="3705225" cy="2038350"/>
          </a:xfrm>
          <a:custGeom>
            <a:avLst/>
            <a:gdLst/>
            <a:ahLst/>
            <a:cxnLst/>
            <a:rect l="l" t="t" r="r" b="b"/>
            <a:pathLst>
              <a:path w="3705225" h="2038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962156"/>
                </a:lnTo>
                <a:cubicBezTo>
                  <a:pt x="3705225" y="2004237"/>
                  <a:pt x="3671112" y="2038350"/>
                  <a:pt x="3629031" y="2038350"/>
                </a:cubicBezTo>
                <a:lnTo>
                  <a:pt x="76194" y="2038350"/>
                </a:lnTo>
                <a:cubicBezTo>
                  <a:pt x="34113" y="2038350"/>
                  <a:pt x="0" y="2004237"/>
                  <a:pt x="0" y="19621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4241750" y="1200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9" name="Shape 17"/>
          <p:cNvSpPr/>
          <p:nvPr/>
        </p:nvSpPr>
        <p:spPr>
          <a:xfrm>
            <a:off x="4394150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20" name="Shape 18"/>
          <p:cNvSpPr/>
          <p:nvPr/>
        </p:nvSpPr>
        <p:spPr>
          <a:xfrm>
            <a:off x="4503688" y="15049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65650" y="146685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AI-Assisted Guidance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21535" y="1981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23" name="Text 21"/>
          <p:cNvSpPr/>
          <p:nvPr/>
        </p:nvSpPr>
        <p:spPr>
          <a:xfrm>
            <a:off x="4637038" y="1943100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Multi-agent financial advisory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21535" y="2286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25" name="Text 23"/>
          <p:cNvSpPr/>
          <p:nvPr/>
        </p:nvSpPr>
        <p:spPr>
          <a:xfrm>
            <a:off x="4637038" y="224790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What-if scenario analysis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21535" y="2590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27" name="Text 25"/>
          <p:cNvSpPr/>
          <p:nvPr/>
        </p:nvSpPr>
        <p:spPr>
          <a:xfrm>
            <a:off x="4637038" y="2552700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Actionable insights generation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21535" y="2895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29" name="Text 27"/>
          <p:cNvSpPr/>
          <p:nvPr/>
        </p:nvSpPr>
        <p:spPr>
          <a:xfrm>
            <a:off x="4637038" y="2857500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Intelligent task creation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02501" y="1200150"/>
            <a:ext cx="3705225" cy="2038350"/>
          </a:xfrm>
          <a:custGeom>
            <a:avLst/>
            <a:gdLst/>
            <a:ahLst/>
            <a:cxnLst/>
            <a:rect l="l" t="t" r="r" b="b"/>
            <a:pathLst>
              <a:path w="3705225" h="2038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962156"/>
                </a:lnTo>
                <a:cubicBezTo>
                  <a:pt x="3705225" y="2004237"/>
                  <a:pt x="3671112" y="2038350"/>
                  <a:pt x="3629031" y="2038350"/>
                </a:cubicBezTo>
                <a:lnTo>
                  <a:pt x="76194" y="2038350"/>
                </a:lnTo>
                <a:cubicBezTo>
                  <a:pt x="34113" y="2038350"/>
                  <a:pt x="0" y="2004237"/>
                  <a:pt x="0" y="19621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8102501" y="1200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2" name="Shape 30"/>
          <p:cNvSpPr/>
          <p:nvPr/>
        </p:nvSpPr>
        <p:spPr>
          <a:xfrm>
            <a:off x="8254901" y="1371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3" name="Shape 31"/>
          <p:cNvSpPr/>
          <p:nvPr/>
        </p:nvSpPr>
        <p:spPr>
          <a:xfrm>
            <a:off x="8364438" y="15049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826401" y="1466850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Workflow Automation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82285" y="1981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6" name="Text 34"/>
          <p:cNvSpPr/>
          <p:nvPr/>
        </p:nvSpPr>
        <p:spPr>
          <a:xfrm>
            <a:off x="8497788" y="1943100"/>
            <a:ext cx="1562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Scheduled tasks (cron)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82285" y="2286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8" name="Text 36"/>
          <p:cNvSpPr/>
          <p:nvPr/>
        </p:nvSpPr>
        <p:spPr>
          <a:xfrm>
            <a:off x="8497788" y="2247900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Event-driven automation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82285" y="2590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0" name="Text 38"/>
          <p:cNvSpPr/>
          <p:nvPr/>
        </p:nvSpPr>
        <p:spPr>
          <a:xfrm>
            <a:off x="8497788" y="25527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Multi-action sequences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82285" y="2895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2" name="Text 40"/>
          <p:cNvSpPr/>
          <p:nvPr/>
        </p:nvSpPr>
        <p:spPr>
          <a:xfrm>
            <a:off x="8497788" y="28575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Template-based workflows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1000" y="3409950"/>
            <a:ext cx="3705225" cy="2038350"/>
          </a:xfrm>
          <a:custGeom>
            <a:avLst/>
            <a:gdLst/>
            <a:ahLst/>
            <a:cxnLst/>
            <a:rect l="l" t="t" r="r" b="b"/>
            <a:pathLst>
              <a:path w="3705225" h="2038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962156"/>
                </a:lnTo>
                <a:cubicBezTo>
                  <a:pt x="3705225" y="2004237"/>
                  <a:pt x="3671112" y="2038350"/>
                  <a:pt x="3629031" y="2038350"/>
                </a:cubicBezTo>
                <a:lnTo>
                  <a:pt x="76194" y="2038350"/>
                </a:lnTo>
                <a:cubicBezTo>
                  <a:pt x="34113" y="2038350"/>
                  <a:pt x="0" y="2004237"/>
                  <a:pt x="0" y="19621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4" name="Shape 42"/>
          <p:cNvSpPr/>
          <p:nvPr/>
        </p:nvSpPr>
        <p:spPr>
          <a:xfrm>
            <a:off x="381000" y="34099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533400" y="3581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666750" y="3714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54781"/>
                </a:moveTo>
                <a:lnTo>
                  <a:pt x="0" y="44648"/>
                </a:lnTo>
                <a:cubicBezTo>
                  <a:pt x="0" y="39700"/>
                  <a:pt x="3981" y="35719"/>
                  <a:pt x="8930" y="35719"/>
                </a:cubicBezTo>
                <a:cubicBezTo>
                  <a:pt x="13878" y="35719"/>
                  <a:pt x="17859" y="39700"/>
                  <a:pt x="17859" y="44648"/>
                </a:cubicBezTo>
                <a:lnTo>
                  <a:pt x="17859" y="151805"/>
                </a:lnTo>
                <a:cubicBezTo>
                  <a:pt x="17859" y="156753"/>
                  <a:pt x="21841" y="160734"/>
                  <a:pt x="26789" y="160734"/>
                </a:cubicBezTo>
                <a:cubicBezTo>
                  <a:pt x="31738" y="160734"/>
                  <a:pt x="35719" y="156753"/>
                  <a:pt x="35719" y="151805"/>
                </a:cubicBezTo>
                <a:lnTo>
                  <a:pt x="35719" y="35719"/>
                </a:lnTo>
                <a:cubicBezTo>
                  <a:pt x="35719" y="22585"/>
                  <a:pt x="46397" y="11906"/>
                  <a:pt x="59531" y="11906"/>
                </a:cubicBezTo>
                <a:lnTo>
                  <a:pt x="166688" y="11906"/>
                </a:lnTo>
                <a:cubicBezTo>
                  <a:pt x="179822" y="11906"/>
                  <a:pt x="190500" y="22585"/>
                  <a:pt x="190500" y="35719"/>
                </a:cubicBezTo>
                <a:lnTo>
                  <a:pt x="190500" y="154781"/>
                </a:lnTo>
                <a:cubicBezTo>
                  <a:pt x="190500" y="167915"/>
                  <a:pt x="179822" y="178594"/>
                  <a:pt x="166688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close/>
                <a:moveTo>
                  <a:pt x="59531" y="47625"/>
                </a:moveTo>
                <a:lnTo>
                  <a:pt x="59531" y="71438"/>
                </a:lnTo>
                <a:cubicBezTo>
                  <a:pt x="59531" y="78023"/>
                  <a:pt x="64852" y="83344"/>
                  <a:pt x="71438" y="83344"/>
                </a:cubicBezTo>
                <a:lnTo>
                  <a:pt x="95250" y="83344"/>
                </a:lnTo>
                <a:cubicBezTo>
                  <a:pt x="101836" y="83344"/>
                  <a:pt x="107156" y="78023"/>
                  <a:pt x="107156" y="71438"/>
                </a:cubicBezTo>
                <a:lnTo>
                  <a:pt x="107156" y="47625"/>
                </a:lnTo>
                <a:cubicBezTo>
                  <a:pt x="107156" y="41039"/>
                  <a:pt x="101836" y="35719"/>
                  <a:pt x="95250" y="35719"/>
                </a:cubicBezTo>
                <a:lnTo>
                  <a:pt x="71438" y="35719"/>
                </a:lnTo>
                <a:cubicBezTo>
                  <a:pt x="64852" y="35719"/>
                  <a:pt x="59531" y="41039"/>
                  <a:pt x="59531" y="47625"/>
                </a:cubicBezTo>
                <a:close/>
                <a:moveTo>
                  <a:pt x="68461" y="136922"/>
                </a:moveTo>
                <a:cubicBezTo>
                  <a:pt x="63512" y="136922"/>
                  <a:pt x="59531" y="140903"/>
                  <a:pt x="59531" y="145852"/>
                </a:cubicBezTo>
                <a:cubicBezTo>
                  <a:pt x="59531" y="150800"/>
                  <a:pt x="63512" y="154781"/>
                  <a:pt x="68461" y="154781"/>
                </a:cubicBezTo>
                <a:lnTo>
                  <a:pt x="157758" y="154781"/>
                </a:lnTo>
                <a:cubicBezTo>
                  <a:pt x="162706" y="154781"/>
                  <a:pt x="166688" y="150800"/>
                  <a:pt x="166688" y="145852"/>
                </a:cubicBezTo>
                <a:cubicBezTo>
                  <a:pt x="166688" y="140903"/>
                  <a:pt x="162706" y="136922"/>
                  <a:pt x="157758" y="136922"/>
                </a:cubicBezTo>
                <a:lnTo>
                  <a:pt x="68461" y="136922"/>
                </a:lnTo>
                <a:close/>
                <a:moveTo>
                  <a:pt x="59531" y="110133"/>
                </a:moveTo>
                <a:cubicBezTo>
                  <a:pt x="59531" y="115081"/>
                  <a:pt x="63512" y="119063"/>
                  <a:pt x="68461" y="119063"/>
                </a:cubicBezTo>
                <a:lnTo>
                  <a:pt x="157758" y="119063"/>
                </a:lnTo>
                <a:cubicBezTo>
                  <a:pt x="162706" y="119063"/>
                  <a:pt x="166688" y="115081"/>
                  <a:pt x="166688" y="110133"/>
                </a:cubicBezTo>
                <a:cubicBezTo>
                  <a:pt x="166688" y="105184"/>
                  <a:pt x="162706" y="101203"/>
                  <a:pt x="157758" y="101203"/>
                </a:cubicBezTo>
                <a:lnTo>
                  <a:pt x="68461" y="101203"/>
                </a:lnTo>
                <a:cubicBezTo>
                  <a:pt x="63512" y="101203"/>
                  <a:pt x="59531" y="105184"/>
                  <a:pt x="59531" y="110133"/>
                </a:cubicBezTo>
                <a:close/>
                <a:moveTo>
                  <a:pt x="133945" y="65484"/>
                </a:moveTo>
                <a:cubicBezTo>
                  <a:pt x="128997" y="65484"/>
                  <a:pt x="125016" y="69466"/>
                  <a:pt x="125016" y="74414"/>
                </a:cubicBezTo>
                <a:cubicBezTo>
                  <a:pt x="125016" y="79363"/>
                  <a:pt x="128997" y="83344"/>
                  <a:pt x="133945" y="83344"/>
                </a:cubicBezTo>
                <a:lnTo>
                  <a:pt x="157758" y="83344"/>
                </a:lnTo>
                <a:cubicBezTo>
                  <a:pt x="162706" y="83344"/>
                  <a:pt x="166688" y="79363"/>
                  <a:pt x="166688" y="74414"/>
                </a:cubicBezTo>
                <a:cubicBezTo>
                  <a:pt x="166688" y="69466"/>
                  <a:pt x="162706" y="65484"/>
                  <a:pt x="157758" y="65484"/>
                </a:cubicBezTo>
                <a:lnTo>
                  <a:pt x="133945" y="6548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1104900" y="367665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Content Publishing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60784" y="4191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9" name="Text 47"/>
          <p:cNvSpPr/>
          <p:nvPr/>
        </p:nvSpPr>
        <p:spPr>
          <a:xfrm>
            <a:off x="776288" y="4152900"/>
            <a:ext cx="199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Blog creation &amp; management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60784" y="4495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1" name="Text 49"/>
          <p:cNvSpPr/>
          <p:nvPr/>
        </p:nvSpPr>
        <p:spPr>
          <a:xfrm>
            <a:off x="776288" y="4457700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Growth stories sharing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60784" y="4800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3" name="Text 51"/>
          <p:cNvSpPr/>
          <p:nvPr/>
        </p:nvSpPr>
        <p:spPr>
          <a:xfrm>
            <a:off x="776288" y="476250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Public share pages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60784" y="5105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5" name="Text 53"/>
          <p:cNvSpPr/>
          <p:nvPr/>
        </p:nvSpPr>
        <p:spPr>
          <a:xfrm>
            <a:off x="776288" y="50673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Media management (GridFS)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241750" y="3409950"/>
            <a:ext cx="3705225" cy="2038350"/>
          </a:xfrm>
          <a:custGeom>
            <a:avLst/>
            <a:gdLst/>
            <a:ahLst/>
            <a:cxnLst/>
            <a:rect l="l" t="t" r="r" b="b"/>
            <a:pathLst>
              <a:path w="3705225" h="2038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962156"/>
                </a:lnTo>
                <a:cubicBezTo>
                  <a:pt x="3705225" y="2004237"/>
                  <a:pt x="3671112" y="2038350"/>
                  <a:pt x="3629031" y="2038350"/>
                </a:cubicBezTo>
                <a:lnTo>
                  <a:pt x="76194" y="2038350"/>
                </a:lnTo>
                <a:cubicBezTo>
                  <a:pt x="34113" y="2038350"/>
                  <a:pt x="0" y="2004237"/>
                  <a:pt x="0" y="19621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7" name="Shape 55"/>
          <p:cNvSpPr/>
          <p:nvPr/>
        </p:nvSpPr>
        <p:spPr>
          <a:xfrm>
            <a:off x="4241750" y="34099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8" name="Shape 56"/>
          <p:cNvSpPr/>
          <p:nvPr/>
        </p:nvSpPr>
        <p:spPr>
          <a:xfrm>
            <a:off x="4394150" y="3581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9" name="Shape 57"/>
          <p:cNvSpPr/>
          <p:nvPr/>
        </p:nvSpPr>
        <p:spPr>
          <a:xfrm>
            <a:off x="4551313" y="3714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4965650" y="367665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Organization Workspaces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421535" y="4191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62" name="Text 60"/>
          <p:cNvSpPr/>
          <p:nvPr/>
        </p:nvSpPr>
        <p:spPr>
          <a:xfrm>
            <a:off x="4637038" y="4152900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Multi-tenant architecture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421535" y="4495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64" name="Text 62"/>
          <p:cNvSpPr/>
          <p:nvPr/>
        </p:nvSpPr>
        <p:spPr>
          <a:xfrm>
            <a:off x="4637038" y="4457700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Member management &amp; invites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421535" y="4800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66" name="Text 64"/>
          <p:cNvSpPr/>
          <p:nvPr/>
        </p:nvSpPr>
        <p:spPr>
          <a:xfrm>
            <a:off x="4637038" y="4762500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Role-based permissions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421535" y="5105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68" name="Text 66"/>
          <p:cNvSpPr/>
          <p:nvPr/>
        </p:nvSpPr>
        <p:spPr>
          <a:xfrm>
            <a:off x="4637038" y="506730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Activity feed &amp; comments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102501" y="3409950"/>
            <a:ext cx="3705225" cy="2038350"/>
          </a:xfrm>
          <a:custGeom>
            <a:avLst/>
            <a:gdLst/>
            <a:ahLst/>
            <a:cxnLst/>
            <a:rect l="l" t="t" r="r" b="b"/>
            <a:pathLst>
              <a:path w="3705225" h="20383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962156"/>
                </a:lnTo>
                <a:cubicBezTo>
                  <a:pt x="3705225" y="2004237"/>
                  <a:pt x="3671112" y="2038350"/>
                  <a:pt x="3629031" y="2038350"/>
                </a:cubicBezTo>
                <a:lnTo>
                  <a:pt x="76194" y="2038350"/>
                </a:lnTo>
                <a:cubicBezTo>
                  <a:pt x="34113" y="2038350"/>
                  <a:pt x="0" y="2004237"/>
                  <a:pt x="0" y="19621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0" name="Shape 68"/>
          <p:cNvSpPr/>
          <p:nvPr/>
        </p:nvSpPr>
        <p:spPr>
          <a:xfrm>
            <a:off x="8102501" y="34099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71" name="Shape 69"/>
          <p:cNvSpPr/>
          <p:nvPr/>
        </p:nvSpPr>
        <p:spPr>
          <a:xfrm>
            <a:off x="8254901" y="3581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72" name="Shape 70"/>
          <p:cNvSpPr/>
          <p:nvPr/>
        </p:nvSpPr>
        <p:spPr>
          <a:xfrm>
            <a:off x="8400157" y="3714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8826401" y="367665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Advanced Integrations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282285" y="4191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75" name="Text 73"/>
          <p:cNvSpPr/>
          <p:nvPr/>
        </p:nvSpPr>
        <p:spPr>
          <a:xfrm>
            <a:off x="8497788" y="41529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Receipt OCR (PaddleOCR)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282285" y="4495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77" name="Text 75"/>
          <p:cNvSpPr/>
          <p:nvPr/>
        </p:nvSpPr>
        <p:spPr>
          <a:xfrm>
            <a:off x="8497788" y="445770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Handwriting recognition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8282285" y="48006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79" name="Text 77"/>
          <p:cNvSpPr/>
          <p:nvPr/>
        </p:nvSpPr>
        <p:spPr>
          <a:xfrm>
            <a:off x="8497788" y="476250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Bank connector stubs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8282285" y="5105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81" name="Text 79"/>
          <p:cNvSpPr/>
          <p:nvPr/>
        </p:nvSpPr>
        <p:spPr>
          <a:xfrm>
            <a:off x="8497788" y="5067300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Export (CSV, PDF)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385763" y="5605463"/>
            <a:ext cx="11420475" cy="561975"/>
          </a:xfrm>
          <a:custGeom>
            <a:avLst/>
            <a:gdLst/>
            <a:ahLst/>
            <a:cxnLst/>
            <a:rect l="l" t="t" r="r" b="b"/>
            <a:pathLst>
              <a:path w="11420475" h="56197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485777"/>
                </a:lnTo>
                <a:cubicBezTo>
                  <a:pt x="11420475" y="527860"/>
                  <a:pt x="11386360" y="561975"/>
                  <a:pt x="11344277" y="561975"/>
                </a:cubicBezTo>
                <a:lnTo>
                  <a:pt x="76198" y="561975"/>
                </a:lnTo>
                <a:cubicBezTo>
                  <a:pt x="34143" y="561975"/>
                  <a:pt x="0" y="527832"/>
                  <a:pt x="0" y="4857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04825" y="5762625"/>
            <a:ext cx="111823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Platform Coverage: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34 pages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with PWA support • 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100+ API endpoints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• 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49 data models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• </a:t>
            </a:r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AI agents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4.2 WORKFLOW 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Intelligent Automation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254750" cy="2619375"/>
          </a:xfrm>
          <a:custGeom>
            <a:avLst/>
            <a:gdLst/>
            <a:ahLst/>
            <a:cxnLst/>
            <a:rect l="l" t="t" r="r" b="b"/>
            <a:pathLst>
              <a:path w="6254750" h="2619375">
                <a:moveTo>
                  <a:pt x="63494" y="0"/>
                </a:moveTo>
                <a:lnTo>
                  <a:pt x="6191256" y="0"/>
                </a:lnTo>
                <a:cubicBezTo>
                  <a:pt x="6226323" y="0"/>
                  <a:pt x="6254750" y="28427"/>
                  <a:pt x="6254750" y="63494"/>
                </a:cubicBezTo>
                <a:lnTo>
                  <a:pt x="6254750" y="2555881"/>
                </a:lnTo>
                <a:cubicBezTo>
                  <a:pt x="6254750" y="2590948"/>
                  <a:pt x="6226323" y="2619375"/>
                  <a:pt x="6191256" y="2619375"/>
                </a:cubicBezTo>
                <a:lnTo>
                  <a:pt x="63494" y="2619375"/>
                </a:lnTo>
                <a:cubicBezTo>
                  <a:pt x="28427" y="2619375"/>
                  <a:pt x="0" y="2590948"/>
                  <a:pt x="0" y="2555881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506016" y="117475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05048" y="-3070"/>
                </a:moveTo>
                <a:cubicBezTo>
                  <a:pt x="108738" y="-403"/>
                  <a:pt x="110102" y="4434"/>
                  <a:pt x="108427" y="8651"/>
                </a:cubicBezTo>
                <a:lnTo>
                  <a:pt x="84119" y="69453"/>
                </a:lnTo>
                <a:lnTo>
                  <a:pt x="128984" y="69453"/>
                </a:lnTo>
                <a:cubicBezTo>
                  <a:pt x="133170" y="69453"/>
                  <a:pt x="136891" y="72058"/>
                  <a:pt x="138317" y="75995"/>
                </a:cubicBezTo>
                <a:cubicBezTo>
                  <a:pt x="139743" y="79933"/>
                  <a:pt x="138534" y="84336"/>
                  <a:pt x="135341" y="87002"/>
                </a:cubicBezTo>
                <a:lnTo>
                  <a:pt x="46044" y="161417"/>
                </a:lnTo>
                <a:cubicBezTo>
                  <a:pt x="42540" y="164331"/>
                  <a:pt x="37548" y="164486"/>
                  <a:pt x="33858" y="161820"/>
                </a:cubicBezTo>
                <a:cubicBezTo>
                  <a:pt x="30169" y="159153"/>
                  <a:pt x="28804" y="154316"/>
                  <a:pt x="30479" y="150099"/>
                </a:cubicBezTo>
                <a:lnTo>
                  <a:pt x="54787" y="89297"/>
                </a:lnTo>
                <a:lnTo>
                  <a:pt x="9922" y="89297"/>
                </a:lnTo>
                <a:cubicBezTo>
                  <a:pt x="5736" y="89297"/>
                  <a:pt x="2015" y="86692"/>
                  <a:pt x="589" y="82755"/>
                </a:cubicBezTo>
                <a:cubicBezTo>
                  <a:pt x="-837" y="78817"/>
                  <a:pt x="372" y="74414"/>
                  <a:pt x="3566" y="71748"/>
                </a:cubicBezTo>
                <a:lnTo>
                  <a:pt x="92863" y="-2667"/>
                </a:lnTo>
                <a:cubicBezTo>
                  <a:pt x="96366" y="-5581"/>
                  <a:pt x="101358" y="-5736"/>
                  <a:pt x="105048" y="-307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74688" y="1143000"/>
            <a:ext cx="5818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Trigger Types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0219" y="1496219"/>
            <a:ext cx="5929313" cy="579438"/>
          </a:xfrm>
          <a:custGeom>
            <a:avLst/>
            <a:gdLst/>
            <a:ahLst/>
            <a:cxnLst/>
            <a:rect l="l" t="t" r="r" b="b"/>
            <a:pathLst>
              <a:path w="5929313" h="579438">
                <a:moveTo>
                  <a:pt x="31747" y="0"/>
                </a:moveTo>
                <a:lnTo>
                  <a:pt x="5897565" y="0"/>
                </a:lnTo>
                <a:cubicBezTo>
                  <a:pt x="5915099" y="0"/>
                  <a:pt x="5929313" y="14214"/>
                  <a:pt x="5929313" y="31747"/>
                </a:cubicBezTo>
                <a:lnTo>
                  <a:pt x="5929313" y="547690"/>
                </a:lnTo>
                <a:cubicBezTo>
                  <a:pt x="5929313" y="565224"/>
                  <a:pt x="5915099" y="579437"/>
                  <a:pt x="5897565" y="579438"/>
                </a:cubicBezTo>
                <a:lnTo>
                  <a:pt x="31747" y="579438"/>
                </a:lnTo>
                <a:cubicBezTo>
                  <a:pt x="14214" y="579438"/>
                  <a:pt x="0" y="565224"/>
                  <a:pt x="0" y="547690"/>
                </a:cubicBezTo>
                <a:lnTo>
                  <a:pt x="0" y="31747"/>
                </a:lnTo>
                <a:cubicBezTo>
                  <a:pt x="0" y="14214"/>
                  <a:pt x="14214" y="0"/>
                  <a:pt x="3174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9438" y="159543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682625" y="169068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31750" y="9922"/>
                </a:moveTo>
                <a:cubicBezTo>
                  <a:pt x="31750" y="4440"/>
                  <a:pt x="36190" y="0"/>
                  <a:pt x="41672" y="0"/>
                </a:cubicBezTo>
                <a:cubicBezTo>
                  <a:pt x="47154" y="0"/>
                  <a:pt x="51594" y="4440"/>
                  <a:pt x="51594" y="9922"/>
                </a:cubicBezTo>
                <a:lnTo>
                  <a:pt x="51594" y="46682"/>
                </a:lnTo>
                <a:cubicBezTo>
                  <a:pt x="53702" y="44797"/>
                  <a:pt x="56480" y="43656"/>
                  <a:pt x="59531" y="43656"/>
                </a:cubicBezTo>
                <a:cubicBezTo>
                  <a:pt x="64641" y="43656"/>
                  <a:pt x="69007" y="46881"/>
                  <a:pt x="70693" y="51395"/>
                </a:cubicBezTo>
                <a:cubicBezTo>
                  <a:pt x="72876" y="49088"/>
                  <a:pt x="75952" y="47625"/>
                  <a:pt x="79375" y="47625"/>
                </a:cubicBezTo>
                <a:cubicBezTo>
                  <a:pt x="85651" y="47625"/>
                  <a:pt x="90785" y="52462"/>
                  <a:pt x="91256" y="58613"/>
                </a:cubicBezTo>
                <a:cubicBezTo>
                  <a:pt x="93365" y="56704"/>
                  <a:pt x="96168" y="55563"/>
                  <a:pt x="99219" y="55563"/>
                </a:cubicBezTo>
                <a:cubicBezTo>
                  <a:pt x="105792" y="55563"/>
                  <a:pt x="111125" y="60896"/>
                  <a:pt x="111125" y="67469"/>
                </a:cubicBezTo>
                <a:lnTo>
                  <a:pt x="111125" y="95250"/>
                </a:lnTo>
                <a:cubicBezTo>
                  <a:pt x="111125" y="112787"/>
                  <a:pt x="96912" y="127000"/>
                  <a:pt x="79375" y="127000"/>
                </a:cubicBezTo>
                <a:lnTo>
                  <a:pt x="58217" y="127000"/>
                </a:lnTo>
                <a:cubicBezTo>
                  <a:pt x="56976" y="127000"/>
                  <a:pt x="55761" y="126926"/>
                  <a:pt x="54570" y="126752"/>
                </a:cubicBezTo>
                <a:cubicBezTo>
                  <a:pt x="40853" y="125363"/>
                  <a:pt x="28228" y="118318"/>
                  <a:pt x="19844" y="107156"/>
                </a:cubicBezTo>
                <a:lnTo>
                  <a:pt x="1984" y="83344"/>
                </a:lnTo>
                <a:cubicBezTo>
                  <a:pt x="-1315" y="78953"/>
                  <a:pt x="-422" y="72752"/>
                  <a:pt x="3969" y="69453"/>
                </a:cubicBezTo>
                <a:cubicBezTo>
                  <a:pt x="8359" y="66154"/>
                  <a:pt x="14560" y="67047"/>
                  <a:pt x="17859" y="71438"/>
                </a:cubicBezTo>
                <a:lnTo>
                  <a:pt x="31750" y="89967"/>
                </a:lnTo>
                <a:lnTo>
                  <a:pt x="31750" y="9922"/>
                </a:lnTo>
                <a:close/>
                <a:moveTo>
                  <a:pt x="59531" y="75406"/>
                </a:moveTo>
                <a:cubicBezTo>
                  <a:pt x="59531" y="73223"/>
                  <a:pt x="57745" y="71438"/>
                  <a:pt x="55563" y="71438"/>
                </a:cubicBezTo>
                <a:cubicBezTo>
                  <a:pt x="53380" y="71438"/>
                  <a:pt x="51594" y="73223"/>
                  <a:pt x="51594" y="75406"/>
                </a:cubicBezTo>
                <a:lnTo>
                  <a:pt x="51594" y="99219"/>
                </a:lnTo>
                <a:cubicBezTo>
                  <a:pt x="51594" y="101402"/>
                  <a:pt x="53380" y="103188"/>
                  <a:pt x="55563" y="103188"/>
                </a:cubicBezTo>
                <a:cubicBezTo>
                  <a:pt x="57745" y="103188"/>
                  <a:pt x="59531" y="101402"/>
                  <a:pt x="59531" y="99219"/>
                </a:cubicBezTo>
                <a:lnTo>
                  <a:pt x="59531" y="75406"/>
                </a:lnTo>
                <a:close/>
                <a:moveTo>
                  <a:pt x="71438" y="71438"/>
                </a:moveTo>
                <a:cubicBezTo>
                  <a:pt x="69255" y="71438"/>
                  <a:pt x="67469" y="73223"/>
                  <a:pt x="67469" y="75406"/>
                </a:cubicBezTo>
                <a:lnTo>
                  <a:pt x="67469" y="99219"/>
                </a:lnTo>
                <a:cubicBezTo>
                  <a:pt x="67469" y="101402"/>
                  <a:pt x="69255" y="103188"/>
                  <a:pt x="71438" y="103188"/>
                </a:cubicBezTo>
                <a:cubicBezTo>
                  <a:pt x="73620" y="103188"/>
                  <a:pt x="75406" y="101402"/>
                  <a:pt x="75406" y="99219"/>
                </a:cubicBezTo>
                <a:lnTo>
                  <a:pt x="75406" y="75406"/>
                </a:lnTo>
                <a:cubicBezTo>
                  <a:pt x="75406" y="73223"/>
                  <a:pt x="73620" y="71438"/>
                  <a:pt x="71438" y="71438"/>
                </a:cubicBezTo>
                <a:close/>
                <a:moveTo>
                  <a:pt x="91281" y="75406"/>
                </a:moveTo>
                <a:cubicBezTo>
                  <a:pt x="91281" y="73223"/>
                  <a:pt x="89495" y="71438"/>
                  <a:pt x="87313" y="71438"/>
                </a:cubicBezTo>
                <a:cubicBezTo>
                  <a:pt x="85130" y="71438"/>
                  <a:pt x="83344" y="73223"/>
                  <a:pt x="83344" y="75406"/>
                </a:cubicBezTo>
                <a:lnTo>
                  <a:pt x="83344" y="99219"/>
                </a:lnTo>
                <a:cubicBezTo>
                  <a:pt x="83344" y="101402"/>
                  <a:pt x="85130" y="103188"/>
                  <a:pt x="87313" y="103188"/>
                </a:cubicBezTo>
                <a:cubicBezTo>
                  <a:pt x="89495" y="103188"/>
                  <a:pt x="91281" y="101402"/>
                  <a:pt x="91281" y="99219"/>
                </a:cubicBezTo>
                <a:lnTo>
                  <a:pt x="91281" y="754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92188" y="1595438"/>
            <a:ext cx="3516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Manual Trigger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2188" y="1785938"/>
            <a:ext cx="3516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Explicitly triggered via API endpoint. No automatic scheduling.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0219" y="2178844"/>
            <a:ext cx="5929313" cy="579438"/>
          </a:xfrm>
          <a:custGeom>
            <a:avLst/>
            <a:gdLst/>
            <a:ahLst/>
            <a:cxnLst/>
            <a:rect l="l" t="t" r="r" b="b"/>
            <a:pathLst>
              <a:path w="5929313" h="579438">
                <a:moveTo>
                  <a:pt x="31747" y="0"/>
                </a:moveTo>
                <a:lnTo>
                  <a:pt x="5897565" y="0"/>
                </a:lnTo>
                <a:cubicBezTo>
                  <a:pt x="5915099" y="0"/>
                  <a:pt x="5929313" y="14214"/>
                  <a:pt x="5929313" y="31747"/>
                </a:cubicBezTo>
                <a:lnTo>
                  <a:pt x="5929313" y="547690"/>
                </a:lnTo>
                <a:cubicBezTo>
                  <a:pt x="5929313" y="565224"/>
                  <a:pt x="5915099" y="579437"/>
                  <a:pt x="5897565" y="579438"/>
                </a:cubicBezTo>
                <a:lnTo>
                  <a:pt x="31747" y="579438"/>
                </a:lnTo>
                <a:cubicBezTo>
                  <a:pt x="14214" y="579438"/>
                  <a:pt x="0" y="565224"/>
                  <a:pt x="0" y="547690"/>
                </a:cubicBezTo>
                <a:lnTo>
                  <a:pt x="0" y="31747"/>
                </a:lnTo>
                <a:cubicBezTo>
                  <a:pt x="0" y="14214"/>
                  <a:pt x="14214" y="0"/>
                  <a:pt x="3174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9438" y="227806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4" name="Shape 12"/>
          <p:cNvSpPr/>
          <p:nvPr/>
        </p:nvSpPr>
        <p:spPr>
          <a:xfrm>
            <a:off x="674688" y="23733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92188" y="2278063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Cron Trigger (Scheduled)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2188" y="2468563"/>
            <a:ext cx="442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Uses cron-parser library. Scheduler runs every 15 seconds with timezone support.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0219" y="2861469"/>
            <a:ext cx="5929313" cy="579438"/>
          </a:xfrm>
          <a:custGeom>
            <a:avLst/>
            <a:gdLst/>
            <a:ahLst/>
            <a:cxnLst/>
            <a:rect l="l" t="t" r="r" b="b"/>
            <a:pathLst>
              <a:path w="5929313" h="579438">
                <a:moveTo>
                  <a:pt x="31747" y="0"/>
                </a:moveTo>
                <a:lnTo>
                  <a:pt x="5897565" y="0"/>
                </a:lnTo>
                <a:cubicBezTo>
                  <a:pt x="5915099" y="0"/>
                  <a:pt x="5929313" y="14214"/>
                  <a:pt x="5929313" y="31747"/>
                </a:cubicBezTo>
                <a:lnTo>
                  <a:pt x="5929313" y="547690"/>
                </a:lnTo>
                <a:cubicBezTo>
                  <a:pt x="5929313" y="565224"/>
                  <a:pt x="5915099" y="579437"/>
                  <a:pt x="5897565" y="579438"/>
                </a:cubicBezTo>
                <a:lnTo>
                  <a:pt x="31747" y="579438"/>
                </a:lnTo>
                <a:cubicBezTo>
                  <a:pt x="14214" y="579438"/>
                  <a:pt x="0" y="565224"/>
                  <a:pt x="0" y="547690"/>
                </a:cubicBezTo>
                <a:lnTo>
                  <a:pt x="0" y="31747"/>
                </a:lnTo>
                <a:cubicBezTo>
                  <a:pt x="0" y="14214"/>
                  <a:pt x="14214" y="0"/>
                  <a:pt x="3174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9438" y="296068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9" name="Shape 17"/>
          <p:cNvSpPr/>
          <p:nvPr/>
        </p:nvSpPr>
        <p:spPr>
          <a:xfrm>
            <a:off x="682625" y="3055938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55563" y="0"/>
                </a:moveTo>
                <a:cubicBezTo>
                  <a:pt x="51172" y="0"/>
                  <a:pt x="47625" y="3547"/>
                  <a:pt x="47625" y="7938"/>
                </a:cubicBezTo>
                <a:lnTo>
                  <a:pt x="47625" y="8731"/>
                </a:lnTo>
                <a:cubicBezTo>
                  <a:pt x="29518" y="12402"/>
                  <a:pt x="15875" y="28426"/>
                  <a:pt x="15875" y="47625"/>
                </a:cubicBezTo>
                <a:lnTo>
                  <a:pt x="15875" y="53008"/>
                </a:lnTo>
                <a:cubicBezTo>
                  <a:pt x="15875" y="64939"/>
                  <a:pt x="11807" y="76522"/>
                  <a:pt x="4366" y="85849"/>
                </a:cubicBezTo>
                <a:lnTo>
                  <a:pt x="1935" y="88875"/>
                </a:lnTo>
                <a:cubicBezTo>
                  <a:pt x="670" y="90438"/>
                  <a:pt x="0" y="92373"/>
                  <a:pt x="0" y="94382"/>
                </a:cubicBezTo>
                <a:cubicBezTo>
                  <a:pt x="0" y="99244"/>
                  <a:pt x="3944" y="103188"/>
                  <a:pt x="8806" y="103188"/>
                </a:cubicBezTo>
                <a:lnTo>
                  <a:pt x="102295" y="103188"/>
                </a:lnTo>
                <a:cubicBezTo>
                  <a:pt x="107156" y="103188"/>
                  <a:pt x="111100" y="99244"/>
                  <a:pt x="111100" y="94382"/>
                </a:cubicBezTo>
                <a:cubicBezTo>
                  <a:pt x="111100" y="92373"/>
                  <a:pt x="110430" y="90438"/>
                  <a:pt x="109165" y="88875"/>
                </a:cubicBezTo>
                <a:lnTo>
                  <a:pt x="106735" y="85849"/>
                </a:lnTo>
                <a:cubicBezTo>
                  <a:pt x="99318" y="76522"/>
                  <a:pt x="95250" y="64939"/>
                  <a:pt x="95250" y="53008"/>
                </a:cubicBezTo>
                <a:lnTo>
                  <a:pt x="95250" y="47625"/>
                </a:lnTo>
                <a:cubicBezTo>
                  <a:pt x="95250" y="28426"/>
                  <a:pt x="81607" y="12402"/>
                  <a:pt x="63500" y="8731"/>
                </a:cubicBezTo>
                <a:lnTo>
                  <a:pt x="63500" y="7937"/>
                </a:lnTo>
                <a:cubicBezTo>
                  <a:pt x="63500" y="3547"/>
                  <a:pt x="59953" y="0"/>
                  <a:pt x="55563" y="0"/>
                </a:cubicBezTo>
                <a:close/>
                <a:moveTo>
                  <a:pt x="40184" y="115094"/>
                </a:moveTo>
                <a:cubicBezTo>
                  <a:pt x="41945" y="121940"/>
                  <a:pt x="48171" y="127000"/>
                  <a:pt x="55563" y="127000"/>
                </a:cubicBezTo>
                <a:cubicBezTo>
                  <a:pt x="62954" y="127000"/>
                  <a:pt x="69180" y="121940"/>
                  <a:pt x="70941" y="115094"/>
                </a:cubicBezTo>
                <a:lnTo>
                  <a:pt x="40184" y="11509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92188" y="2960688"/>
            <a:ext cx="412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Event Trigger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2188" y="3151188"/>
            <a:ext cx="412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Responds to domain events (TransactionCreated, WorkflowDisabled, etc.)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7500" y="3730625"/>
            <a:ext cx="6254750" cy="1508125"/>
          </a:xfrm>
          <a:custGeom>
            <a:avLst/>
            <a:gdLst/>
            <a:ahLst/>
            <a:cxnLst/>
            <a:rect l="l" t="t" r="r" b="b"/>
            <a:pathLst>
              <a:path w="6254750" h="1508125">
                <a:moveTo>
                  <a:pt x="63507" y="0"/>
                </a:moveTo>
                <a:lnTo>
                  <a:pt x="6191243" y="0"/>
                </a:lnTo>
                <a:cubicBezTo>
                  <a:pt x="6226317" y="0"/>
                  <a:pt x="6254750" y="28433"/>
                  <a:pt x="6254750" y="63507"/>
                </a:cubicBezTo>
                <a:lnTo>
                  <a:pt x="6254750" y="1444618"/>
                </a:lnTo>
                <a:cubicBezTo>
                  <a:pt x="6254750" y="1479692"/>
                  <a:pt x="6226317" y="1508125"/>
                  <a:pt x="6191243" y="1508125"/>
                </a:cubicBezTo>
                <a:lnTo>
                  <a:pt x="63507" y="1508125"/>
                </a:lnTo>
                <a:cubicBezTo>
                  <a:pt x="28433" y="1508125"/>
                  <a:pt x="0" y="1479692"/>
                  <a:pt x="0" y="1444618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96094" y="3921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41486" y="11255"/>
                </a:moveTo>
                <a:cubicBezTo>
                  <a:pt x="44865" y="13612"/>
                  <a:pt x="45672" y="18262"/>
                  <a:pt x="43315" y="21611"/>
                </a:cubicBezTo>
                <a:lnTo>
                  <a:pt x="25952" y="46416"/>
                </a:lnTo>
                <a:cubicBezTo>
                  <a:pt x="24681" y="48214"/>
                  <a:pt x="22696" y="49361"/>
                  <a:pt x="20495" y="49547"/>
                </a:cubicBezTo>
                <a:cubicBezTo>
                  <a:pt x="18293" y="49733"/>
                  <a:pt x="16123" y="48989"/>
                  <a:pt x="14573" y="47439"/>
                </a:cubicBezTo>
                <a:lnTo>
                  <a:pt x="2170" y="35037"/>
                </a:lnTo>
                <a:cubicBezTo>
                  <a:pt x="-713" y="32122"/>
                  <a:pt x="-713" y="27409"/>
                  <a:pt x="2170" y="24495"/>
                </a:cubicBezTo>
                <a:cubicBezTo>
                  <a:pt x="5054" y="21580"/>
                  <a:pt x="9798" y="21611"/>
                  <a:pt x="12712" y="24495"/>
                </a:cubicBezTo>
                <a:lnTo>
                  <a:pt x="18852" y="30634"/>
                </a:lnTo>
                <a:lnTo>
                  <a:pt x="31130" y="13084"/>
                </a:lnTo>
                <a:cubicBezTo>
                  <a:pt x="33486" y="9705"/>
                  <a:pt x="38137" y="8899"/>
                  <a:pt x="41486" y="11255"/>
                </a:cubicBezTo>
                <a:close/>
                <a:moveTo>
                  <a:pt x="41486" y="60865"/>
                </a:moveTo>
                <a:cubicBezTo>
                  <a:pt x="44865" y="63221"/>
                  <a:pt x="45672" y="67872"/>
                  <a:pt x="43315" y="71220"/>
                </a:cubicBezTo>
                <a:lnTo>
                  <a:pt x="25952" y="96025"/>
                </a:lnTo>
                <a:cubicBezTo>
                  <a:pt x="24681" y="97823"/>
                  <a:pt x="22696" y="98971"/>
                  <a:pt x="20495" y="99157"/>
                </a:cubicBezTo>
                <a:cubicBezTo>
                  <a:pt x="18293" y="99343"/>
                  <a:pt x="16123" y="98599"/>
                  <a:pt x="14573" y="97048"/>
                </a:cubicBezTo>
                <a:lnTo>
                  <a:pt x="2170" y="84646"/>
                </a:lnTo>
                <a:cubicBezTo>
                  <a:pt x="-744" y="81731"/>
                  <a:pt x="-744" y="77019"/>
                  <a:pt x="2170" y="74135"/>
                </a:cubicBezTo>
                <a:cubicBezTo>
                  <a:pt x="5085" y="71251"/>
                  <a:pt x="9798" y="71220"/>
                  <a:pt x="12681" y="74135"/>
                </a:cubicBezTo>
                <a:lnTo>
                  <a:pt x="18821" y="80274"/>
                </a:lnTo>
                <a:lnTo>
                  <a:pt x="31099" y="62725"/>
                </a:lnTo>
                <a:cubicBezTo>
                  <a:pt x="33455" y="59345"/>
                  <a:pt x="38106" y="58539"/>
                  <a:pt x="41455" y="60896"/>
                </a:cubicBezTo>
                <a:close/>
                <a:moveTo>
                  <a:pt x="69453" y="29766"/>
                </a:moveTo>
                <a:cubicBezTo>
                  <a:pt x="69453" y="24278"/>
                  <a:pt x="73887" y="19844"/>
                  <a:pt x="79375" y="19844"/>
                </a:cubicBezTo>
                <a:lnTo>
                  <a:pt x="148828" y="19844"/>
                </a:lnTo>
                <a:cubicBezTo>
                  <a:pt x="154316" y="19844"/>
                  <a:pt x="158750" y="24278"/>
                  <a:pt x="158750" y="29766"/>
                </a:cubicBezTo>
                <a:cubicBezTo>
                  <a:pt x="158750" y="35254"/>
                  <a:pt x="154316" y="39688"/>
                  <a:pt x="148828" y="39688"/>
                </a:cubicBezTo>
                <a:lnTo>
                  <a:pt x="79375" y="39688"/>
                </a:lnTo>
                <a:cubicBezTo>
                  <a:pt x="73887" y="39688"/>
                  <a:pt x="69453" y="35254"/>
                  <a:pt x="69453" y="29766"/>
                </a:cubicBezTo>
                <a:close/>
                <a:moveTo>
                  <a:pt x="69453" y="79375"/>
                </a:moveTo>
                <a:cubicBezTo>
                  <a:pt x="69453" y="73887"/>
                  <a:pt x="73887" y="69453"/>
                  <a:pt x="79375" y="69453"/>
                </a:cubicBez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79375" y="89297"/>
                </a:lnTo>
                <a:cubicBezTo>
                  <a:pt x="73887" y="89297"/>
                  <a:pt x="69453" y="84863"/>
                  <a:pt x="69453" y="79375"/>
                </a:cubicBezTo>
                <a:close/>
                <a:moveTo>
                  <a:pt x="49609" y="128984"/>
                </a:moveTo>
                <a:cubicBezTo>
                  <a:pt x="49609" y="123496"/>
                  <a:pt x="54043" y="119062"/>
                  <a:pt x="59531" y="119062"/>
                </a:cubicBezTo>
                <a:lnTo>
                  <a:pt x="148828" y="119062"/>
                </a:lnTo>
                <a:cubicBezTo>
                  <a:pt x="154316" y="119062"/>
                  <a:pt x="158750" y="123496"/>
                  <a:pt x="158750" y="128984"/>
                </a:cubicBezTo>
                <a:cubicBezTo>
                  <a:pt x="158750" y="134472"/>
                  <a:pt x="154316" y="138906"/>
                  <a:pt x="148828" y="138906"/>
                </a:cubicBezTo>
                <a:lnTo>
                  <a:pt x="59531" y="138906"/>
                </a:lnTo>
                <a:cubicBezTo>
                  <a:pt x="54043" y="138906"/>
                  <a:pt x="49609" y="134472"/>
                  <a:pt x="49609" y="128984"/>
                </a:cubicBezTo>
                <a:close/>
                <a:moveTo>
                  <a:pt x="19844" y="116582"/>
                </a:moveTo>
                <a:cubicBezTo>
                  <a:pt x="26689" y="116582"/>
                  <a:pt x="32246" y="122139"/>
                  <a:pt x="32246" y="128984"/>
                </a:cubicBezTo>
                <a:cubicBezTo>
                  <a:pt x="32246" y="135829"/>
                  <a:pt x="26689" y="141387"/>
                  <a:pt x="19844" y="141387"/>
                </a:cubicBezTo>
                <a:cubicBezTo>
                  <a:pt x="12999" y="141387"/>
                  <a:pt x="7441" y="135829"/>
                  <a:pt x="7441" y="128984"/>
                </a:cubicBezTo>
                <a:cubicBezTo>
                  <a:pt x="7441" y="122139"/>
                  <a:pt x="12999" y="116582"/>
                  <a:pt x="19844" y="11658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74688" y="3889375"/>
            <a:ext cx="5818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Action Types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0219" y="4242594"/>
            <a:ext cx="1905000" cy="833438"/>
          </a:xfrm>
          <a:custGeom>
            <a:avLst/>
            <a:gdLst/>
            <a:ahLst/>
            <a:cxnLst/>
            <a:rect l="l" t="t" r="r" b="b"/>
            <a:pathLst>
              <a:path w="1905000" h="833438">
                <a:moveTo>
                  <a:pt x="31754" y="0"/>
                </a:moveTo>
                <a:lnTo>
                  <a:pt x="1873246" y="0"/>
                </a:lnTo>
                <a:cubicBezTo>
                  <a:pt x="1890783" y="0"/>
                  <a:pt x="1905000" y="14217"/>
                  <a:pt x="1905000" y="31754"/>
                </a:cubicBezTo>
                <a:lnTo>
                  <a:pt x="1905000" y="801684"/>
                </a:lnTo>
                <a:cubicBezTo>
                  <a:pt x="1905000" y="819221"/>
                  <a:pt x="1890783" y="833438"/>
                  <a:pt x="1873246" y="833438"/>
                </a:cubicBezTo>
                <a:lnTo>
                  <a:pt x="31754" y="833438"/>
                </a:lnTo>
                <a:cubicBezTo>
                  <a:pt x="14217" y="833438"/>
                  <a:pt x="0" y="819221"/>
                  <a:pt x="0" y="801684"/>
                </a:cubicBezTo>
                <a:lnTo>
                  <a:pt x="0" y="31754"/>
                </a:lnTo>
                <a:cubicBezTo>
                  <a:pt x="0" y="14228"/>
                  <a:pt x="14228" y="0"/>
                  <a:pt x="31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38213" y="43418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6320" y="127992"/>
                </a:moveTo>
                <a:lnTo>
                  <a:pt x="86320" y="104180"/>
                </a:lnTo>
                <a:lnTo>
                  <a:pt x="62508" y="104180"/>
                </a:lnTo>
                <a:cubicBezTo>
                  <a:pt x="57559" y="104180"/>
                  <a:pt x="53578" y="100199"/>
                  <a:pt x="53578" y="95250"/>
                </a:cubicBezTo>
                <a:cubicBezTo>
                  <a:pt x="53578" y="90301"/>
                  <a:pt x="57559" y="86320"/>
                  <a:pt x="62508" y="86320"/>
                </a:cubicBezTo>
                <a:lnTo>
                  <a:pt x="86320" y="86320"/>
                </a:lnTo>
                <a:lnTo>
                  <a:pt x="86320" y="62508"/>
                </a:lnTo>
                <a:cubicBezTo>
                  <a:pt x="86320" y="57559"/>
                  <a:pt x="90301" y="53578"/>
                  <a:pt x="95250" y="53578"/>
                </a:cubicBezTo>
                <a:cubicBezTo>
                  <a:pt x="100199" y="53578"/>
                  <a:pt x="104180" y="57559"/>
                  <a:pt x="104180" y="62508"/>
                </a:cubicBezTo>
                <a:lnTo>
                  <a:pt x="104180" y="86320"/>
                </a:lnTo>
                <a:lnTo>
                  <a:pt x="127992" y="86320"/>
                </a:lnTo>
                <a:cubicBezTo>
                  <a:pt x="132941" y="86320"/>
                  <a:pt x="136922" y="90301"/>
                  <a:pt x="136922" y="95250"/>
                </a:cubicBezTo>
                <a:cubicBezTo>
                  <a:pt x="136922" y="100199"/>
                  <a:pt x="132941" y="104180"/>
                  <a:pt x="127992" y="104180"/>
                </a:cubicBezTo>
                <a:lnTo>
                  <a:pt x="104180" y="104180"/>
                </a:lnTo>
                <a:lnTo>
                  <a:pt x="104180" y="127992"/>
                </a:lnTo>
                <a:cubicBezTo>
                  <a:pt x="104180" y="132941"/>
                  <a:pt x="100199" y="136922"/>
                  <a:pt x="95250" y="136922"/>
                </a:cubicBezTo>
                <a:cubicBezTo>
                  <a:pt x="90301" y="136922"/>
                  <a:pt x="86320" y="132941"/>
                  <a:pt x="86320" y="12799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547688" y="4595813"/>
            <a:ext cx="1770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Create Task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7688" y="4786313"/>
            <a:ext cx="1770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With idempotent SHA256 IDs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489895" y="4242594"/>
            <a:ext cx="1905000" cy="833438"/>
          </a:xfrm>
          <a:custGeom>
            <a:avLst/>
            <a:gdLst/>
            <a:ahLst/>
            <a:cxnLst/>
            <a:rect l="l" t="t" r="r" b="b"/>
            <a:pathLst>
              <a:path w="1905000" h="833438">
                <a:moveTo>
                  <a:pt x="31754" y="0"/>
                </a:moveTo>
                <a:lnTo>
                  <a:pt x="1873246" y="0"/>
                </a:lnTo>
                <a:cubicBezTo>
                  <a:pt x="1890783" y="0"/>
                  <a:pt x="1905000" y="14217"/>
                  <a:pt x="1905000" y="31754"/>
                </a:cubicBezTo>
                <a:lnTo>
                  <a:pt x="1905000" y="801684"/>
                </a:lnTo>
                <a:cubicBezTo>
                  <a:pt x="1905000" y="819221"/>
                  <a:pt x="1890783" y="833438"/>
                  <a:pt x="1873246" y="833438"/>
                </a:cubicBezTo>
                <a:lnTo>
                  <a:pt x="31754" y="833438"/>
                </a:lnTo>
                <a:cubicBezTo>
                  <a:pt x="14217" y="833438"/>
                  <a:pt x="0" y="819221"/>
                  <a:pt x="0" y="801684"/>
                </a:cubicBezTo>
                <a:lnTo>
                  <a:pt x="0" y="31754"/>
                </a:lnTo>
                <a:cubicBezTo>
                  <a:pt x="0" y="14228"/>
                  <a:pt x="14228" y="0"/>
                  <a:pt x="31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47889" y="434181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859" y="23812"/>
                </a:moveTo>
                <a:cubicBezTo>
                  <a:pt x="8000" y="23812"/>
                  <a:pt x="0" y="31812"/>
                  <a:pt x="0" y="41672"/>
                </a:cubicBezTo>
                <a:cubicBezTo>
                  <a:pt x="0" y="47290"/>
                  <a:pt x="2642" y="52574"/>
                  <a:pt x="7144" y="55959"/>
                </a:cubicBezTo>
                <a:lnTo>
                  <a:pt x="84534" y="114002"/>
                </a:lnTo>
                <a:cubicBezTo>
                  <a:pt x="90897" y="118765"/>
                  <a:pt x="99603" y="118765"/>
                  <a:pt x="105966" y="114002"/>
                </a:cubicBezTo>
                <a:lnTo>
                  <a:pt x="183356" y="55959"/>
                </a:lnTo>
                <a:cubicBezTo>
                  <a:pt x="187858" y="52574"/>
                  <a:pt x="190500" y="47290"/>
                  <a:pt x="190500" y="41672"/>
                </a:cubicBezTo>
                <a:cubicBezTo>
                  <a:pt x="190500" y="31812"/>
                  <a:pt x="182500" y="23812"/>
                  <a:pt x="172641" y="23812"/>
                </a:cubicBezTo>
                <a:lnTo>
                  <a:pt x="17859" y="23812"/>
                </a:lnTo>
                <a:close/>
                <a:moveTo>
                  <a:pt x="0" y="72926"/>
                </a:move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72926"/>
                </a:lnTo>
                <a:lnTo>
                  <a:pt x="116681" y="128290"/>
                </a:lnTo>
                <a:cubicBezTo>
                  <a:pt x="103994" y="137815"/>
                  <a:pt x="86506" y="137815"/>
                  <a:pt x="73819" y="128290"/>
                </a:cubicBezTo>
                <a:lnTo>
                  <a:pt x="0" y="72926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1" name="Text 29"/>
          <p:cNvSpPr/>
          <p:nvPr/>
        </p:nvSpPr>
        <p:spPr>
          <a:xfrm>
            <a:off x="2557363" y="4595813"/>
            <a:ext cx="1770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Send Notification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557363" y="4786313"/>
            <a:ext cx="1770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Email or in-app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99694" y="4242594"/>
            <a:ext cx="1905000" cy="833438"/>
          </a:xfrm>
          <a:custGeom>
            <a:avLst/>
            <a:gdLst/>
            <a:ahLst/>
            <a:cxnLst/>
            <a:rect l="l" t="t" r="r" b="b"/>
            <a:pathLst>
              <a:path w="1905000" h="833438">
                <a:moveTo>
                  <a:pt x="31754" y="0"/>
                </a:moveTo>
                <a:lnTo>
                  <a:pt x="1873246" y="0"/>
                </a:lnTo>
                <a:cubicBezTo>
                  <a:pt x="1890783" y="0"/>
                  <a:pt x="1905000" y="14217"/>
                  <a:pt x="1905000" y="31754"/>
                </a:cubicBezTo>
                <a:lnTo>
                  <a:pt x="1905000" y="801684"/>
                </a:lnTo>
                <a:cubicBezTo>
                  <a:pt x="1905000" y="819221"/>
                  <a:pt x="1890783" y="833438"/>
                  <a:pt x="1873246" y="833438"/>
                </a:cubicBezTo>
                <a:lnTo>
                  <a:pt x="31754" y="833438"/>
                </a:lnTo>
                <a:cubicBezTo>
                  <a:pt x="14217" y="833438"/>
                  <a:pt x="0" y="819221"/>
                  <a:pt x="0" y="801684"/>
                </a:cubicBezTo>
                <a:lnTo>
                  <a:pt x="0" y="31754"/>
                </a:lnTo>
                <a:cubicBezTo>
                  <a:pt x="0" y="14228"/>
                  <a:pt x="14228" y="0"/>
                  <a:pt x="3175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45782" y="434181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905" y="0"/>
                </a:moveTo>
                <a:cubicBezTo>
                  <a:pt x="22771" y="0"/>
                  <a:pt x="12092" y="10678"/>
                  <a:pt x="12092" y="23812"/>
                </a:cubicBezTo>
                <a:lnTo>
                  <a:pt x="12092" y="166688"/>
                </a:lnTo>
                <a:cubicBezTo>
                  <a:pt x="12092" y="179822"/>
                  <a:pt x="22771" y="190500"/>
                  <a:pt x="35905" y="190500"/>
                </a:cubicBezTo>
                <a:lnTo>
                  <a:pt x="131155" y="190500"/>
                </a:lnTo>
                <a:cubicBezTo>
                  <a:pt x="144289" y="190500"/>
                  <a:pt x="154967" y="179822"/>
                  <a:pt x="154967" y="166688"/>
                </a:cubicBezTo>
                <a:lnTo>
                  <a:pt x="154967" y="130969"/>
                </a:lnTo>
                <a:lnTo>
                  <a:pt x="184026" y="130969"/>
                </a:lnTo>
                <a:lnTo>
                  <a:pt x="172492" y="142503"/>
                </a:lnTo>
                <a:cubicBezTo>
                  <a:pt x="168994" y="146000"/>
                  <a:pt x="168994" y="151656"/>
                  <a:pt x="172492" y="155116"/>
                </a:cubicBezTo>
                <a:cubicBezTo>
                  <a:pt x="175989" y="158576"/>
                  <a:pt x="181645" y="158614"/>
                  <a:pt x="185105" y="155116"/>
                </a:cubicBezTo>
                <a:lnTo>
                  <a:pt x="211894" y="128327"/>
                </a:lnTo>
                <a:cubicBezTo>
                  <a:pt x="215392" y="124830"/>
                  <a:pt x="215392" y="119174"/>
                  <a:pt x="211894" y="115714"/>
                </a:cubicBezTo>
                <a:lnTo>
                  <a:pt x="185105" y="88925"/>
                </a:lnTo>
                <a:cubicBezTo>
                  <a:pt x="181608" y="85427"/>
                  <a:pt x="175952" y="85427"/>
                  <a:pt x="172492" y="88925"/>
                </a:cubicBezTo>
                <a:cubicBezTo>
                  <a:pt x="169032" y="92422"/>
                  <a:pt x="168994" y="98078"/>
                  <a:pt x="172492" y="101538"/>
                </a:cubicBezTo>
                <a:lnTo>
                  <a:pt x="184026" y="113072"/>
                </a:lnTo>
                <a:lnTo>
                  <a:pt x="154967" y="113072"/>
                </a:lnTo>
                <a:lnTo>
                  <a:pt x="154967" y="63401"/>
                </a:lnTo>
                <a:cubicBezTo>
                  <a:pt x="154967" y="57076"/>
                  <a:pt x="152474" y="51011"/>
                  <a:pt x="148010" y="46546"/>
                </a:cubicBezTo>
                <a:lnTo>
                  <a:pt x="108347" y="6958"/>
                </a:lnTo>
                <a:cubicBezTo>
                  <a:pt x="103882" y="2493"/>
                  <a:pt x="97854" y="0"/>
                  <a:pt x="91529" y="0"/>
                </a:cubicBezTo>
                <a:lnTo>
                  <a:pt x="35905" y="0"/>
                </a:lnTo>
                <a:close/>
                <a:moveTo>
                  <a:pt x="133201" y="65484"/>
                </a:moveTo>
                <a:lnTo>
                  <a:pt x="98413" y="65484"/>
                </a:lnTo>
                <a:cubicBezTo>
                  <a:pt x="93464" y="65484"/>
                  <a:pt x="89483" y="61503"/>
                  <a:pt x="89483" y="56555"/>
                </a:cubicBezTo>
                <a:lnTo>
                  <a:pt x="89483" y="21766"/>
                </a:lnTo>
                <a:lnTo>
                  <a:pt x="133201" y="65484"/>
                </a:lnTo>
                <a:close/>
                <a:moveTo>
                  <a:pt x="83530" y="122039"/>
                </a:moveTo>
                <a:cubicBezTo>
                  <a:pt x="83530" y="117091"/>
                  <a:pt x="87511" y="113109"/>
                  <a:pt x="92459" y="113109"/>
                </a:cubicBezTo>
                <a:lnTo>
                  <a:pt x="131155" y="113109"/>
                </a:lnTo>
                <a:lnTo>
                  <a:pt x="131155" y="130969"/>
                </a:lnTo>
                <a:lnTo>
                  <a:pt x="92459" y="130969"/>
                </a:lnTo>
                <a:cubicBezTo>
                  <a:pt x="87511" y="130969"/>
                  <a:pt x="83530" y="126988"/>
                  <a:pt x="83530" y="122039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5" name="Text 33"/>
          <p:cNvSpPr/>
          <p:nvPr/>
        </p:nvSpPr>
        <p:spPr>
          <a:xfrm>
            <a:off x="4567163" y="4595813"/>
            <a:ext cx="1770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Export Report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67163" y="4786313"/>
            <a:ext cx="1770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CSV or PDF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59525" y="984250"/>
            <a:ext cx="5111750" cy="2571750"/>
          </a:xfrm>
          <a:custGeom>
            <a:avLst/>
            <a:gdLst/>
            <a:ahLst/>
            <a:cxnLst/>
            <a:rect l="l" t="t" r="r" b="b"/>
            <a:pathLst>
              <a:path w="5111750" h="2571750">
                <a:moveTo>
                  <a:pt x="63497" y="0"/>
                </a:moveTo>
                <a:lnTo>
                  <a:pt x="5048253" y="0"/>
                </a:lnTo>
                <a:cubicBezTo>
                  <a:pt x="5083322" y="0"/>
                  <a:pt x="5111750" y="28428"/>
                  <a:pt x="5111750" y="63497"/>
                </a:cubicBezTo>
                <a:lnTo>
                  <a:pt x="5111750" y="2508253"/>
                </a:lnTo>
                <a:cubicBezTo>
                  <a:pt x="5111750" y="2543322"/>
                  <a:pt x="5083322" y="2571750"/>
                  <a:pt x="5048253" y="2571750"/>
                </a:cubicBezTo>
                <a:lnTo>
                  <a:pt x="63497" y="2571750"/>
                </a:lnTo>
                <a:cubicBezTo>
                  <a:pt x="28428" y="2571750"/>
                  <a:pt x="0" y="2543322"/>
                  <a:pt x="0" y="250825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8" name="Text 36"/>
          <p:cNvSpPr/>
          <p:nvPr/>
        </p:nvSpPr>
        <p:spPr>
          <a:xfrm>
            <a:off x="6918275" y="1143000"/>
            <a:ext cx="4873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Example Workflows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918275" y="1460500"/>
            <a:ext cx="4794250" cy="920750"/>
          </a:xfrm>
          <a:custGeom>
            <a:avLst/>
            <a:gdLst/>
            <a:ahLst/>
            <a:cxnLst/>
            <a:rect l="l" t="t" r="r" b="b"/>
            <a:pathLst>
              <a:path w="4794250" h="920750">
                <a:moveTo>
                  <a:pt x="31747" y="0"/>
                </a:moveTo>
                <a:lnTo>
                  <a:pt x="4762503" y="0"/>
                </a:lnTo>
                <a:cubicBezTo>
                  <a:pt x="4780036" y="0"/>
                  <a:pt x="4794250" y="14214"/>
                  <a:pt x="4794250" y="31747"/>
                </a:cubicBezTo>
                <a:lnTo>
                  <a:pt x="4794250" y="889003"/>
                </a:lnTo>
                <a:cubicBezTo>
                  <a:pt x="4794250" y="906536"/>
                  <a:pt x="4780036" y="920750"/>
                  <a:pt x="4762503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013525" y="1571625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Weekly Bank Sync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275343" y="1555750"/>
            <a:ext cx="341313" cy="222250"/>
          </a:xfrm>
          <a:custGeom>
            <a:avLst/>
            <a:gdLst/>
            <a:ahLst/>
            <a:cxnLst/>
            <a:rect l="l" t="t" r="r" b="b"/>
            <a:pathLst>
              <a:path w="341313" h="222250">
                <a:moveTo>
                  <a:pt x="31751" y="0"/>
                </a:moveTo>
                <a:lnTo>
                  <a:pt x="309562" y="0"/>
                </a:lnTo>
                <a:cubicBezTo>
                  <a:pt x="327097" y="0"/>
                  <a:pt x="341313" y="14215"/>
                  <a:pt x="341313" y="31751"/>
                </a:cubicBezTo>
                <a:lnTo>
                  <a:pt x="341313" y="190499"/>
                </a:lnTo>
                <a:cubicBezTo>
                  <a:pt x="341313" y="208035"/>
                  <a:pt x="327097" y="222250"/>
                  <a:pt x="309562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1275343" y="1555750"/>
            <a:ext cx="396875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13525" y="1841500"/>
            <a:ext cx="466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 9 * * 1 (Monday 9 AM)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13525" y="2095500"/>
            <a:ext cx="466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Creates 7-day task: "Run bank sync + review spending"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918275" y="2476500"/>
            <a:ext cx="4794250" cy="920750"/>
          </a:xfrm>
          <a:custGeom>
            <a:avLst/>
            <a:gdLst/>
            <a:ahLst/>
            <a:cxnLst/>
            <a:rect l="l" t="t" r="r" b="b"/>
            <a:pathLst>
              <a:path w="4794250" h="920750">
                <a:moveTo>
                  <a:pt x="31747" y="0"/>
                </a:moveTo>
                <a:lnTo>
                  <a:pt x="4762503" y="0"/>
                </a:lnTo>
                <a:cubicBezTo>
                  <a:pt x="4780036" y="0"/>
                  <a:pt x="4794250" y="14214"/>
                  <a:pt x="4794250" y="31747"/>
                </a:cubicBezTo>
                <a:lnTo>
                  <a:pt x="4794250" y="889003"/>
                </a:lnTo>
                <a:cubicBezTo>
                  <a:pt x="4794250" y="906536"/>
                  <a:pt x="4780036" y="920750"/>
                  <a:pt x="4762503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7013525" y="2587625"/>
            <a:ext cx="1444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New Transaction Review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225237" y="2571750"/>
            <a:ext cx="396875" cy="222250"/>
          </a:xfrm>
          <a:custGeom>
            <a:avLst/>
            <a:gdLst/>
            <a:ahLst/>
            <a:cxnLst/>
            <a:rect l="l" t="t" r="r" b="b"/>
            <a:pathLst>
              <a:path w="396875" h="222250">
                <a:moveTo>
                  <a:pt x="31751" y="0"/>
                </a:moveTo>
                <a:lnTo>
                  <a:pt x="365124" y="0"/>
                </a:lnTo>
                <a:cubicBezTo>
                  <a:pt x="382660" y="0"/>
                  <a:pt x="396875" y="14215"/>
                  <a:pt x="396875" y="31751"/>
                </a:cubicBezTo>
                <a:lnTo>
                  <a:pt x="396875" y="190499"/>
                </a:lnTo>
                <a:cubicBezTo>
                  <a:pt x="396875" y="208035"/>
                  <a:pt x="382660" y="222250"/>
                  <a:pt x="3651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1225237" y="2571750"/>
            <a:ext cx="452438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13525" y="2857500"/>
            <a:ext cx="466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TransactionCreated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13525" y="3111500"/>
            <a:ext cx="466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Creates 7-day task: "Review your latest transaction"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759525" y="3683000"/>
            <a:ext cx="5111750" cy="1952625"/>
          </a:xfrm>
          <a:custGeom>
            <a:avLst/>
            <a:gdLst/>
            <a:ahLst/>
            <a:cxnLst/>
            <a:rect l="l" t="t" r="r" b="b"/>
            <a:pathLst>
              <a:path w="5111750" h="1952625">
                <a:moveTo>
                  <a:pt x="63499" y="0"/>
                </a:moveTo>
                <a:lnTo>
                  <a:pt x="5048251" y="0"/>
                </a:lnTo>
                <a:cubicBezTo>
                  <a:pt x="5083320" y="0"/>
                  <a:pt x="5111750" y="28430"/>
                  <a:pt x="5111750" y="63499"/>
                </a:cubicBezTo>
                <a:lnTo>
                  <a:pt x="5111750" y="1889126"/>
                </a:lnTo>
                <a:cubicBezTo>
                  <a:pt x="5111750" y="1924195"/>
                  <a:pt x="5083320" y="1952625"/>
                  <a:pt x="5048251" y="1952625"/>
                </a:cubicBezTo>
                <a:lnTo>
                  <a:pt x="63499" y="1952625"/>
                </a:lnTo>
                <a:cubicBezTo>
                  <a:pt x="28430" y="1952625"/>
                  <a:pt x="0" y="1924195"/>
                  <a:pt x="0" y="1889126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2" name="Text 50"/>
          <p:cNvSpPr/>
          <p:nvPr/>
        </p:nvSpPr>
        <p:spPr>
          <a:xfrm>
            <a:off x="6918275" y="3841750"/>
            <a:ext cx="4865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Queue System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922244" y="4163219"/>
            <a:ext cx="4786313" cy="388938"/>
          </a:xfrm>
          <a:custGeom>
            <a:avLst/>
            <a:gdLst/>
            <a:ahLst/>
            <a:cxnLst/>
            <a:rect l="l" t="t" r="r" b="b"/>
            <a:pathLst>
              <a:path w="4786313" h="388938">
                <a:moveTo>
                  <a:pt x="31749" y="0"/>
                </a:moveTo>
                <a:lnTo>
                  <a:pt x="4754564" y="0"/>
                </a:lnTo>
                <a:cubicBezTo>
                  <a:pt x="4772098" y="0"/>
                  <a:pt x="4786313" y="14214"/>
                  <a:pt x="4786313" y="31749"/>
                </a:cubicBezTo>
                <a:lnTo>
                  <a:pt x="4786313" y="357189"/>
                </a:lnTo>
                <a:cubicBezTo>
                  <a:pt x="4786313" y="374723"/>
                  <a:pt x="4772098" y="388938"/>
                  <a:pt x="4754564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21463" y="4262438"/>
            <a:ext cx="150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ASYNC_JOBS_ENABLED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085835" y="4262438"/>
            <a:ext cx="587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true/false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922244" y="4623594"/>
            <a:ext cx="4786313" cy="388938"/>
          </a:xfrm>
          <a:custGeom>
            <a:avLst/>
            <a:gdLst/>
            <a:ahLst/>
            <a:cxnLst/>
            <a:rect l="l" t="t" r="r" b="b"/>
            <a:pathLst>
              <a:path w="4786313" h="388938">
                <a:moveTo>
                  <a:pt x="31749" y="0"/>
                </a:moveTo>
                <a:lnTo>
                  <a:pt x="4754564" y="0"/>
                </a:lnTo>
                <a:cubicBezTo>
                  <a:pt x="4772098" y="0"/>
                  <a:pt x="4786313" y="14214"/>
                  <a:pt x="4786313" y="31749"/>
                </a:cubicBezTo>
                <a:lnTo>
                  <a:pt x="4786313" y="357189"/>
                </a:lnTo>
                <a:cubicBezTo>
                  <a:pt x="4786313" y="374723"/>
                  <a:pt x="4772098" y="388938"/>
                  <a:pt x="4754564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21463" y="4722813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WORKER_CONCURRENCY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201425" y="4722813"/>
            <a:ext cx="47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(1-64)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922244" y="5083969"/>
            <a:ext cx="4786313" cy="388938"/>
          </a:xfrm>
          <a:custGeom>
            <a:avLst/>
            <a:gdLst/>
            <a:ahLst/>
            <a:cxnLst/>
            <a:rect l="l" t="t" r="r" b="b"/>
            <a:pathLst>
              <a:path w="4786313" h="388938">
                <a:moveTo>
                  <a:pt x="31749" y="0"/>
                </a:moveTo>
                <a:lnTo>
                  <a:pt x="4754564" y="0"/>
                </a:lnTo>
                <a:cubicBezTo>
                  <a:pt x="4772098" y="0"/>
                  <a:pt x="4786313" y="14214"/>
                  <a:pt x="4786313" y="31749"/>
                </a:cubicBezTo>
                <a:lnTo>
                  <a:pt x="4786313" y="357189"/>
                </a:lnTo>
                <a:cubicBezTo>
                  <a:pt x="4786313" y="374723"/>
                  <a:pt x="4772098" y="388938"/>
                  <a:pt x="4754564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21463" y="5183188"/>
            <a:ext cx="1103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POLL_INTERVAL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159877" y="5183188"/>
            <a:ext cx="515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1000ms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763494" y="5766594"/>
            <a:ext cx="5103813" cy="896938"/>
          </a:xfrm>
          <a:custGeom>
            <a:avLst/>
            <a:gdLst/>
            <a:ahLst/>
            <a:cxnLst/>
            <a:rect l="l" t="t" r="r" b="b"/>
            <a:pathLst>
              <a:path w="5103813" h="896938">
                <a:moveTo>
                  <a:pt x="63503" y="0"/>
                </a:moveTo>
                <a:lnTo>
                  <a:pt x="5040309" y="0"/>
                </a:lnTo>
                <a:cubicBezTo>
                  <a:pt x="5075381" y="0"/>
                  <a:pt x="5103812" y="28431"/>
                  <a:pt x="5103812" y="63503"/>
                </a:cubicBezTo>
                <a:lnTo>
                  <a:pt x="5103813" y="833434"/>
                </a:lnTo>
                <a:cubicBezTo>
                  <a:pt x="5103812" y="868506"/>
                  <a:pt x="5075381" y="896938"/>
                  <a:pt x="5040309" y="896938"/>
                </a:cubicBezTo>
                <a:lnTo>
                  <a:pt x="63503" y="896938"/>
                </a:lnTo>
                <a:cubicBezTo>
                  <a:pt x="28431" y="896938"/>
                  <a:pt x="0" y="868506"/>
                  <a:pt x="0" y="833434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94463" y="5897563"/>
            <a:ext cx="490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Idempotency Guarantee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894463" y="6151563"/>
            <a:ext cx="4905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All actions use </a:t>
            </a:r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SHA256 hashing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for idempotent IDs, preventing duplicate task creation across workflow runs.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44" y="326644"/>
            <a:ext cx="11595874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spc="45" kern="0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5.1 PERFORMANCE EVALUATION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6644" y="555295"/>
            <a:ext cx="11685701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Comprehensive Benchmarks</a:t>
            </a:r>
            <a:endParaRPr lang="en-US" sz="1600" dirty="0"/>
          </a:p>
        </p:txBody>
      </p:sp>
      <p:pic>
        <p:nvPicPr>
          <p:cNvPr id="4" name="Image 0" descr="https://kimi-img.moonshot.cn/pub/slides/26-04-04-19:38:48-d78fgi7tuann0oa3g7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6644" y="1012597"/>
            <a:ext cx="5765273" cy="4573021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2"/>
          <p:cNvSpPr/>
          <p:nvPr/>
        </p:nvSpPr>
        <p:spPr>
          <a:xfrm>
            <a:off x="7329848" y="1012597"/>
            <a:ext cx="4540356" cy="3266443"/>
          </a:xfrm>
          <a:custGeom>
            <a:avLst/>
            <a:gdLst/>
            <a:ahLst/>
            <a:cxnLst/>
            <a:rect l="l" t="t" r="r" b="b"/>
            <a:pathLst>
              <a:path w="4540356" h="3266443">
                <a:moveTo>
                  <a:pt x="65329" y="0"/>
                </a:moveTo>
                <a:lnTo>
                  <a:pt x="4475027" y="0"/>
                </a:lnTo>
                <a:cubicBezTo>
                  <a:pt x="4511108" y="0"/>
                  <a:pt x="4540356" y="29249"/>
                  <a:pt x="4540356" y="65329"/>
                </a:cubicBezTo>
                <a:lnTo>
                  <a:pt x="4540356" y="3201115"/>
                </a:lnTo>
                <a:cubicBezTo>
                  <a:pt x="4540356" y="3237195"/>
                  <a:pt x="4511108" y="3266443"/>
                  <a:pt x="4475027" y="3266443"/>
                </a:cubicBezTo>
                <a:lnTo>
                  <a:pt x="65329" y="3266443"/>
                </a:lnTo>
                <a:cubicBezTo>
                  <a:pt x="29249" y="3266443"/>
                  <a:pt x="0" y="3237195"/>
                  <a:pt x="0" y="3201115"/>
                </a:cubicBezTo>
                <a:lnTo>
                  <a:pt x="0" y="65329"/>
                </a:lnTo>
                <a:cubicBezTo>
                  <a:pt x="0" y="29273"/>
                  <a:pt x="29273" y="0"/>
                  <a:pt x="6532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3"/>
          <p:cNvSpPr/>
          <p:nvPr/>
        </p:nvSpPr>
        <p:spPr>
          <a:xfrm>
            <a:off x="7460506" y="1143255"/>
            <a:ext cx="4360702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Performance Wins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60506" y="1469900"/>
            <a:ext cx="4279041" cy="620624"/>
          </a:xfrm>
          <a:custGeom>
            <a:avLst/>
            <a:gdLst/>
            <a:ahLst/>
            <a:cxnLst/>
            <a:rect l="l" t="t" r="r" b="b"/>
            <a:pathLst>
              <a:path w="4279041" h="620624">
                <a:moveTo>
                  <a:pt x="32663" y="0"/>
                </a:moveTo>
                <a:lnTo>
                  <a:pt x="4246377" y="0"/>
                </a:lnTo>
                <a:cubicBezTo>
                  <a:pt x="4264417" y="0"/>
                  <a:pt x="4279041" y="14624"/>
                  <a:pt x="4279041" y="32663"/>
                </a:cubicBezTo>
                <a:lnTo>
                  <a:pt x="4279041" y="587961"/>
                </a:lnTo>
                <a:cubicBezTo>
                  <a:pt x="4279041" y="606000"/>
                  <a:pt x="4264417" y="620624"/>
                  <a:pt x="4246377" y="620624"/>
                </a:cubicBezTo>
                <a:lnTo>
                  <a:pt x="32663" y="620624"/>
                </a:lnTo>
                <a:cubicBezTo>
                  <a:pt x="14624" y="620624"/>
                  <a:pt x="0" y="606000"/>
                  <a:pt x="0" y="587961"/>
                </a:cubicBezTo>
                <a:lnTo>
                  <a:pt x="0" y="32663"/>
                </a:lnTo>
                <a:cubicBezTo>
                  <a:pt x="0" y="14624"/>
                  <a:pt x="14624" y="0"/>
                  <a:pt x="3266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7558499" y="1584225"/>
            <a:ext cx="930936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Response Time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07369" y="1567893"/>
            <a:ext cx="816611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57% faster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58499" y="1796544"/>
            <a:ext cx="414838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1.23s vs 2.87s (Single LLM)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60506" y="2155853"/>
            <a:ext cx="4279041" cy="620624"/>
          </a:xfrm>
          <a:custGeom>
            <a:avLst/>
            <a:gdLst/>
            <a:ahLst/>
            <a:cxnLst/>
            <a:rect l="l" t="t" r="r" b="b"/>
            <a:pathLst>
              <a:path w="4279041" h="620624">
                <a:moveTo>
                  <a:pt x="32663" y="0"/>
                </a:moveTo>
                <a:lnTo>
                  <a:pt x="4246377" y="0"/>
                </a:lnTo>
                <a:cubicBezTo>
                  <a:pt x="4264417" y="0"/>
                  <a:pt x="4279041" y="14624"/>
                  <a:pt x="4279041" y="32663"/>
                </a:cubicBezTo>
                <a:lnTo>
                  <a:pt x="4279041" y="587961"/>
                </a:lnTo>
                <a:cubicBezTo>
                  <a:pt x="4279041" y="606000"/>
                  <a:pt x="4264417" y="620624"/>
                  <a:pt x="4246377" y="620624"/>
                </a:cubicBezTo>
                <a:lnTo>
                  <a:pt x="32663" y="620624"/>
                </a:lnTo>
                <a:cubicBezTo>
                  <a:pt x="14624" y="620624"/>
                  <a:pt x="0" y="606000"/>
                  <a:pt x="0" y="587961"/>
                </a:cubicBezTo>
                <a:lnTo>
                  <a:pt x="0" y="32663"/>
                </a:lnTo>
                <a:cubicBezTo>
                  <a:pt x="0" y="14624"/>
                  <a:pt x="14624" y="0"/>
                  <a:pt x="3266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558499" y="2270178"/>
            <a:ext cx="1380072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Constraint Satisfaction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863859" y="2253846"/>
            <a:ext cx="857441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38% better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58499" y="2482497"/>
            <a:ext cx="414838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96.3% vs 69.8% (Single LLM)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460506" y="2841806"/>
            <a:ext cx="4279041" cy="620624"/>
          </a:xfrm>
          <a:custGeom>
            <a:avLst/>
            <a:gdLst/>
            <a:ahLst/>
            <a:cxnLst/>
            <a:rect l="l" t="t" r="r" b="b"/>
            <a:pathLst>
              <a:path w="4279041" h="620624">
                <a:moveTo>
                  <a:pt x="32663" y="0"/>
                </a:moveTo>
                <a:lnTo>
                  <a:pt x="4246377" y="0"/>
                </a:lnTo>
                <a:cubicBezTo>
                  <a:pt x="4264417" y="0"/>
                  <a:pt x="4279041" y="14624"/>
                  <a:pt x="4279041" y="32663"/>
                </a:cubicBezTo>
                <a:lnTo>
                  <a:pt x="4279041" y="587961"/>
                </a:lnTo>
                <a:cubicBezTo>
                  <a:pt x="4279041" y="606000"/>
                  <a:pt x="4264417" y="620624"/>
                  <a:pt x="4246377" y="620624"/>
                </a:cubicBezTo>
                <a:lnTo>
                  <a:pt x="32663" y="620624"/>
                </a:lnTo>
                <a:cubicBezTo>
                  <a:pt x="14624" y="620624"/>
                  <a:pt x="0" y="606000"/>
                  <a:pt x="0" y="587961"/>
                </a:cubicBezTo>
                <a:lnTo>
                  <a:pt x="0" y="32663"/>
                </a:lnTo>
                <a:cubicBezTo>
                  <a:pt x="0" y="14624"/>
                  <a:pt x="14624" y="0"/>
                  <a:pt x="3266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558499" y="2956131"/>
            <a:ext cx="963601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Plan Coherence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907624" y="2939799"/>
            <a:ext cx="816611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41% better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58499" y="3168450"/>
            <a:ext cx="414838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94.8% vs 67.2% (Single LLM)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460506" y="3527759"/>
            <a:ext cx="4279041" cy="620624"/>
          </a:xfrm>
          <a:custGeom>
            <a:avLst/>
            <a:gdLst/>
            <a:ahLst/>
            <a:cxnLst/>
            <a:rect l="l" t="t" r="r" b="b"/>
            <a:pathLst>
              <a:path w="4279041" h="620624">
                <a:moveTo>
                  <a:pt x="32663" y="0"/>
                </a:moveTo>
                <a:lnTo>
                  <a:pt x="4246377" y="0"/>
                </a:lnTo>
                <a:cubicBezTo>
                  <a:pt x="4264417" y="0"/>
                  <a:pt x="4279041" y="14624"/>
                  <a:pt x="4279041" y="32663"/>
                </a:cubicBezTo>
                <a:lnTo>
                  <a:pt x="4279041" y="587961"/>
                </a:lnTo>
                <a:cubicBezTo>
                  <a:pt x="4279041" y="606000"/>
                  <a:pt x="4264417" y="620624"/>
                  <a:pt x="4246377" y="620624"/>
                </a:cubicBezTo>
                <a:lnTo>
                  <a:pt x="32663" y="620624"/>
                </a:lnTo>
                <a:cubicBezTo>
                  <a:pt x="14624" y="620624"/>
                  <a:pt x="0" y="606000"/>
                  <a:pt x="0" y="587961"/>
                </a:cubicBezTo>
                <a:lnTo>
                  <a:pt x="0" y="32663"/>
                </a:lnTo>
                <a:cubicBezTo>
                  <a:pt x="0" y="14624"/>
                  <a:pt x="14624" y="0"/>
                  <a:pt x="3266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558499" y="3642084"/>
            <a:ext cx="112692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Hallucination Rate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876874" y="3625752"/>
            <a:ext cx="841109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89% lower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558499" y="3854403"/>
            <a:ext cx="4148383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1.2% vs 11.3% (Single LLM)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329848" y="4377034"/>
            <a:ext cx="4540356" cy="2155853"/>
          </a:xfrm>
          <a:custGeom>
            <a:avLst/>
            <a:gdLst/>
            <a:ahLst/>
            <a:cxnLst/>
            <a:rect l="l" t="t" r="r" b="b"/>
            <a:pathLst>
              <a:path w="4540356" h="2155853">
                <a:moveTo>
                  <a:pt x="65322" y="0"/>
                </a:moveTo>
                <a:lnTo>
                  <a:pt x="4475034" y="0"/>
                </a:lnTo>
                <a:cubicBezTo>
                  <a:pt x="4511111" y="0"/>
                  <a:pt x="4540356" y="29246"/>
                  <a:pt x="4540356" y="65322"/>
                </a:cubicBezTo>
                <a:lnTo>
                  <a:pt x="4540356" y="2090530"/>
                </a:lnTo>
                <a:cubicBezTo>
                  <a:pt x="4540356" y="2126583"/>
                  <a:pt x="4511086" y="2155853"/>
                  <a:pt x="4475034" y="2155853"/>
                </a:cubicBezTo>
                <a:lnTo>
                  <a:pt x="65322" y="2155853"/>
                </a:lnTo>
                <a:cubicBezTo>
                  <a:pt x="29246" y="2155853"/>
                  <a:pt x="0" y="2126607"/>
                  <a:pt x="0" y="2090530"/>
                </a:cubicBezTo>
                <a:lnTo>
                  <a:pt x="0" y="65322"/>
                </a:lnTo>
                <a:cubicBezTo>
                  <a:pt x="0" y="29246"/>
                  <a:pt x="29246" y="0"/>
                  <a:pt x="6532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4" name="Text 21"/>
          <p:cNvSpPr/>
          <p:nvPr/>
        </p:nvSpPr>
        <p:spPr>
          <a:xfrm>
            <a:off x="7460506" y="4507692"/>
            <a:ext cx="4352536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Dataset Statistics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464589" y="4838419"/>
            <a:ext cx="2082358" cy="726784"/>
          </a:xfrm>
          <a:custGeom>
            <a:avLst/>
            <a:gdLst/>
            <a:ahLst/>
            <a:cxnLst/>
            <a:rect l="l" t="t" r="r" b="b"/>
            <a:pathLst>
              <a:path w="2082358" h="726784">
                <a:moveTo>
                  <a:pt x="32662" y="0"/>
                </a:moveTo>
                <a:lnTo>
                  <a:pt x="2049696" y="0"/>
                </a:lnTo>
                <a:cubicBezTo>
                  <a:pt x="2067735" y="0"/>
                  <a:pt x="2082358" y="14623"/>
                  <a:pt x="2082358" y="32662"/>
                </a:cubicBezTo>
                <a:lnTo>
                  <a:pt x="2082358" y="694122"/>
                </a:lnTo>
                <a:cubicBezTo>
                  <a:pt x="2082358" y="712161"/>
                  <a:pt x="2067735" y="726784"/>
                  <a:pt x="2049696" y="726784"/>
                </a:cubicBezTo>
                <a:lnTo>
                  <a:pt x="32662" y="726784"/>
                </a:lnTo>
                <a:cubicBezTo>
                  <a:pt x="14623" y="726784"/>
                  <a:pt x="0" y="712161"/>
                  <a:pt x="0" y="694122"/>
                </a:cubicBezTo>
                <a:lnTo>
                  <a:pt x="0" y="32662"/>
                </a:lnTo>
                <a:cubicBezTo>
                  <a:pt x="0" y="14623"/>
                  <a:pt x="14623" y="0"/>
                  <a:pt x="3266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05419" y="4940496"/>
            <a:ext cx="2000697" cy="293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29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50K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534001" y="5267140"/>
            <a:ext cx="194353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Synthetic Scenarios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651957" y="4838419"/>
            <a:ext cx="2082358" cy="726784"/>
          </a:xfrm>
          <a:custGeom>
            <a:avLst/>
            <a:gdLst/>
            <a:ahLst/>
            <a:cxnLst/>
            <a:rect l="l" t="t" r="r" b="b"/>
            <a:pathLst>
              <a:path w="2082358" h="726784">
                <a:moveTo>
                  <a:pt x="32662" y="0"/>
                </a:moveTo>
                <a:lnTo>
                  <a:pt x="2049696" y="0"/>
                </a:lnTo>
                <a:cubicBezTo>
                  <a:pt x="2067735" y="0"/>
                  <a:pt x="2082358" y="14623"/>
                  <a:pt x="2082358" y="32662"/>
                </a:cubicBezTo>
                <a:lnTo>
                  <a:pt x="2082358" y="694122"/>
                </a:lnTo>
                <a:cubicBezTo>
                  <a:pt x="2082358" y="712161"/>
                  <a:pt x="2067735" y="726784"/>
                  <a:pt x="2049696" y="726784"/>
                </a:cubicBezTo>
                <a:lnTo>
                  <a:pt x="32662" y="726784"/>
                </a:lnTo>
                <a:cubicBezTo>
                  <a:pt x="14623" y="726784"/>
                  <a:pt x="0" y="712161"/>
                  <a:pt x="0" y="694122"/>
                </a:cubicBezTo>
                <a:lnTo>
                  <a:pt x="0" y="32662"/>
                </a:lnTo>
                <a:cubicBezTo>
                  <a:pt x="0" y="14623"/>
                  <a:pt x="14623" y="0"/>
                  <a:pt x="3266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92788" y="4940496"/>
            <a:ext cx="2000697" cy="293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29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10K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721369" y="5267140"/>
            <a:ext cx="194353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Real Transactions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464589" y="5671362"/>
            <a:ext cx="2082358" cy="726784"/>
          </a:xfrm>
          <a:custGeom>
            <a:avLst/>
            <a:gdLst/>
            <a:ahLst/>
            <a:cxnLst/>
            <a:rect l="l" t="t" r="r" b="b"/>
            <a:pathLst>
              <a:path w="2082358" h="726784">
                <a:moveTo>
                  <a:pt x="32662" y="0"/>
                </a:moveTo>
                <a:lnTo>
                  <a:pt x="2049696" y="0"/>
                </a:lnTo>
                <a:cubicBezTo>
                  <a:pt x="2067735" y="0"/>
                  <a:pt x="2082358" y="14623"/>
                  <a:pt x="2082358" y="32662"/>
                </a:cubicBezTo>
                <a:lnTo>
                  <a:pt x="2082358" y="694122"/>
                </a:lnTo>
                <a:cubicBezTo>
                  <a:pt x="2082358" y="712161"/>
                  <a:pt x="2067735" y="726784"/>
                  <a:pt x="2049696" y="726784"/>
                </a:cubicBezTo>
                <a:lnTo>
                  <a:pt x="32662" y="726784"/>
                </a:lnTo>
                <a:cubicBezTo>
                  <a:pt x="14623" y="726784"/>
                  <a:pt x="0" y="712161"/>
                  <a:pt x="0" y="694122"/>
                </a:cubicBezTo>
                <a:lnTo>
                  <a:pt x="0" y="32662"/>
                </a:lnTo>
                <a:cubicBezTo>
                  <a:pt x="0" y="14623"/>
                  <a:pt x="14623" y="0"/>
                  <a:pt x="3266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05419" y="5773439"/>
            <a:ext cx="2000697" cy="293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29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5M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534001" y="6100083"/>
            <a:ext cx="194353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Transaction Count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9651957" y="5671362"/>
            <a:ext cx="2082358" cy="726784"/>
          </a:xfrm>
          <a:custGeom>
            <a:avLst/>
            <a:gdLst/>
            <a:ahLst/>
            <a:cxnLst/>
            <a:rect l="l" t="t" r="r" b="b"/>
            <a:pathLst>
              <a:path w="2082358" h="726784">
                <a:moveTo>
                  <a:pt x="32662" y="0"/>
                </a:moveTo>
                <a:lnTo>
                  <a:pt x="2049696" y="0"/>
                </a:lnTo>
                <a:cubicBezTo>
                  <a:pt x="2067735" y="0"/>
                  <a:pt x="2082358" y="14623"/>
                  <a:pt x="2082358" y="32662"/>
                </a:cubicBezTo>
                <a:lnTo>
                  <a:pt x="2082358" y="694122"/>
                </a:lnTo>
                <a:cubicBezTo>
                  <a:pt x="2082358" y="712161"/>
                  <a:pt x="2067735" y="726784"/>
                  <a:pt x="2049696" y="726784"/>
                </a:cubicBezTo>
                <a:lnTo>
                  <a:pt x="32662" y="726784"/>
                </a:lnTo>
                <a:cubicBezTo>
                  <a:pt x="14623" y="726784"/>
                  <a:pt x="0" y="712161"/>
                  <a:pt x="0" y="694122"/>
                </a:cubicBezTo>
                <a:lnTo>
                  <a:pt x="0" y="32662"/>
                </a:lnTo>
                <a:cubicBezTo>
                  <a:pt x="0" y="14623"/>
                  <a:pt x="14623" y="0"/>
                  <a:pt x="3266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92788" y="5773439"/>
            <a:ext cx="2000697" cy="293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929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12K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721369" y="6100083"/>
            <a:ext cx="1943534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9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User Profiles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5.2 HUMAN VALIDATION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Expert &amp; User Assessment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5683250" cy="2889250"/>
          </a:xfrm>
          <a:custGeom>
            <a:avLst/>
            <a:gdLst/>
            <a:ahLst/>
            <a:cxnLst/>
            <a:rect l="l" t="t" r="r" b="b"/>
            <a:pathLst>
              <a:path w="5683250" h="2889250">
                <a:moveTo>
                  <a:pt x="63506" y="0"/>
                </a:moveTo>
                <a:lnTo>
                  <a:pt x="5619744" y="0"/>
                </a:lnTo>
                <a:cubicBezTo>
                  <a:pt x="5654818" y="0"/>
                  <a:pt x="5683250" y="28432"/>
                  <a:pt x="5683250" y="63506"/>
                </a:cubicBezTo>
                <a:lnTo>
                  <a:pt x="5683250" y="2825744"/>
                </a:lnTo>
                <a:cubicBezTo>
                  <a:pt x="5683250" y="2860818"/>
                  <a:pt x="5654818" y="2889250"/>
                  <a:pt x="5619744" y="2889250"/>
                </a:cubicBezTo>
                <a:lnTo>
                  <a:pt x="63506" y="2889250"/>
                </a:lnTo>
                <a:cubicBezTo>
                  <a:pt x="28432" y="2889250"/>
                  <a:pt x="0" y="2860818"/>
                  <a:pt x="0" y="282574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506016" y="117475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69453" y="76895"/>
                </a:moveTo>
                <a:cubicBezTo>
                  <a:pt x="48918" y="76895"/>
                  <a:pt x="32246" y="60223"/>
                  <a:pt x="32246" y="39688"/>
                </a:cubicBezTo>
                <a:cubicBezTo>
                  <a:pt x="32246" y="19152"/>
                  <a:pt x="48918" y="2480"/>
                  <a:pt x="69453" y="2480"/>
                </a:cubicBezTo>
                <a:cubicBezTo>
                  <a:pt x="89988" y="2480"/>
                  <a:pt x="106660" y="19152"/>
                  <a:pt x="106660" y="39687"/>
                </a:cubicBezTo>
                <a:cubicBezTo>
                  <a:pt x="106660" y="60223"/>
                  <a:pt x="89988" y="76895"/>
                  <a:pt x="69453" y="76895"/>
                </a:cubicBezTo>
                <a:close/>
                <a:moveTo>
                  <a:pt x="59996" y="94258"/>
                </a:moveTo>
                <a:lnTo>
                  <a:pt x="78910" y="94258"/>
                </a:lnTo>
                <a:cubicBezTo>
                  <a:pt x="81917" y="94258"/>
                  <a:pt x="84336" y="96676"/>
                  <a:pt x="84336" y="99684"/>
                </a:cubicBezTo>
                <a:cubicBezTo>
                  <a:pt x="84336" y="100986"/>
                  <a:pt x="83871" y="102226"/>
                  <a:pt x="83034" y="103219"/>
                </a:cubicBezTo>
                <a:lnTo>
                  <a:pt x="74538" y="113140"/>
                </a:lnTo>
                <a:lnTo>
                  <a:pt x="84150" y="148828"/>
                </a:lnTo>
                <a:lnTo>
                  <a:pt x="84336" y="148828"/>
                </a:lnTo>
                <a:lnTo>
                  <a:pt x="95064" y="105885"/>
                </a:lnTo>
                <a:cubicBezTo>
                  <a:pt x="95746" y="103188"/>
                  <a:pt x="98506" y="101544"/>
                  <a:pt x="101110" y="102536"/>
                </a:cubicBezTo>
                <a:cubicBezTo>
                  <a:pt x="120303" y="109854"/>
                  <a:pt x="133945" y="128457"/>
                  <a:pt x="133945" y="150223"/>
                </a:cubicBezTo>
                <a:cubicBezTo>
                  <a:pt x="133945" y="154905"/>
                  <a:pt x="130132" y="158719"/>
                  <a:pt x="125450" y="158719"/>
                </a:cubicBezTo>
                <a:lnTo>
                  <a:pt x="13457" y="158750"/>
                </a:lnTo>
                <a:cubicBezTo>
                  <a:pt x="8775" y="158750"/>
                  <a:pt x="4961" y="154936"/>
                  <a:pt x="4961" y="150254"/>
                </a:cubicBezTo>
                <a:cubicBezTo>
                  <a:pt x="4961" y="128488"/>
                  <a:pt x="18604" y="109885"/>
                  <a:pt x="37796" y="102567"/>
                </a:cubicBezTo>
                <a:cubicBezTo>
                  <a:pt x="40401" y="101575"/>
                  <a:pt x="43160" y="103219"/>
                  <a:pt x="43842" y="105916"/>
                </a:cubicBezTo>
                <a:lnTo>
                  <a:pt x="54570" y="148859"/>
                </a:lnTo>
                <a:lnTo>
                  <a:pt x="54756" y="148859"/>
                </a:lnTo>
                <a:lnTo>
                  <a:pt x="64368" y="113171"/>
                </a:lnTo>
                <a:lnTo>
                  <a:pt x="55873" y="103250"/>
                </a:lnTo>
                <a:cubicBezTo>
                  <a:pt x="55035" y="102257"/>
                  <a:pt x="54570" y="101017"/>
                  <a:pt x="54570" y="99715"/>
                </a:cubicBezTo>
                <a:cubicBezTo>
                  <a:pt x="54570" y="96707"/>
                  <a:pt x="56989" y="94289"/>
                  <a:pt x="59996" y="94289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74688" y="1143000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Expert Assessment (n=50 CFPs)</a:t>
            </a:r>
            <a:endParaRPr lang="en-US" sz="1600" dirty="0"/>
          </a:p>
        </p:txBody>
      </p:sp>
      <p:pic>
        <p:nvPicPr>
          <p:cNvPr id="7" name="Image 0" descr="https://kimi-img.moonshot.cn/pub/slides/26-04-04-19:38:48-d78fgi4br5jttvqrr03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6250" y="1492250"/>
            <a:ext cx="4349750" cy="22225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317500" y="4000500"/>
            <a:ext cx="5683250" cy="1778000"/>
          </a:xfrm>
          <a:custGeom>
            <a:avLst/>
            <a:gdLst/>
            <a:ahLst/>
            <a:cxnLst/>
            <a:rect l="l" t="t" r="r" b="b"/>
            <a:pathLst>
              <a:path w="5683250" h="1778000">
                <a:moveTo>
                  <a:pt x="63492" y="0"/>
                </a:moveTo>
                <a:lnTo>
                  <a:pt x="5619758" y="0"/>
                </a:lnTo>
                <a:cubicBezTo>
                  <a:pt x="5654823" y="0"/>
                  <a:pt x="5683250" y="28427"/>
                  <a:pt x="5683250" y="63492"/>
                </a:cubicBezTo>
                <a:lnTo>
                  <a:pt x="5683250" y="1714508"/>
                </a:lnTo>
                <a:cubicBezTo>
                  <a:pt x="5683250" y="1749573"/>
                  <a:pt x="5654823" y="1778000"/>
                  <a:pt x="5619758" y="1778000"/>
                </a:cubicBezTo>
                <a:lnTo>
                  <a:pt x="63492" y="1778000"/>
                </a:lnTo>
                <a:cubicBezTo>
                  <a:pt x="28427" y="1778000"/>
                  <a:pt x="0" y="1749573"/>
                  <a:pt x="0" y="1714508"/>
                </a:cubicBezTo>
                <a:lnTo>
                  <a:pt x="0" y="63492"/>
                </a:lnTo>
                <a:cubicBezTo>
                  <a:pt x="0" y="28450"/>
                  <a:pt x="28450" y="0"/>
                  <a:pt x="6349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9" name="Shape 6"/>
          <p:cNvSpPr/>
          <p:nvPr/>
        </p:nvSpPr>
        <p:spPr>
          <a:xfrm>
            <a:off x="476250" y="4191000"/>
            <a:ext cx="198438" cy="158750"/>
          </a:xfrm>
          <a:custGeom>
            <a:avLst/>
            <a:gdLst/>
            <a:ahLst/>
            <a:cxnLst/>
            <a:rect l="l" t="t" r="r" b="b"/>
            <a:pathLst>
              <a:path w="198438" h="158750">
                <a:moveTo>
                  <a:pt x="99219" y="4961"/>
                </a:moveTo>
                <a:cubicBezTo>
                  <a:pt x="117016" y="4961"/>
                  <a:pt x="131465" y="19410"/>
                  <a:pt x="131465" y="37207"/>
                </a:cubicBezTo>
                <a:cubicBezTo>
                  <a:pt x="131465" y="55004"/>
                  <a:pt x="117016" y="69453"/>
                  <a:pt x="99219" y="69453"/>
                </a:cubicBezTo>
                <a:cubicBezTo>
                  <a:pt x="81422" y="69453"/>
                  <a:pt x="66973" y="55004"/>
                  <a:pt x="66973" y="37207"/>
                </a:cubicBezTo>
                <a:cubicBezTo>
                  <a:pt x="66973" y="19410"/>
                  <a:pt x="81422" y="4961"/>
                  <a:pt x="99219" y="4961"/>
                </a:cubicBezTo>
                <a:close/>
                <a:moveTo>
                  <a:pt x="29766" y="27285"/>
                </a:moveTo>
                <a:cubicBezTo>
                  <a:pt x="42087" y="27285"/>
                  <a:pt x="52090" y="37288"/>
                  <a:pt x="52090" y="49609"/>
                </a:cubicBezTo>
                <a:cubicBezTo>
                  <a:pt x="52090" y="61930"/>
                  <a:pt x="42087" y="71934"/>
                  <a:pt x="29766" y="71934"/>
                </a:cubicBezTo>
                <a:cubicBezTo>
                  <a:pt x="17445" y="71934"/>
                  <a:pt x="7441" y="61930"/>
                  <a:pt x="7441" y="49609"/>
                </a:cubicBezTo>
                <a:cubicBezTo>
                  <a:pt x="7441" y="37288"/>
                  <a:pt x="17445" y="27285"/>
                  <a:pt x="29766" y="27285"/>
                </a:cubicBezTo>
                <a:close/>
                <a:moveTo>
                  <a:pt x="0" y="128984"/>
                </a:moveTo>
                <a:cubicBezTo>
                  <a:pt x="0" y="107063"/>
                  <a:pt x="17766" y="89297"/>
                  <a:pt x="39688" y="89297"/>
                </a:cubicBezTo>
                <a:cubicBezTo>
                  <a:pt x="43656" y="89297"/>
                  <a:pt x="47501" y="89886"/>
                  <a:pt x="51129" y="90971"/>
                </a:cubicBezTo>
                <a:cubicBezTo>
                  <a:pt x="40928" y="102381"/>
                  <a:pt x="34727" y="117450"/>
                  <a:pt x="34727" y="133945"/>
                </a:cubicBezTo>
                <a:lnTo>
                  <a:pt x="34727" y="138906"/>
                </a:lnTo>
                <a:cubicBezTo>
                  <a:pt x="34727" y="142441"/>
                  <a:pt x="35471" y="145790"/>
                  <a:pt x="36804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28984"/>
                </a:lnTo>
                <a:close/>
                <a:moveTo>
                  <a:pt x="161634" y="148828"/>
                </a:moveTo>
                <a:cubicBezTo>
                  <a:pt x="162967" y="145790"/>
                  <a:pt x="163711" y="142441"/>
                  <a:pt x="163711" y="138906"/>
                </a:cubicBezTo>
                <a:lnTo>
                  <a:pt x="163711" y="133945"/>
                </a:lnTo>
                <a:cubicBezTo>
                  <a:pt x="163711" y="117450"/>
                  <a:pt x="157510" y="102381"/>
                  <a:pt x="147309" y="90971"/>
                </a:cubicBezTo>
                <a:cubicBezTo>
                  <a:pt x="150937" y="89886"/>
                  <a:pt x="154781" y="89297"/>
                  <a:pt x="158750" y="89297"/>
                </a:cubicBezTo>
                <a:cubicBezTo>
                  <a:pt x="180671" y="89297"/>
                  <a:pt x="198438" y="107063"/>
                  <a:pt x="198438" y="128984"/>
                </a:cubicBezTo>
                <a:lnTo>
                  <a:pt x="198438" y="138906"/>
                </a:lnTo>
                <a:cubicBezTo>
                  <a:pt x="198438" y="144394"/>
                  <a:pt x="194004" y="148828"/>
                  <a:pt x="188516" y="148828"/>
                </a:cubicBezTo>
                <a:lnTo>
                  <a:pt x="161634" y="148828"/>
                </a:lnTo>
                <a:close/>
                <a:moveTo>
                  <a:pt x="146348" y="49609"/>
                </a:moveTo>
                <a:cubicBezTo>
                  <a:pt x="146348" y="37288"/>
                  <a:pt x="156351" y="27285"/>
                  <a:pt x="168672" y="27285"/>
                </a:cubicBezTo>
                <a:cubicBezTo>
                  <a:pt x="180993" y="27285"/>
                  <a:pt x="190996" y="37288"/>
                  <a:pt x="190996" y="49609"/>
                </a:cubicBezTo>
                <a:cubicBezTo>
                  <a:pt x="190996" y="61930"/>
                  <a:pt x="180993" y="71934"/>
                  <a:pt x="168672" y="71934"/>
                </a:cubicBezTo>
                <a:cubicBezTo>
                  <a:pt x="156351" y="71934"/>
                  <a:pt x="146348" y="61930"/>
                  <a:pt x="146348" y="49609"/>
                </a:cubicBezTo>
                <a:close/>
                <a:moveTo>
                  <a:pt x="49609" y="133945"/>
                </a:moveTo>
                <a:cubicBezTo>
                  <a:pt x="49609" y="106536"/>
                  <a:pt x="71810" y="84336"/>
                  <a:pt x="99219" y="84336"/>
                </a:cubicBezTo>
                <a:cubicBezTo>
                  <a:pt x="126628" y="84336"/>
                  <a:pt x="148828" y="106536"/>
                  <a:pt x="148828" y="133945"/>
                </a:cubicBezTo>
                <a:lnTo>
                  <a:pt x="148828" y="138906"/>
                </a:lnTo>
                <a:cubicBezTo>
                  <a:pt x="148828" y="144394"/>
                  <a:pt x="144394" y="148828"/>
                  <a:pt x="138906" y="148828"/>
                </a:cubicBezTo>
                <a:lnTo>
                  <a:pt x="59531" y="148828"/>
                </a:lnTo>
                <a:cubicBezTo>
                  <a:pt x="54043" y="148828"/>
                  <a:pt x="49609" y="144394"/>
                  <a:pt x="49609" y="138906"/>
                </a:cubicBezTo>
                <a:lnTo>
                  <a:pt x="49609" y="13394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7"/>
          <p:cNvSpPr/>
          <p:nvPr/>
        </p:nvSpPr>
        <p:spPr>
          <a:xfrm>
            <a:off x="674688" y="4159250"/>
            <a:ext cx="524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User Satisfaction (n=2,000)</a:t>
            </a:r>
            <a:endParaRPr lang="en-US" sz="1600" dirty="0"/>
          </a:p>
        </p:txBody>
      </p:sp>
      <p:pic>
        <p:nvPicPr>
          <p:cNvPr id="11" name="Image 1" descr="https://kimi-img.moonshot.cn/pub/slides/26-04-04-19:38:49-d78fgie97i0lsosau5m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6250" y="4508500"/>
            <a:ext cx="4349750" cy="1111250"/>
          </a:xfrm>
          <a:prstGeom prst="roundRect">
            <a:avLst>
              <a:gd name="adj" fmla="val 0"/>
            </a:avLst>
          </a:prstGeom>
        </p:spPr>
      </p:pic>
      <p:sp>
        <p:nvSpPr>
          <p:cNvPr id="12" name="Shape 8"/>
          <p:cNvSpPr/>
          <p:nvPr/>
        </p:nvSpPr>
        <p:spPr>
          <a:xfrm>
            <a:off x="6191250" y="984250"/>
            <a:ext cx="5683250" cy="2317750"/>
          </a:xfrm>
          <a:custGeom>
            <a:avLst/>
            <a:gdLst/>
            <a:ahLst/>
            <a:cxnLst/>
            <a:rect l="l" t="t" r="r" b="b"/>
            <a:pathLst>
              <a:path w="5683250" h="2317750">
                <a:moveTo>
                  <a:pt x="63506" y="0"/>
                </a:moveTo>
                <a:lnTo>
                  <a:pt x="5619744" y="0"/>
                </a:lnTo>
                <a:cubicBezTo>
                  <a:pt x="5654817" y="0"/>
                  <a:pt x="5683250" y="28433"/>
                  <a:pt x="5683250" y="63506"/>
                </a:cubicBezTo>
                <a:lnTo>
                  <a:pt x="5683250" y="2254244"/>
                </a:lnTo>
                <a:cubicBezTo>
                  <a:pt x="5683250" y="2289317"/>
                  <a:pt x="5654817" y="2317750"/>
                  <a:pt x="5619744" y="2317750"/>
                </a:cubicBezTo>
                <a:lnTo>
                  <a:pt x="63506" y="2317750"/>
                </a:lnTo>
                <a:cubicBezTo>
                  <a:pt x="28433" y="2317750"/>
                  <a:pt x="0" y="2289317"/>
                  <a:pt x="0" y="225424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9"/>
          <p:cNvSpPr/>
          <p:nvPr/>
        </p:nvSpPr>
        <p:spPr>
          <a:xfrm>
            <a:off x="6318250" y="1111250"/>
            <a:ext cx="5508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Expert Evaluation Rubric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318250" y="1428750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31748" y="0"/>
                </a:moveTo>
                <a:lnTo>
                  <a:pt x="5397502" y="0"/>
                </a:lnTo>
                <a:cubicBezTo>
                  <a:pt x="5415036" y="0"/>
                  <a:pt x="5429250" y="14214"/>
                  <a:pt x="5429250" y="31748"/>
                </a:cubicBezTo>
                <a:lnTo>
                  <a:pt x="5429250" y="508002"/>
                </a:lnTo>
                <a:cubicBezTo>
                  <a:pt x="5429250" y="525536"/>
                  <a:pt x="5415036" y="539750"/>
                  <a:pt x="53975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6381750" y="1508125"/>
            <a:ext cx="2293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381750" y="1698625"/>
            <a:ext cx="2293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Factual correctness, calculation precision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0911954" y="1492250"/>
            <a:ext cx="769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4.7/5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0927829" y="1714500"/>
            <a:ext cx="754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Weight: 30%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318250" y="2032000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31748" y="0"/>
                </a:moveTo>
                <a:lnTo>
                  <a:pt x="5397502" y="0"/>
                </a:lnTo>
                <a:cubicBezTo>
                  <a:pt x="5415036" y="0"/>
                  <a:pt x="5429250" y="14214"/>
                  <a:pt x="5429250" y="31748"/>
                </a:cubicBezTo>
                <a:lnTo>
                  <a:pt x="5429250" y="508002"/>
                </a:lnTo>
                <a:cubicBezTo>
                  <a:pt x="5429250" y="525536"/>
                  <a:pt x="5415036" y="539750"/>
                  <a:pt x="53975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Text 16"/>
          <p:cNvSpPr/>
          <p:nvPr/>
        </p:nvSpPr>
        <p:spPr>
          <a:xfrm>
            <a:off x="6381750" y="2111375"/>
            <a:ext cx="210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Suitability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381750" y="2301875"/>
            <a:ext cx="2103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Alignment with user profile and goals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0927581" y="2095500"/>
            <a:ext cx="754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4.5/5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0943456" y="2317750"/>
            <a:ext cx="738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Weight: 25%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318250" y="2635250"/>
            <a:ext cx="5429250" cy="539750"/>
          </a:xfrm>
          <a:custGeom>
            <a:avLst/>
            <a:gdLst/>
            <a:ahLst/>
            <a:cxnLst/>
            <a:rect l="l" t="t" r="r" b="b"/>
            <a:pathLst>
              <a:path w="5429250" h="539750">
                <a:moveTo>
                  <a:pt x="31748" y="0"/>
                </a:moveTo>
                <a:lnTo>
                  <a:pt x="5397502" y="0"/>
                </a:lnTo>
                <a:cubicBezTo>
                  <a:pt x="5415036" y="0"/>
                  <a:pt x="5429250" y="14214"/>
                  <a:pt x="5429250" y="31748"/>
                </a:cubicBezTo>
                <a:lnTo>
                  <a:pt x="5429250" y="508002"/>
                </a:lnTo>
                <a:cubicBezTo>
                  <a:pt x="5429250" y="525536"/>
                  <a:pt x="5415036" y="539750"/>
                  <a:pt x="5397502" y="539750"/>
                </a:cubicBezTo>
                <a:lnTo>
                  <a:pt x="31748" y="539750"/>
                </a:lnTo>
                <a:cubicBezTo>
                  <a:pt x="14214" y="539750"/>
                  <a:pt x="0" y="525536"/>
                  <a:pt x="0" y="508002"/>
                </a:cubicBezTo>
                <a:lnTo>
                  <a:pt x="0" y="31748"/>
                </a:lnTo>
                <a:cubicBezTo>
                  <a:pt x="0" y="14226"/>
                  <a:pt x="14226" y="0"/>
                  <a:pt x="3174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Text 21"/>
          <p:cNvSpPr/>
          <p:nvPr/>
        </p:nvSpPr>
        <p:spPr>
          <a:xfrm>
            <a:off x="6381750" y="2714625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Risk Assessment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381750" y="2905125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Appropriate risk evaluation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10943828" y="2698750"/>
            <a:ext cx="738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4.8/5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0959703" y="2921000"/>
            <a:ext cx="722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Weight: 15%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191250" y="3397250"/>
            <a:ext cx="5683250" cy="2349500"/>
          </a:xfrm>
          <a:custGeom>
            <a:avLst/>
            <a:gdLst/>
            <a:ahLst/>
            <a:cxnLst/>
            <a:rect l="l" t="t" r="r" b="b"/>
            <a:pathLst>
              <a:path w="5683250" h="2349500">
                <a:moveTo>
                  <a:pt x="63507" y="0"/>
                </a:moveTo>
                <a:lnTo>
                  <a:pt x="5619743" y="0"/>
                </a:lnTo>
                <a:cubicBezTo>
                  <a:pt x="5654817" y="0"/>
                  <a:pt x="5683250" y="28433"/>
                  <a:pt x="5683250" y="63507"/>
                </a:cubicBezTo>
                <a:lnTo>
                  <a:pt x="5683250" y="2285993"/>
                </a:lnTo>
                <a:cubicBezTo>
                  <a:pt x="5683250" y="2321067"/>
                  <a:pt x="5654817" y="2349500"/>
                  <a:pt x="5619743" y="2349500"/>
                </a:cubicBezTo>
                <a:lnTo>
                  <a:pt x="63507" y="2349500"/>
                </a:lnTo>
                <a:cubicBezTo>
                  <a:pt x="28433" y="2349500"/>
                  <a:pt x="0" y="2321067"/>
                  <a:pt x="0" y="2285993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Text 26"/>
          <p:cNvSpPr/>
          <p:nvPr/>
        </p:nvSpPr>
        <p:spPr>
          <a:xfrm>
            <a:off x="6318250" y="3524250"/>
            <a:ext cx="5500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Error Analysis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6322219" y="3845719"/>
            <a:ext cx="5421313" cy="388938"/>
          </a:xfrm>
          <a:custGeom>
            <a:avLst/>
            <a:gdLst/>
            <a:ahLst/>
            <a:cxnLst/>
            <a:rect l="l" t="t" r="r" b="b"/>
            <a:pathLst>
              <a:path w="5421313" h="388938">
                <a:moveTo>
                  <a:pt x="31749" y="0"/>
                </a:moveTo>
                <a:lnTo>
                  <a:pt x="5389564" y="0"/>
                </a:lnTo>
                <a:cubicBezTo>
                  <a:pt x="5407098" y="0"/>
                  <a:pt x="5421313" y="14214"/>
                  <a:pt x="5421313" y="31749"/>
                </a:cubicBezTo>
                <a:lnTo>
                  <a:pt x="5421313" y="357189"/>
                </a:lnTo>
                <a:cubicBezTo>
                  <a:pt x="5421313" y="374723"/>
                  <a:pt x="5407098" y="388938"/>
                  <a:pt x="5389564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421438" y="3944937"/>
            <a:ext cx="98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Arithmetic Error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11402343" y="3944937"/>
            <a:ext cx="30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1.3%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6322219" y="4306094"/>
            <a:ext cx="5421313" cy="388938"/>
          </a:xfrm>
          <a:custGeom>
            <a:avLst/>
            <a:gdLst/>
            <a:ahLst/>
            <a:cxnLst/>
            <a:rect l="l" t="t" r="r" b="b"/>
            <a:pathLst>
              <a:path w="5421313" h="388938">
                <a:moveTo>
                  <a:pt x="31749" y="0"/>
                </a:moveTo>
                <a:lnTo>
                  <a:pt x="5389564" y="0"/>
                </a:lnTo>
                <a:cubicBezTo>
                  <a:pt x="5407098" y="0"/>
                  <a:pt x="5421313" y="14214"/>
                  <a:pt x="5421313" y="31749"/>
                </a:cubicBezTo>
                <a:lnTo>
                  <a:pt x="5421313" y="357189"/>
                </a:lnTo>
                <a:cubicBezTo>
                  <a:pt x="5421313" y="374723"/>
                  <a:pt x="5407098" y="388938"/>
                  <a:pt x="5389564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21438" y="4405313"/>
            <a:ext cx="1214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Constraint Violation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11384483" y="4405313"/>
            <a:ext cx="325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D08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3.7%</a:t>
            </a:r>
            <a:endParaRPr lang="en-US" sz="1600" dirty="0"/>
          </a:p>
        </p:txBody>
      </p:sp>
      <p:sp>
        <p:nvSpPr>
          <p:cNvPr id="37" name="Shape 33"/>
          <p:cNvSpPr/>
          <p:nvPr/>
        </p:nvSpPr>
        <p:spPr>
          <a:xfrm>
            <a:off x="6322219" y="4766469"/>
            <a:ext cx="5421313" cy="388938"/>
          </a:xfrm>
          <a:custGeom>
            <a:avLst/>
            <a:gdLst/>
            <a:ahLst/>
            <a:cxnLst/>
            <a:rect l="l" t="t" r="r" b="b"/>
            <a:pathLst>
              <a:path w="5421313" h="388938">
                <a:moveTo>
                  <a:pt x="31749" y="0"/>
                </a:moveTo>
                <a:lnTo>
                  <a:pt x="5389564" y="0"/>
                </a:lnTo>
                <a:cubicBezTo>
                  <a:pt x="5407098" y="0"/>
                  <a:pt x="5421313" y="14214"/>
                  <a:pt x="5421313" y="31749"/>
                </a:cubicBezTo>
                <a:lnTo>
                  <a:pt x="5421313" y="357189"/>
                </a:lnTo>
                <a:cubicBezTo>
                  <a:pt x="5421313" y="374723"/>
                  <a:pt x="5407098" y="388938"/>
                  <a:pt x="5389564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421438" y="4865688"/>
            <a:ext cx="115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Inconsistent Advice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11377538" y="4865688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54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5.2%</a:t>
            </a:r>
            <a:endParaRPr lang="en-US" sz="1600" dirty="0"/>
          </a:p>
        </p:txBody>
      </p:sp>
      <p:sp>
        <p:nvSpPr>
          <p:cNvPr id="40" name="Shape 36"/>
          <p:cNvSpPr/>
          <p:nvPr/>
        </p:nvSpPr>
        <p:spPr>
          <a:xfrm>
            <a:off x="6322219" y="5226844"/>
            <a:ext cx="5421313" cy="388938"/>
          </a:xfrm>
          <a:custGeom>
            <a:avLst/>
            <a:gdLst/>
            <a:ahLst/>
            <a:cxnLst/>
            <a:rect l="l" t="t" r="r" b="b"/>
            <a:pathLst>
              <a:path w="5421313" h="388938">
                <a:moveTo>
                  <a:pt x="31749" y="0"/>
                </a:moveTo>
                <a:lnTo>
                  <a:pt x="5389564" y="0"/>
                </a:lnTo>
                <a:cubicBezTo>
                  <a:pt x="5407098" y="0"/>
                  <a:pt x="5421313" y="14214"/>
                  <a:pt x="5421313" y="31749"/>
                </a:cubicBezTo>
                <a:lnTo>
                  <a:pt x="5421313" y="357189"/>
                </a:lnTo>
                <a:cubicBezTo>
                  <a:pt x="5421313" y="374723"/>
                  <a:pt x="5407098" y="388938"/>
                  <a:pt x="5389564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421438" y="5326063"/>
            <a:ext cx="817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Hallucination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11405567" y="5326063"/>
            <a:ext cx="30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00A6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1.2%</a:t>
            </a:r>
            <a:endParaRPr lang="en-US" sz="1600" dirty="0"/>
          </a:p>
        </p:txBody>
      </p:sp>
      <p:sp>
        <p:nvSpPr>
          <p:cNvPr id="43" name="Shape 39"/>
          <p:cNvSpPr/>
          <p:nvPr/>
        </p:nvSpPr>
        <p:spPr>
          <a:xfrm>
            <a:off x="6195219" y="5845969"/>
            <a:ext cx="5675313" cy="896938"/>
          </a:xfrm>
          <a:custGeom>
            <a:avLst/>
            <a:gdLst/>
            <a:ahLst/>
            <a:cxnLst/>
            <a:rect l="l" t="t" r="r" b="b"/>
            <a:pathLst>
              <a:path w="5675313" h="896938">
                <a:moveTo>
                  <a:pt x="63503" y="0"/>
                </a:moveTo>
                <a:lnTo>
                  <a:pt x="5611809" y="0"/>
                </a:lnTo>
                <a:cubicBezTo>
                  <a:pt x="5646881" y="0"/>
                  <a:pt x="5675312" y="28431"/>
                  <a:pt x="5675312" y="63503"/>
                </a:cubicBezTo>
                <a:lnTo>
                  <a:pt x="5675313" y="833434"/>
                </a:lnTo>
                <a:cubicBezTo>
                  <a:pt x="5675312" y="868506"/>
                  <a:pt x="5646881" y="896938"/>
                  <a:pt x="5611809" y="896938"/>
                </a:cubicBezTo>
                <a:lnTo>
                  <a:pt x="63503" y="896938"/>
                </a:lnTo>
                <a:cubicBezTo>
                  <a:pt x="28431" y="896938"/>
                  <a:pt x="0" y="868506"/>
                  <a:pt x="0" y="833434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326188" y="5976938"/>
            <a:ext cx="547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Finding</a:t>
            </a:r>
            <a:endParaRPr lang="en-US" sz="1600" dirty="0"/>
          </a:p>
        </p:txBody>
      </p:sp>
      <p:sp>
        <p:nvSpPr>
          <p:cNvPr id="45" name="Text 41"/>
          <p:cNvSpPr/>
          <p:nvPr/>
        </p:nvSpPr>
        <p:spPr>
          <a:xfrm>
            <a:off x="6326188" y="6230938"/>
            <a:ext cx="5476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87% user trust score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vs 62% for baseline systems, demonstrating significantly higher confidence in multi-agent recommendations.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679" y="343679"/>
            <a:ext cx="11564786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spc="47" kern="0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 TECHNOLOGY 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3679" y="584254"/>
            <a:ext cx="11659298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6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Full-Stack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3679" y="1082588"/>
            <a:ext cx="3746097" cy="4553742"/>
          </a:xfrm>
          <a:custGeom>
            <a:avLst/>
            <a:gdLst/>
            <a:ahLst/>
            <a:cxnLst/>
            <a:rect l="l" t="t" r="r" b="b"/>
            <a:pathLst>
              <a:path w="3746097" h="4553742">
                <a:moveTo>
                  <a:pt x="34368" y="0"/>
                </a:moveTo>
                <a:lnTo>
                  <a:pt x="3711729" y="0"/>
                </a:lnTo>
                <a:cubicBezTo>
                  <a:pt x="3730710" y="0"/>
                  <a:pt x="3746097" y="15387"/>
                  <a:pt x="3746097" y="34368"/>
                </a:cubicBezTo>
                <a:lnTo>
                  <a:pt x="3746097" y="4485001"/>
                </a:lnTo>
                <a:cubicBezTo>
                  <a:pt x="3746097" y="4522966"/>
                  <a:pt x="3715321" y="4553742"/>
                  <a:pt x="3677356" y="4553742"/>
                </a:cubicBezTo>
                <a:lnTo>
                  <a:pt x="68741" y="4553742"/>
                </a:lnTo>
                <a:cubicBezTo>
                  <a:pt x="30776" y="4553742"/>
                  <a:pt x="0" y="4522966"/>
                  <a:pt x="0" y="448500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343679" y="1082588"/>
            <a:ext cx="3746097" cy="34368"/>
          </a:xfrm>
          <a:custGeom>
            <a:avLst/>
            <a:gdLst/>
            <a:ahLst/>
            <a:cxnLst/>
            <a:rect l="l" t="t" r="r" b="b"/>
            <a:pathLst>
              <a:path w="3746097" h="34368">
                <a:moveTo>
                  <a:pt x="34368" y="0"/>
                </a:moveTo>
                <a:lnTo>
                  <a:pt x="3711729" y="0"/>
                </a:lnTo>
                <a:cubicBezTo>
                  <a:pt x="3730710" y="0"/>
                  <a:pt x="3746097" y="15387"/>
                  <a:pt x="3746097" y="34368"/>
                </a:cubicBezTo>
                <a:lnTo>
                  <a:pt x="3746097" y="34368"/>
                </a:lnTo>
                <a:lnTo>
                  <a:pt x="0" y="34368"/>
                </a:ln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81150" y="1237243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68737" y="0"/>
                </a:moveTo>
                <a:lnTo>
                  <a:pt x="343677" y="0"/>
                </a:lnTo>
                <a:cubicBezTo>
                  <a:pt x="381614" y="0"/>
                  <a:pt x="412414" y="30800"/>
                  <a:pt x="412414" y="68737"/>
                </a:cubicBezTo>
                <a:lnTo>
                  <a:pt x="412414" y="343677"/>
                </a:lnTo>
                <a:cubicBezTo>
                  <a:pt x="412414" y="381614"/>
                  <a:pt x="381614" y="412414"/>
                  <a:pt x="34367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01438" y="1357531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21480" y="10740"/>
                </a:moveTo>
                <a:cubicBezTo>
                  <a:pt x="9632" y="10740"/>
                  <a:pt x="0" y="20372"/>
                  <a:pt x="0" y="32220"/>
                </a:cubicBezTo>
                <a:lnTo>
                  <a:pt x="0" y="118140"/>
                </a:lnTo>
                <a:cubicBezTo>
                  <a:pt x="0" y="129987"/>
                  <a:pt x="9632" y="139619"/>
                  <a:pt x="21480" y="139619"/>
                </a:cubicBezTo>
                <a:lnTo>
                  <a:pt x="69810" y="139619"/>
                </a:lnTo>
                <a:lnTo>
                  <a:pt x="64440" y="155729"/>
                </a:lnTo>
                <a:lnTo>
                  <a:pt x="40275" y="155729"/>
                </a:lnTo>
                <a:cubicBezTo>
                  <a:pt x="35811" y="155729"/>
                  <a:pt x="32220" y="159321"/>
                  <a:pt x="32220" y="163784"/>
                </a:cubicBezTo>
                <a:cubicBezTo>
                  <a:pt x="32220" y="168248"/>
                  <a:pt x="35811" y="171839"/>
                  <a:pt x="40275" y="171839"/>
                </a:cubicBezTo>
                <a:lnTo>
                  <a:pt x="131564" y="171839"/>
                </a:lnTo>
                <a:cubicBezTo>
                  <a:pt x="136028" y="171839"/>
                  <a:pt x="139619" y="168248"/>
                  <a:pt x="139619" y="163784"/>
                </a:cubicBezTo>
                <a:cubicBezTo>
                  <a:pt x="139619" y="159321"/>
                  <a:pt x="136028" y="155729"/>
                  <a:pt x="131564" y="155729"/>
                </a:cubicBezTo>
                <a:lnTo>
                  <a:pt x="107400" y="155729"/>
                </a:lnTo>
                <a:lnTo>
                  <a:pt x="102030" y="139619"/>
                </a:lnTo>
                <a:lnTo>
                  <a:pt x="150359" y="139619"/>
                </a:lnTo>
                <a:cubicBezTo>
                  <a:pt x="162207" y="139619"/>
                  <a:pt x="171839" y="129987"/>
                  <a:pt x="171839" y="118140"/>
                </a:cubicBezTo>
                <a:lnTo>
                  <a:pt x="171839" y="32220"/>
                </a:lnTo>
                <a:cubicBezTo>
                  <a:pt x="171839" y="20372"/>
                  <a:pt x="162207" y="10740"/>
                  <a:pt x="150359" y="10740"/>
                </a:cubicBezTo>
                <a:lnTo>
                  <a:pt x="21480" y="10740"/>
                </a:lnTo>
                <a:close/>
                <a:moveTo>
                  <a:pt x="32220" y="32220"/>
                </a:moveTo>
                <a:lnTo>
                  <a:pt x="139619" y="32220"/>
                </a:lnTo>
                <a:cubicBezTo>
                  <a:pt x="145560" y="32220"/>
                  <a:pt x="150359" y="37019"/>
                  <a:pt x="150359" y="42960"/>
                </a:cubicBezTo>
                <a:lnTo>
                  <a:pt x="150359" y="96660"/>
                </a:lnTo>
                <a:cubicBezTo>
                  <a:pt x="150359" y="102600"/>
                  <a:pt x="145560" y="107400"/>
                  <a:pt x="139619" y="107400"/>
                </a:cubicBezTo>
                <a:lnTo>
                  <a:pt x="32220" y="107400"/>
                </a:lnTo>
                <a:cubicBezTo>
                  <a:pt x="26279" y="107400"/>
                  <a:pt x="21480" y="102600"/>
                  <a:pt x="21480" y="96660"/>
                </a:cubicBezTo>
                <a:lnTo>
                  <a:pt x="21480" y="42960"/>
                </a:lnTo>
                <a:cubicBezTo>
                  <a:pt x="21480" y="37019"/>
                  <a:pt x="26279" y="32220"/>
                  <a:pt x="32220" y="3222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96668" y="1323163"/>
            <a:ext cx="781869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Frontend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5446" y="1757057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8478" y="1830089"/>
            <a:ext cx="549886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React 18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16428" y="1864457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112286" y="47578"/>
                </a:moveTo>
                <a:cubicBezTo>
                  <a:pt x="110836" y="47095"/>
                  <a:pt x="109386" y="46638"/>
                  <a:pt x="107937" y="46209"/>
                </a:cubicBezTo>
                <a:cubicBezTo>
                  <a:pt x="108178" y="45215"/>
                  <a:pt x="108393" y="44222"/>
                  <a:pt x="108608" y="43228"/>
                </a:cubicBezTo>
                <a:cubicBezTo>
                  <a:pt x="111910" y="27226"/>
                  <a:pt x="109736" y="14365"/>
                  <a:pt x="102405" y="10122"/>
                </a:cubicBezTo>
                <a:cubicBezTo>
                  <a:pt x="95344" y="6068"/>
                  <a:pt x="83825" y="10284"/>
                  <a:pt x="72173" y="20433"/>
                </a:cubicBezTo>
                <a:cubicBezTo>
                  <a:pt x="71018" y="21426"/>
                  <a:pt x="69890" y="22473"/>
                  <a:pt x="68816" y="23521"/>
                </a:cubicBezTo>
                <a:cubicBezTo>
                  <a:pt x="68091" y="22822"/>
                  <a:pt x="67340" y="22124"/>
                  <a:pt x="66588" y="21453"/>
                </a:cubicBezTo>
                <a:cubicBezTo>
                  <a:pt x="54371" y="10606"/>
                  <a:pt x="42127" y="6041"/>
                  <a:pt x="34797" y="10310"/>
                </a:cubicBezTo>
                <a:cubicBezTo>
                  <a:pt x="27763" y="14392"/>
                  <a:pt x="25668" y="26501"/>
                  <a:pt x="28622" y="41644"/>
                </a:cubicBezTo>
                <a:cubicBezTo>
                  <a:pt x="28917" y="43148"/>
                  <a:pt x="29240" y="44625"/>
                  <a:pt x="29615" y="46128"/>
                </a:cubicBezTo>
                <a:cubicBezTo>
                  <a:pt x="27897" y="46611"/>
                  <a:pt x="26205" y="47148"/>
                  <a:pt x="24621" y="47712"/>
                </a:cubicBezTo>
                <a:cubicBezTo>
                  <a:pt x="10284" y="52679"/>
                  <a:pt x="0" y="60520"/>
                  <a:pt x="0" y="68628"/>
                </a:cubicBezTo>
                <a:cubicBezTo>
                  <a:pt x="0" y="77005"/>
                  <a:pt x="10955" y="85410"/>
                  <a:pt x="25856" y="90511"/>
                </a:cubicBezTo>
                <a:cubicBezTo>
                  <a:pt x="27065" y="90914"/>
                  <a:pt x="28273" y="91316"/>
                  <a:pt x="29508" y="91666"/>
                </a:cubicBezTo>
                <a:cubicBezTo>
                  <a:pt x="29105" y="93277"/>
                  <a:pt x="28756" y="94861"/>
                  <a:pt x="28434" y="96499"/>
                </a:cubicBezTo>
                <a:cubicBezTo>
                  <a:pt x="25615" y="111400"/>
                  <a:pt x="27816" y="123214"/>
                  <a:pt x="34851" y="127268"/>
                </a:cubicBezTo>
                <a:cubicBezTo>
                  <a:pt x="42101" y="131457"/>
                  <a:pt x="54290" y="127161"/>
                  <a:pt x="66158" y="116770"/>
                </a:cubicBezTo>
                <a:cubicBezTo>
                  <a:pt x="67098" y="115938"/>
                  <a:pt x="68038" y="115079"/>
                  <a:pt x="68977" y="114166"/>
                </a:cubicBezTo>
                <a:cubicBezTo>
                  <a:pt x="70159" y="115320"/>
                  <a:pt x="71394" y="116421"/>
                  <a:pt x="72629" y="117495"/>
                </a:cubicBezTo>
                <a:cubicBezTo>
                  <a:pt x="84121" y="127376"/>
                  <a:pt x="95478" y="131377"/>
                  <a:pt x="102486" y="127322"/>
                </a:cubicBezTo>
                <a:cubicBezTo>
                  <a:pt x="109736" y="123134"/>
                  <a:pt x="112098" y="110434"/>
                  <a:pt x="109037" y="94968"/>
                </a:cubicBezTo>
                <a:cubicBezTo>
                  <a:pt x="108796" y="93787"/>
                  <a:pt x="108527" y="92578"/>
                  <a:pt x="108232" y="91343"/>
                </a:cubicBezTo>
                <a:cubicBezTo>
                  <a:pt x="109091" y="91102"/>
                  <a:pt x="109923" y="90833"/>
                  <a:pt x="110756" y="90565"/>
                </a:cubicBezTo>
                <a:cubicBezTo>
                  <a:pt x="126248" y="85436"/>
                  <a:pt x="137471" y="77140"/>
                  <a:pt x="137471" y="68628"/>
                </a:cubicBezTo>
                <a:cubicBezTo>
                  <a:pt x="137471" y="60493"/>
                  <a:pt x="126893" y="52599"/>
                  <a:pt x="112286" y="47578"/>
                </a:cubicBezTo>
                <a:close/>
                <a:moveTo>
                  <a:pt x="75958" y="24782"/>
                </a:moveTo>
                <a:cubicBezTo>
                  <a:pt x="85947" y="16083"/>
                  <a:pt x="95263" y="12673"/>
                  <a:pt x="99506" y="15116"/>
                </a:cubicBezTo>
                <a:cubicBezTo>
                  <a:pt x="104043" y="17721"/>
                  <a:pt x="105789" y="28246"/>
                  <a:pt x="102942" y="42074"/>
                </a:cubicBezTo>
                <a:cubicBezTo>
                  <a:pt x="102755" y="42987"/>
                  <a:pt x="102567" y="43873"/>
                  <a:pt x="102325" y="44759"/>
                </a:cubicBezTo>
                <a:cubicBezTo>
                  <a:pt x="96364" y="43416"/>
                  <a:pt x="90323" y="42450"/>
                  <a:pt x="84255" y="41913"/>
                </a:cubicBezTo>
                <a:cubicBezTo>
                  <a:pt x="80764" y="36919"/>
                  <a:pt x="76952" y="32139"/>
                  <a:pt x="72817" y="27655"/>
                </a:cubicBezTo>
                <a:cubicBezTo>
                  <a:pt x="73864" y="26662"/>
                  <a:pt x="74884" y="25722"/>
                  <a:pt x="75958" y="24782"/>
                </a:cubicBezTo>
                <a:close/>
                <a:moveTo>
                  <a:pt x="44893" y="82563"/>
                </a:moveTo>
                <a:cubicBezTo>
                  <a:pt x="46262" y="84899"/>
                  <a:pt x="47659" y="87235"/>
                  <a:pt x="49135" y="89518"/>
                </a:cubicBezTo>
                <a:cubicBezTo>
                  <a:pt x="44947" y="89061"/>
                  <a:pt x="40785" y="88390"/>
                  <a:pt x="36677" y="87504"/>
                </a:cubicBezTo>
                <a:cubicBezTo>
                  <a:pt x="37858" y="83637"/>
                  <a:pt x="39335" y="79637"/>
                  <a:pt x="41053" y="75556"/>
                </a:cubicBezTo>
                <a:cubicBezTo>
                  <a:pt x="42289" y="77918"/>
                  <a:pt x="43551" y="80254"/>
                  <a:pt x="44893" y="82563"/>
                </a:cubicBezTo>
                <a:close/>
                <a:moveTo>
                  <a:pt x="36758" y="50263"/>
                </a:moveTo>
                <a:cubicBezTo>
                  <a:pt x="40624" y="49404"/>
                  <a:pt x="44732" y="48706"/>
                  <a:pt x="49001" y="48169"/>
                </a:cubicBezTo>
                <a:cubicBezTo>
                  <a:pt x="47578" y="50397"/>
                  <a:pt x="46182" y="52679"/>
                  <a:pt x="44866" y="54989"/>
                </a:cubicBezTo>
                <a:cubicBezTo>
                  <a:pt x="43551" y="57271"/>
                  <a:pt x="42262" y="59607"/>
                  <a:pt x="41053" y="61970"/>
                </a:cubicBezTo>
                <a:cubicBezTo>
                  <a:pt x="39362" y="57969"/>
                  <a:pt x="37939" y="54049"/>
                  <a:pt x="36758" y="50263"/>
                </a:cubicBezTo>
                <a:close/>
                <a:moveTo>
                  <a:pt x="44114" y="68763"/>
                </a:moveTo>
                <a:cubicBezTo>
                  <a:pt x="45886" y="65057"/>
                  <a:pt x="47820" y="61433"/>
                  <a:pt x="49860" y="57862"/>
                </a:cubicBezTo>
                <a:cubicBezTo>
                  <a:pt x="51901" y="54290"/>
                  <a:pt x="54103" y="50827"/>
                  <a:pt x="56412" y="47417"/>
                </a:cubicBezTo>
                <a:cubicBezTo>
                  <a:pt x="60439" y="47122"/>
                  <a:pt x="64547" y="46960"/>
                  <a:pt x="68736" y="46960"/>
                </a:cubicBezTo>
                <a:cubicBezTo>
                  <a:pt x="72924" y="46960"/>
                  <a:pt x="77059" y="47122"/>
                  <a:pt x="81060" y="47417"/>
                </a:cubicBezTo>
                <a:cubicBezTo>
                  <a:pt x="83342" y="50800"/>
                  <a:pt x="85517" y="54264"/>
                  <a:pt x="87584" y="57808"/>
                </a:cubicBezTo>
                <a:cubicBezTo>
                  <a:pt x="89652" y="61352"/>
                  <a:pt x="91585" y="64977"/>
                  <a:pt x="93411" y="68655"/>
                </a:cubicBezTo>
                <a:cubicBezTo>
                  <a:pt x="91612" y="72360"/>
                  <a:pt x="89679" y="76012"/>
                  <a:pt x="87611" y="79610"/>
                </a:cubicBezTo>
                <a:cubicBezTo>
                  <a:pt x="85571" y="83181"/>
                  <a:pt x="83396" y="86645"/>
                  <a:pt x="81114" y="90081"/>
                </a:cubicBezTo>
                <a:cubicBezTo>
                  <a:pt x="77113" y="90377"/>
                  <a:pt x="72951" y="90511"/>
                  <a:pt x="68736" y="90511"/>
                </a:cubicBezTo>
                <a:cubicBezTo>
                  <a:pt x="64520" y="90511"/>
                  <a:pt x="60439" y="90377"/>
                  <a:pt x="56492" y="90135"/>
                </a:cubicBezTo>
                <a:cubicBezTo>
                  <a:pt x="54156" y="86725"/>
                  <a:pt x="51955" y="83235"/>
                  <a:pt x="49887" y="79664"/>
                </a:cubicBezTo>
                <a:cubicBezTo>
                  <a:pt x="47820" y="76093"/>
                  <a:pt x="45913" y="72468"/>
                  <a:pt x="44114" y="68763"/>
                </a:cubicBezTo>
                <a:close/>
                <a:moveTo>
                  <a:pt x="92605" y="82510"/>
                </a:moveTo>
                <a:cubicBezTo>
                  <a:pt x="93975" y="80147"/>
                  <a:pt x="95263" y="77757"/>
                  <a:pt x="96525" y="75341"/>
                </a:cubicBezTo>
                <a:cubicBezTo>
                  <a:pt x="98244" y="79234"/>
                  <a:pt x="99747" y="83181"/>
                  <a:pt x="101063" y="87235"/>
                </a:cubicBezTo>
                <a:cubicBezTo>
                  <a:pt x="96901" y="88175"/>
                  <a:pt x="92686" y="88900"/>
                  <a:pt x="88444" y="89383"/>
                </a:cubicBezTo>
                <a:cubicBezTo>
                  <a:pt x="89893" y="87128"/>
                  <a:pt x="91263" y="84819"/>
                  <a:pt x="92605" y="82510"/>
                </a:cubicBezTo>
                <a:close/>
                <a:moveTo>
                  <a:pt x="96472" y="61970"/>
                </a:moveTo>
                <a:cubicBezTo>
                  <a:pt x="95210" y="59607"/>
                  <a:pt x="93921" y="57244"/>
                  <a:pt x="92578" y="54935"/>
                </a:cubicBezTo>
                <a:cubicBezTo>
                  <a:pt x="91263" y="52653"/>
                  <a:pt x="89893" y="50397"/>
                  <a:pt x="88470" y="48169"/>
                </a:cubicBezTo>
                <a:cubicBezTo>
                  <a:pt x="92793" y="48706"/>
                  <a:pt x="96928" y="49431"/>
                  <a:pt x="100795" y="50317"/>
                </a:cubicBezTo>
                <a:cubicBezTo>
                  <a:pt x="99559" y="54290"/>
                  <a:pt x="98110" y="58157"/>
                  <a:pt x="96472" y="61970"/>
                </a:cubicBezTo>
                <a:close/>
                <a:moveTo>
                  <a:pt x="68789" y="31763"/>
                </a:moveTo>
                <a:cubicBezTo>
                  <a:pt x="71609" y="34824"/>
                  <a:pt x="74267" y="38046"/>
                  <a:pt x="76737" y="41376"/>
                </a:cubicBezTo>
                <a:cubicBezTo>
                  <a:pt x="71421" y="41134"/>
                  <a:pt x="66078" y="41134"/>
                  <a:pt x="60761" y="41376"/>
                </a:cubicBezTo>
                <a:cubicBezTo>
                  <a:pt x="63393" y="37912"/>
                  <a:pt x="66104" y="34690"/>
                  <a:pt x="68789" y="31763"/>
                </a:cubicBezTo>
                <a:close/>
                <a:moveTo>
                  <a:pt x="37644" y="15304"/>
                </a:moveTo>
                <a:cubicBezTo>
                  <a:pt x="42154" y="12673"/>
                  <a:pt x="52169" y="16432"/>
                  <a:pt x="62721" y="25776"/>
                </a:cubicBezTo>
                <a:cubicBezTo>
                  <a:pt x="63393" y="26367"/>
                  <a:pt x="64064" y="27011"/>
                  <a:pt x="64762" y="27655"/>
                </a:cubicBezTo>
                <a:cubicBezTo>
                  <a:pt x="60600" y="32139"/>
                  <a:pt x="56761" y="36919"/>
                  <a:pt x="53243" y="41913"/>
                </a:cubicBezTo>
                <a:cubicBezTo>
                  <a:pt x="47175" y="42450"/>
                  <a:pt x="41161" y="43389"/>
                  <a:pt x="35200" y="44705"/>
                </a:cubicBezTo>
                <a:cubicBezTo>
                  <a:pt x="34851" y="43336"/>
                  <a:pt x="34556" y="41940"/>
                  <a:pt x="34260" y="40543"/>
                </a:cubicBezTo>
                <a:cubicBezTo>
                  <a:pt x="31737" y="27548"/>
                  <a:pt x="33401" y="17748"/>
                  <a:pt x="37644" y="15304"/>
                </a:cubicBezTo>
                <a:close/>
                <a:moveTo>
                  <a:pt x="31065" y="86081"/>
                </a:moveTo>
                <a:cubicBezTo>
                  <a:pt x="29938" y="85759"/>
                  <a:pt x="28837" y="85410"/>
                  <a:pt x="27736" y="85034"/>
                </a:cubicBezTo>
                <a:cubicBezTo>
                  <a:pt x="22017" y="83235"/>
                  <a:pt x="15519" y="80389"/>
                  <a:pt x="10821" y="76656"/>
                </a:cubicBezTo>
                <a:cubicBezTo>
                  <a:pt x="8109" y="74777"/>
                  <a:pt x="6283" y="71877"/>
                  <a:pt x="5773" y="68628"/>
                </a:cubicBezTo>
                <a:cubicBezTo>
                  <a:pt x="5773" y="63715"/>
                  <a:pt x="14257" y="57432"/>
                  <a:pt x="26501" y="53163"/>
                </a:cubicBezTo>
                <a:cubicBezTo>
                  <a:pt x="28031" y="52626"/>
                  <a:pt x="29589" y="52142"/>
                  <a:pt x="31146" y="51686"/>
                </a:cubicBezTo>
                <a:cubicBezTo>
                  <a:pt x="32972" y="57512"/>
                  <a:pt x="35173" y="63232"/>
                  <a:pt x="37724" y="68763"/>
                </a:cubicBezTo>
                <a:cubicBezTo>
                  <a:pt x="35147" y="74374"/>
                  <a:pt x="32918" y="80174"/>
                  <a:pt x="31065" y="86081"/>
                </a:cubicBezTo>
                <a:close/>
                <a:moveTo>
                  <a:pt x="62372" y="112394"/>
                </a:moveTo>
                <a:cubicBezTo>
                  <a:pt x="57942" y="116448"/>
                  <a:pt x="52814" y="119670"/>
                  <a:pt x="47229" y="121872"/>
                </a:cubicBezTo>
                <a:cubicBezTo>
                  <a:pt x="44249" y="123295"/>
                  <a:pt x="40812" y="123429"/>
                  <a:pt x="37751" y="122221"/>
                </a:cubicBezTo>
                <a:cubicBezTo>
                  <a:pt x="33482" y="119751"/>
                  <a:pt x="31710" y="110273"/>
                  <a:pt x="34126" y="97519"/>
                </a:cubicBezTo>
                <a:cubicBezTo>
                  <a:pt x="34422" y="96015"/>
                  <a:pt x="34744" y="94512"/>
                  <a:pt x="35120" y="93035"/>
                </a:cubicBezTo>
                <a:cubicBezTo>
                  <a:pt x="41134" y="94324"/>
                  <a:pt x="47202" y="95210"/>
                  <a:pt x="53351" y="95666"/>
                </a:cubicBezTo>
                <a:cubicBezTo>
                  <a:pt x="56895" y="100687"/>
                  <a:pt x="60788" y="105493"/>
                  <a:pt x="64950" y="110004"/>
                </a:cubicBezTo>
                <a:cubicBezTo>
                  <a:pt x="64091" y="110836"/>
                  <a:pt x="63232" y="111642"/>
                  <a:pt x="62372" y="112394"/>
                </a:cubicBezTo>
                <a:close/>
                <a:moveTo>
                  <a:pt x="68951" y="105869"/>
                </a:moveTo>
                <a:cubicBezTo>
                  <a:pt x="66212" y="102916"/>
                  <a:pt x="63473" y="99640"/>
                  <a:pt x="60815" y="96123"/>
                </a:cubicBezTo>
                <a:cubicBezTo>
                  <a:pt x="63393" y="96230"/>
                  <a:pt x="66051" y="96284"/>
                  <a:pt x="68736" y="96284"/>
                </a:cubicBezTo>
                <a:cubicBezTo>
                  <a:pt x="71501" y="96284"/>
                  <a:pt x="74213" y="96230"/>
                  <a:pt x="76898" y="96096"/>
                </a:cubicBezTo>
                <a:cubicBezTo>
                  <a:pt x="74428" y="99506"/>
                  <a:pt x="71770" y="102755"/>
                  <a:pt x="68951" y="105869"/>
                </a:cubicBezTo>
                <a:close/>
                <a:moveTo>
                  <a:pt x="104043" y="113924"/>
                </a:moveTo>
                <a:cubicBezTo>
                  <a:pt x="103802" y="117200"/>
                  <a:pt x="102191" y="120261"/>
                  <a:pt x="99613" y="122328"/>
                </a:cubicBezTo>
                <a:cubicBezTo>
                  <a:pt x="95344" y="124798"/>
                  <a:pt x="86242" y="121576"/>
                  <a:pt x="76415" y="113145"/>
                </a:cubicBezTo>
                <a:cubicBezTo>
                  <a:pt x="75287" y="112179"/>
                  <a:pt x="74159" y="111132"/>
                  <a:pt x="73005" y="110058"/>
                </a:cubicBezTo>
                <a:cubicBezTo>
                  <a:pt x="77113" y="105520"/>
                  <a:pt x="80899" y="100714"/>
                  <a:pt x="84336" y="95666"/>
                </a:cubicBezTo>
                <a:cubicBezTo>
                  <a:pt x="90484" y="95156"/>
                  <a:pt x="96606" y="94216"/>
                  <a:pt x="102647" y="92847"/>
                </a:cubicBezTo>
                <a:cubicBezTo>
                  <a:pt x="102916" y="93948"/>
                  <a:pt x="103157" y="95049"/>
                  <a:pt x="103372" y="96123"/>
                </a:cubicBezTo>
                <a:cubicBezTo>
                  <a:pt x="104688" y="101922"/>
                  <a:pt x="104903" y="107963"/>
                  <a:pt x="104043" y="113924"/>
                </a:cubicBezTo>
                <a:close/>
                <a:moveTo>
                  <a:pt x="108930" y="85060"/>
                </a:moveTo>
                <a:cubicBezTo>
                  <a:pt x="108178" y="85302"/>
                  <a:pt x="107426" y="85544"/>
                  <a:pt x="106648" y="85759"/>
                </a:cubicBezTo>
                <a:cubicBezTo>
                  <a:pt x="104768" y="79905"/>
                  <a:pt x="102459" y="74186"/>
                  <a:pt x="99801" y="68628"/>
                </a:cubicBezTo>
                <a:cubicBezTo>
                  <a:pt x="102379" y="63151"/>
                  <a:pt x="104553" y="57512"/>
                  <a:pt x="106379" y="51740"/>
                </a:cubicBezTo>
                <a:cubicBezTo>
                  <a:pt x="107775" y="52142"/>
                  <a:pt x="109118" y="52572"/>
                  <a:pt x="110407" y="53002"/>
                </a:cubicBezTo>
                <a:cubicBezTo>
                  <a:pt x="122919" y="57298"/>
                  <a:pt x="131699" y="63688"/>
                  <a:pt x="131699" y="68575"/>
                </a:cubicBezTo>
                <a:cubicBezTo>
                  <a:pt x="131699" y="73837"/>
                  <a:pt x="122328" y="80630"/>
                  <a:pt x="108930" y="85060"/>
                </a:cubicBezTo>
                <a:close/>
                <a:moveTo>
                  <a:pt x="68736" y="81033"/>
                </a:moveTo>
                <a:cubicBezTo>
                  <a:pt x="75523" y="81033"/>
                  <a:pt x="81033" y="75523"/>
                  <a:pt x="81033" y="68736"/>
                </a:cubicBezTo>
                <a:cubicBezTo>
                  <a:pt x="81033" y="61949"/>
                  <a:pt x="75523" y="56438"/>
                  <a:pt x="68736" y="56438"/>
                </a:cubicBezTo>
                <a:cubicBezTo>
                  <a:pt x="61949" y="56438"/>
                  <a:pt x="56438" y="61949"/>
                  <a:pt x="56438" y="68736"/>
                </a:cubicBezTo>
                <a:cubicBezTo>
                  <a:pt x="56438" y="75523"/>
                  <a:pt x="61949" y="81033"/>
                  <a:pt x="68736" y="8103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58478" y="2036296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UI framework with hooks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5446" y="2392863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478" y="2465894"/>
            <a:ext cx="730317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07836" y="2500262"/>
            <a:ext cx="154655" cy="137471"/>
          </a:xfrm>
          <a:custGeom>
            <a:avLst/>
            <a:gdLst/>
            <a:ahLst/>
            <a:cxnLst/>
            <a:rect l="l" t="t" r="r" b="b"/>
            <a:pathLst>
              <a:path w="154655" h="137471">
                <a:moveTo>
                  <a:pt x="96874" y="322"/>
                </a:moveTo>
                <a:cubicBezTo>
                  <a:pt x="92310" y="-993"/>
                  <a:pt x="87558" y="1665"/>
                  <a:pt x="86242" y="6229"/>
                </a:cubicBezTo>
                <a:lnTo>
                  <a:pt x="51874" y="126517"/>
                </a:lnTo>
                <a:cubicBezTo>
                  <a:pt x="50558" y="131081"/>
                  <a:pt x="53216" y="135834"/>
                  <a:pt x="57781" y="137149"/>
                </a:cubicBezTo>
                <a:cubicBezTo>
                  <a:pt x="62345" y="138465"/>
                  <a:pt x="67098" y="135807"/>
                  <a:pt x="68414" y="131242"/>
                </a:cubicBezTo>
                <a:lnTo>
                  <a:pt x="102781" y="10955"/>
                </a:lnTo>
                <a:cubicBezTo>
                  <a:pt x="104097" y="6390"/>
                  <a:pt x="101439" y="1638"/>
                  <a:pt x="96874" y="322"/>
                </a:cubicBezTo>
                <a:close/>
                <a:moveTo>
                  <a:pt x="114219" y="36865"/>
                </a:moveTo>
                <a:cubicBezTo>
                  <a:pt x="110863" y="40221"/>
                  <a:pt x="110863" y="45672"/>
                  <a:pt x="114219" y="49028"/>
                </a:cubicBezTo>
                <a:lnTo>
                  <a:pt x="133927" y="68736"/>
                </a:lnTo>
                <a:lnTo>
                  <a:pt x="114219" y="88444"/>
                </a:lnTo>
                <a:cubicBezTo>
                  <a:pt x="110863" y="91800"/>
                  <a:pt x="110863" y="97250"/>
                  <a:pt x="114219" y="100607"/>
                </a:cubicBezTo>
                <a:cubicBezTo>
                  <a:pt x="117576" y="103963"/>
                  <a:pt x="123026" y="103963"/>
                  <a:pt x="126382" y="100607"/>
                </a:cubicBezTo>
                <a:lnTo>
                  <a:pt x="152158" y="74831"/>
                </a:lnTo>
                <a:cubicBezTo>
                  <a:pt x="155515" y="71474"/>
                  <a:pt x="155515" y="66024"/>
                  <a:pt x="152158" y="62668"/>
                </a:cubicBezTo>
                <a:lnTo>
                  <a:pt x="126382" y="36892"/>
                </a:lnTo>
                <a:cubicBezTo>
                  <a:pt x="123026" y="33536"/>
                  <a:pt x="117576" y="33536"/>
                  <a:pt x="114219" y="36892"/>
                </a:cubicBezTo>
                <a:close/>
                <a:moveTo>
                  <a:pt x="40463" y="36865"/>
                </a:moveTo>
                <a:cubicBezTo>
                  <a:pt x="37107" y="33509"/>
                  <a:pt x="31656" y="33509"/>
                  <a:pt x="28300" y="36865"/>
                </a:cubicBezTo>
                <a:lnTo>
                  <a:pt x="2524" y="62641"/>
                </a:lnTo>
                <a:cubicBezTo>
                  <a:pt x="-832" y="65997"/>
                  <a:pt x="-832" y="71448"/>
                  <a:pt x="2524" y="74804"/>
                </a:cubicBezTo>
                <a:lnTo>
                  <a:pt x="28300" y="100580"/>
                </a:lnTo>
                <a:cubicBezTo>
                  <a:pt x="31656" y="103936"/>
                  <a:pt x="37107" y="103936"/>
                  <a:pt x="40463" y="100580"/>
                </a:cubicBezTo>
                <a:cubicBezTo>
                  <a:pt x="43819" y="97223"/>
                  <a:pt x="43819" y="91773"/>
                  <a:pt x="40463" y="88417"/>
                </a:cubicBezTo>
                <a:lnTo>
                  <a:pt x="20755" y="68736"/>
                </a:lnTo>
                <a:lnTo>
                  <a:pt x="40436" y="49028"/>
                </a:lnTo>
                <a:cubicBezTo>
                  <a:pt x="43792" y="45672"/>
                  <a:pt x="43792" y="40221"/>
                  <a:pt x="40436" y="3686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558478" y="2672101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Type-safe development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5446" y="3028668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478" y="3101700"/>
            <a:ext cx="32649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Vite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25020" y="3136068"/>
            <a:ext cx="120288" cy="137471"/>
          </a:xfrm>
          <a:custGeom>
            <a:avLst/>
            <a:gdLst/>
            <a:ahLst/>
            <a:cxnLst/>
            <a:rect l="l" t="t" r="r" b="b"/>
            <a:pathLst>
              <a:path w="120288" h="137471">
                <a:moveTo>
                  <a:pt x="90967" y="-2658"/>
                </a:moveTo>
                <a:cubicBezTo>
                  <a:pt x="94163" y="-349"/>
                  <a:pt x="95344" y="3840"/>
                  <a:pt x="93894" y="7491"/>
                </a:cubicBezTo>
                <a:lnTo>
                  <a:pt x="72844" y="60144"/>
                </a:lnTo>
                <a:lnTo>
                  <a:pt x="111696" y="60144"/>
                </a:lnTo>
                <a:cubicBezTo>
                  <a:pt x="115320" y="60144"/>
                  <a:pt x="118542" y="62399"/>
                  <a:pt x="119777" y="65809"/>
                </a:cubicBezTo>
                <a:cubicBezTo>
                  <a:pt x="121012" y="69219"/>
                  <a:pt x="119965" y="73032"/>
                  <a:pt x="117200" y="75341"/>
                </a:cubicBezTo>
                <a:lnTo>
                  <a:pt x="39872" y="139781"/>
                </a:lnTo>
                <a:cubicBezTo>
                  <a:pt x="36838" y="142304"/>
                  <a:pt x="32515" y="142439"/>
                  <a:pt x="29320" y="140130"/>
                </a:cubicBezTo>
                <a:cubicBezTo>
                  <a:pt x="26125" y="137821"/>
                  <a:pt x="24944" y="133632"/>
                  <a:pt x="26393" y="129980"/>
                </a:cubicBezTo>
                <a:lnTo>
                  <a:pt x="47444" y="77328"/>
                </a:lnTo>
                <a:lnTo>
                  <a:pt x="8592" y="77328"/>
                </a:lnTo>
                <a:cubicBezTo>
                  <a:pt x="4967" y="77328"/>
                  <a:pt x="1745" y="75072"/>
                  <a:pt x="510" y="71662"/>
                </a:cubicBezTo>
                <a:cubicBezTo>
                  <a:pt x="-725" y="68252"/>
                  <a:pt x="322" y="64440"/>
                  <a:pt x="3088" y="62131"/>
                </a:cubicBezTo>
                <a:lnTo>
                  <a:pt x="80415" y="-2309"/>
                </a:lnTo>
                <a:cubicBezTo>
                  <a:pt x="83449" y="-4833"/>
                  <a:pt x="87772" y="-4967"/>
                  <a:pt x="90967" y="-265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58478" y="3307907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Build tool with HMR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5446" y="3664474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8478" y="3737505"/>
            <a:ext cx="91074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07836" y="3771873"/>
            <a:ext cx="154655" cy="137471"/>
          </a:xfrm>
          <a:custGeom>
            <a:avLst/>
            <a:gdLst/>
            <a:ahLst/>
            <a:cxnLst/>
            <a:rect l="l" t="t" r="r" b="b"/>
            <a:pathLst>
              <a:path w="154655" h="137471">
                <a:moveTo>
                  <a:pt x="129014" y="2766"/>
                </a:moveTo>
                <a:lnTo>
                  <a:pt x="69568" y="42423"/>
                </a:lnTo>
                <a:cubicBezTo>
                  <a:pt x="61755" y="47632"/>
                  <a:pt x="56788" y="56089"/>
                  <a:pt x="55982" y="65326"/>
                </a:cubicBezTo>
                <a:cubicBezTo>
                  <a:pt x="72710" y="68763"/>
                  <a:pt x="85893" y="81946"/>
                  <a:pt x="89356" y="98700"/>
                </a:cubicBezTo>
                <a:cubicBezTo>
                  <a:pt x="98620" y="97895"/>
                  <a:pt x="107051" y="92927"/>
                  <a:pt x="112259" y="85114"/>
                </a:cubicBezTo>
                <a:lnTo>
                  <a:pt x="151890" y="25642"/>
                </a:lnTo>
                <a:cubicBezTo>
                  <a:pt x="153689" y="22930"/>
                  <a:pt x="154655" y="19762"/>
                  <a:pt x="154655" y="16486"/>
                </a:cubicBezTo>
                <a:cubicBezTo>
                  <a:pt x="154655" y="7384"/>
                  <a:pt x="147272" y="0"/>
                  <a:pt x="138170" y="0"/>
                </a:cubicBezTo>
                <a:cubicBezTo>
                  <a:pt x="134921" y="0"/>
                  <a:pt x="131726" y="967"/>
                  <a:pt x="129014" y="2766"/>
                </a:cubicBezTo>
                <a:close/>
                <a:moveTo>
                  <a:pt x="77328" y="107400"/>
                </a:moveTo>
                <a:cubicBezTo>
                  <a:pt x="77328" y="90779"/>
                  <a:pt x="63876" y="77328"/>
                  <a:pt x="47256" y="77328"/>
                </a:cubicBezTo>
                <a:cubicBezTo>
                  <a:pt x="30636" y="77328"/>
                  <a:pt x="17184" y="90779"/>
                  <a:pt x="17184" y="107400"/>
                </a:cubicBezTo>
                <a:cubicBezTo>
                  <a:pt x="17184" y="108447"/>
                  <a:pt x="17238" y="109494"/>
                  <a:pt x="17345" y="110514"/>
                </a:cubicBezTo>
                <a:cubicBezTo>
                  <a:pt x="17828" y="115213"/>
                  <a:pt x="14606" y="120288"/>
                  <a:pt x="9881" y="120288"/>
                </a:cubicBezTo>
                <a:lnTo>
                  <a:pt x="8592" y="120288"/>
                </a:lnTo>
                <a:cubicBezTo>
                  <a:pt x="3840" y="120288"/>
                  <a:pt x="0" y="124127"/>
                  <a:pt x="0" y="128879"/>
                </a:cubicBezTo>
                <a:cubicBezTo>
                  <a:pt x="0" y="133632"/>
                  <a:pt x="3840" y="137471"/>
                  <a:pt x="8592" y="137471"/>
                </a:cubicBezTo>
                <a:lnTo>
                  <a:pt x="47256" y="137471"/>
                </a:lnTo>
                <a:cubicBezTo>
                  <a:pt x="63876" y="137471"/>
                  <a:pt x="77328" y="124020"/>
                  <a:pt x="77328" y="10740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558478" y="3943712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Utility-first styling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5446" y="4300279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8478" y="4373311"/>
            <a:ext cx="816237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React Query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16428" y="4407679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17694" y="61352"/>
                </a:moveTo>
                <a:cubicBezTo>
                  <a:pt x="21265" y="36382"/>
                  <a:pt x="42772" y="17184"/>
                  <a:pt x="68736" y="17184"/>
                </a:cubicBezTo>
                <a:cubicBezTo>
                  <a:pt x="82966" y="17184"/>
                  <a:pt x="95854" y="22957"/>
                  <a:pt x="105198" y="32274"/>
                </a:cubicBezTo>
                <a:cubicBezTo>
                  <a:pt x="105252" y="32327"/>
                  <a:pt x="105305" y="32381"/>
                  <a:pt x="105359" y="32435"/>
                </a:cubicBezTo>
                <a:lnTo>
                  <a:pt x="107400" y="34368"/>
                </a:lnTo>
                <a:lnTo>
                  <a:pt x="94538" y="34368"/>
                </a:lnTo>
                <a:cubicBezTo>
                  <a:pt x="89786" y="34368"/>
                  <a:pt x="85947" y="38207"/>
                  <a:pt x="85947" y="42960"/>
                </a:cubicBezTo>
                <a:cubicBezTo>
                  <a:pt x="85947" y="47712"/>
                  <a:pt x="89786" y="51552"/>
                  <a:pt x="94538" y="51552"/>
                </a:cubicBezTo>
                <a:lnTo>
                  <a:pt x="128906" y="51552"/>
                </a:lnTo>
                <a:cubicBezTo>
                  <a:pt x="133659" y="51552"/>
                  <a:pt x="137498" y="47712"/>
                  <a:pt x="137498" y="42960"/>
                </a:cubicBezTo>
                <a:lnTo>
                  <a:pt x="137498" y="8592"/>
                </a:lnTo>
                <a:cubicBezTo>
                  <a:pt x="137498" y="3840"/>
                  <a:pt x="133659" y="0"/>
                  <a:pt x="128906" y="0"/>
                </a:cubicBezTo>
                <a:cubicBezTo>
                  <a:pt x="124154" y="0"/>
                  <a:pt x="120314" y="3840"/>
                  <a:pt x="120314" y="8592"/>
                </a:cubicBezTo>
                <a:lnTo>
                  <a:pt x="120314" y="22930"/>
                </a:lnTo>
                <a:lnTo>
                  <a:pt x="117280" y="20057"/>
                </a:lnTo>
                <a:cubicBezTo>
                  <a:pt x="104849" y="7679"/>
                  <a:pt x="87665" y="0"/>
                  <a:pt x="68736" y="0"/>
                </a:cubicBezTo>
                <a:cubicBezTo>
                  <a:pt x="34099" y="0"/>
                  <a:pt x="5451" y="25615"/>
                  <a:pt x="698" y="58936"/>
                </a:cubicBezTo>
                <a:cubicBezTo>
                  <a:pt x="27" y="63634"/>
                  <a:pt x="3276" y="67984"/>
                  <a:pt x="7974" y="68655"/>
                </a:cubicBezTo>
                <a:cubicBezTo>
                  <a:pt x="12673" y="69326"/>
                  <a:pt x="17023" y="66051"/>
                  <a:pt x="17694" y="61379"/>
                </a:cubicBezTo>
                <a:close/>
                <a:moveTo>
                  <a:pt x="136773" y="78536"/>
                </a:moveTo>
                <a:cubicBezTo>
                  <a:pt x="137445" y="73837"/>
                  <a:pt x="134169" y="69488"/>
                  <a:pt x="129497" y="68816"/>
                </a:cubicBezTo>
                <a:cubicBezTo>
                  <a:pt x="124825" y="68145"/>
                  <a:pt x="120449" y="71421"/>
                  <a:pt x="119777" y="76093"/>
                </a:cubicBezTo>
                <a:cubicBezTo>
                  <a:pt x="116206" y="101063"/>
                  <a:pt x="94700" y="120261"/>
                  <a:pt x="68736" y="120261"/>
                </a:cubicBezTo>
                <a:cubicBezTo>
                  <a:pt x="54505" y="120261"/>
                  <a:pt x="41617" y="114488"/>
                  <a:pt x="32274" y="105171"/>
                </a:cubicBezTo>
                <a:cubicBezTo>
                  <a:pt x="32220" y="105117"/>
                  <a:pt x="32166" y="105064"/>
                  <a:pt x="32112" y="105010"/>
                </a:cubicBezTo>
                <a:lnTo>
                  <a:pt x="30072" y="103077"/>
                </a:lnTo>
                <a:lnTo>
                  <a:pt x="42933" y="103077"/>
                </a:lnTo>
                <a:cubicBezTo>
                  <a:pt x="47685" y="103077"/>
                  <a:pt x="51525" y="99237"/>
                  <a:pt x="51525" y="94485"/>
                </a:cubicBezTo>
                <a:cubicBezTo>
                  <a:pt x="51525" y="89732"/>
                  <a:pt x="47685" y="85893"/>
                  <a:pt x="42933" y="85893"/>
                </a:cubicBezTo>
                <a:lnTo>
                  <a:pt x="8592" y="85920"/>
                </a:lnTo>
                <a:cubicBezTo>
                  <a:pt x="6310" y="85920"/>
                  <a:pt x="4108" y="86833"/>
                  <a:pt x="2497" y="88470"/>
                </a:cubicBezTo>
                <a:cubicBezTo>
                  <a:pt x="886" y="90108"/>
                  <a:pt x="-27" y="92283"/>
                  <a:pt x="0" y="94592"/>
                </a:cubicBezTo>
                <a:lnTo>
                  <a:pt x="268" y="128692"/>
                </a:lnTo>
                <a:cubicBezTo>
                  <a:pt x="295" y="133444"/>
                  <a:pt x="4189" y="137257"/>
                  <a:pt x="8941" y="137203"/>
                </a:cubicBezTo>
                <a:cubicBezTo>
                  <a:pt x="13693" y="137149"/>
                  <a:pt x="17506" y="133283"/>
                  <a:pt x="17452" y="128530"/>
                </a:cubicBezTo>
                <a:lnTo>
                  <a:pt x="17345" y="114703"/>
                </a:lnTo>
                <a:lnTo>
                  <a:pt x="20218" y="117415"/>
                </a:lnTo>
                <a:cubicBezTo>
                  <a:pt x="32649" y="129792"/>
                  <a:pt x="49807" y="137471"/>
                  <a:pt x="68736" y="137471"/>
                </a:cubicBezTo>
                <a:cubicBezTo>
                  <a:pt x="103372" y="137471"/>
                  <a:pt x="132021" y="111857"/>
                  <a:pt x="136773" y="7853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558478" y="4579518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Server-state management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5446" y="4936085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8478" y="5009116"/>
            <a:ext cx="549886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Zustand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716428" y="5043484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8243" y="19412"/>
                </a:moveTo>
                <a:cubicBezTo>
                  <a:pt x="10096" y="12995"/>
                  <a:pt x="15976" y="8592"/>
                  <a:pt x="22661" y="8592"/>
                </a:cubicBezTo>
                <a:lnTo>
                  <a:pt x="115025" y="8592"/>
                </a:lnTo>
                <a:cubicBezTo>
                  <a:pt x="121711" y="8592"/>
                  <a:pt x="127591" y="12995"/>
                  <a:pt x="129470" y="19412"/>
                </a:cubicBezTo>
                <a:lnTo>
                  <a:pt x="135753" y="40946"/>
                </a:lnTo>
                <a:cubicBezTo>
                  <a:pt x="139190" y="52679"/>
                  <a:pt x="130356" y="64440"/>
                  <a:pt x="118140" y="64440"/>
                </a:cubicBezTo>
                <a:cubicBezTo>
                  <a:pt x="111078" y="64440"/>
                  <a:pt x="104876" y="60439"/>
                  <a:pt x="101815" y="54478"/>
                </a:cubicBezTo>
                <a:cubicBezTo>
                  <a:pt x="98700" y="60359"/>
                  <a:pt x="92525" y="64440"/>
                  <a:pt x="85329" y="64440"/>
                </a:cubicBezTo>
                <a:cubicBezTo>
                  <a:pt x="78187" y="64440"/>
                  <a:pt x="71985" y="60412"/>
                  <a:pt x="68870" y="54505"/>
                </a:cubicBezTo>
                <a:cubicBezTo>
                  <a:pt x="65755" y="60412"/>
                  <a:pt x="59553" y="64440"/>
                  <a:pt x="52411" y="64440"/>
                </a:cubicBezTo>
                <a:cubicBezTo>
                  <a:pt x="45215" y="64440"/>
                  <a:pt x="39040" y="60385"/>
                  <a:pt x="35925" y="54478"/>
                </a:cubicBezTo>
                <a:cubicBezTo>
                  <a:pt x="32864" y="60412"/>
                  <a:pt x="26662" y="64440"/>
                  <a:pt x="19600" y="64440"/>
                </a:cubicBezTo>
                <a:cubicBezTo>
                  <a:pt x="7357" y="64440"/>
                  <a:pt x="-1450" y="52706"/>
                  <a:pt x="1987" y="40946"/>
                </a:cubicBezTo>
                <a:lnTo>
                  <a:pt x="8243" y="19412"/>
                </a:lnTo>
                <a:close/>
                <a:moveTo>
                  <a:pt x="25883" y="94512"/>
                </a:moveTo>
                <a:lnTo>
                  <a:pt x="111803" y="94512"/>
                </a:lnTo>
                <a:lnTo>
                  <a:pt x="111803" y="76683"/>
                </a:lnTo>
                <a:cubicBezTo>
                  <a:pt x="113844" y="77113"/>
                  <a:pt x="115965" y="77328"/>
                  <a:pt x="118113" y="77328"/>
                </a:cubicBezTo>
                <a:cubicBezTo>
                  <a:pt x="121952" y="77328"/>
                  <a:pt x="125631" y="76630"/>
                  <a:pt x="128987" y="75395"/>
                </a:cubicBezTo>
                <a:lnTo>
                  <a:pt x="128987" y="115992"/>
                </a:lnTo>
                <a:cubicBezTo>
                  <a:pt x="128987" y="123107"/>
                  <a:pt x="123214" y="128879"/>
                  <a:pt x="116099" y="128879"/>
                </a:cubicBezTo>
                <a:lnTo>
                  <a:pt x="21587" y="128879"/>
                </a:lnTo>
                <a:cubicBezTo>
                  <a:pt x="14472" y="128879"/>
                  <a:pt x="8699" y="123107"/>
                  <a:pt x="8699" y="115992"/>
                </a:cubicBezTo>
                <a:lnTo>
                  <a:pt x="8699" y="75395"/>
                </a:lnTo>
                <a:cubicBezTo>
                  <a:pt x="12056" y="76630"/>
                  <a:pt x="15707" y="77328"/>
                  <a:pt x="19574" y="77328"/>
                </a:cubicBezTo>
                <a:cubicBezTo>
                  <a:pt x="21748" y="77328"/>
                  <a:pt x="23843" y="77113"/>
                  <a:pt x="25883" y="76683"/>
                </a:cubicBezTo>
                <a:lnTo>
                  <a:pt x="25883" y="94512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558478" y="5215323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Client-state management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23354" y="1082588"/>
            <a:ext cx="3746097" cy="4553742"/>
          </a:xfrm>
          <a:custGeom>
            <a:avLst/>
            <a:gdLst/>
            <a:ahLst/>
            <a:cxnLst/>
            <a:rect l="l" t="t" r="r" b="b"/>
            <a:pathLst>
              <a:path w="3746097" h="4553742">
                <a:moveTo>
                  <a:pt x="34368" y="0"/>
                </a:moveTo>
                <a:lnTo>
                  <a:pt x="3711729" y="0"/>
                </a:lnTo>
                <a:cubicBezTo>
                  <a:pt x="3730710" y="0"/>
                  <a:pt x="3746097" y="15387"/>
                  <a:pt x="3746097" y="34368"/>
                </a:cubicBezTo>
                <a:lnTo>
                  <a:pt x="3746097" y="4485001"/>
                </a:lnTo>
                <a:cubicBezTo>
                  <a:pt x="3746097" y="4522966"/>
                  <a:pt x="3715321" y="4553742"/>
                  <a:pt x="3677356" y="4553742"/>
                </a:cubicBezTo>
                <a:lnTo>
                  <a:pt x="68741" y="4553742"/>
                </a:lnTo>
                <a:cubicBezTo>
                  <a:pt x="30776" y="4553742"/>
                  <a:pt x="0" y="4522966"/>
                  <a:pt x="0" y="448500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4" name="Shape 32"/>
          <p:cNvSpPr/>
          <p:nvPr/>
        </p:nvSpPr>
        <p:spPr>
          <a:xfrm>
            <a:off x="4223354" y="1082588"/>
            <a:ext cx="3746097" cy="34368"/>
          </a:xfrm>
          <a:custGeom>
            <a:avLst/>
            <a:gdLst/>
            <a:ahLst/>
            <a:cxnLst/>
            <a:rect l="l" t="t" r="r" b="b"/>
            <a:pathLst>
              <a:path w="3746097" h="34368">
                <a:moveTo>
                  <a:pt x="34368" y="0"/>
                </a:moveTo>
                <a:lnTo>
                  <a:pt x="3711729" y="0"/>
                </a:lnTo>
                <a:cubicBezTo>
                  <a:pt x="3730710" y="0"/>
                  <a:pt x="3746097" y="15387"/>
                  <a:pt x="3746097" y="34368"/>
                </a:cubicBezTo>
                <a:lnTo>
                  <a:pt x="3746097" y="34368"/>
                </a:lnTo>
                <a:lnTo>
                  <a:pt x="0" y="34368"/>
                </a:ln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5" name="Shape 33"/>
          <p:cNvSpPr/>
          <p:nvPr/>
        </p:nvSpPr>
        <p:spPr>
          <a:xfrm>
            <a:off x="4360826" y="1237243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68737" y="0"/>
                </a:moveTo>
                <a:lnTo>
                  <a:pt x="343677" y="0"/>
                </a:lnTo>
                <a:cubicBezTo>
                  <a:pt x="381614" y="0"/>
                  <a:pt x="412414" y="30800"/>
                  <a:pt x="412414" y="68737"/>
                </a:cubicBezTo>
                <a:lnTo>
                  <a:pt x="412414" y="343677"/>
                </a:lnTo>
                <a:cubicBezTo>
                  <a:pt x="412414" y="381614"/>
                  <a:pt x="381614" y="412414"/>
                  <a:pt x="34367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6" name="Shape 34"/>
          <p:cNvSpPr/>
          <p:nvPr/>
        </p:nvSpPr>
        <p:spPr>
          <a:xfrm>
            <a:off x="4491853" y="1357531"/>
            <a:ext cx="150359" cy="171839"/>
          </a:xfrm>
          <a:custGeom>
            <a:avLst/>
            <a:gdLst/>
            <a:ahLst/>
            <a:cxnLst/>
            <a:rect l="l" t="t" r="r" b="b"/>
            <a:pathLst>
              <a:path w="150359" h="171839">
                <a:moveTo>
                  <a:pt x="21480" y="10740"/>
                </a:moveTo>
                <a:cubicBezTo>
                  <a:pt x="9632" y="10740"/>
                  <a:pt x="0" y="20372"/>
                  <a:pt x="0" y="32220"/>
                </a:cubicBezTo>
                <a:lnTo>
                  <a:pt x="0" y="53700"/>
                </a:lnTo>
                <a:cubicBezTo>
                  <a:pt x="0" y="65547"/>
                  <a:pt x="9632" y="75180"/>
                  <a:pt x="21480" y="75180"/>
                </a:cubicBezTo>
                <a:lnTo>
                  <a:pt x="128879" y="75180"/>
                </a:lnTo>
                <a:cubicBezTo>
                  <a:pt x="140727" y="75180"/>
                  <a:pt x="150359" y="65547"/>
                  <a:pt x="150359" y="53700"/>
                </a:cubicBezTo>
                <a:lnTo>
                  <a:pt x="150359" y="32220"/>
                </a:lnTo>
                <a:cubicBezTo>
                  <a:pt x="150359" y="20372"/>
                  <a:pt x="140727" y="10740"/>
                  <a:pt x="128879" y="10740"/>
                </a:cubicBezTo>
                <a:lnTo>
                  <a:pt x="21480" y="10740"/>
                </a:lnTo>
                <a:close/>
                <a:moveTo>
                  <a:pt x="93975" y="34905"/>
                </a:moveTo>
                <a:cubicBezTo>
                  <a:pt x="98420" y="34905"/>
                  <a:pt x="102030" y="38514"/>
                  <a:pt x="102030" y="42960"/>
                </a:cubicBezTo>
                <a:cubicBezTo>
                  <a:pt x="102030" y="47405"/>
                  <a:pt x="98420" y="51015"/>
                  <a:pt x="93975" y="51015"/>
                </a:cubicBezTo>
                <a:cubicBezTo>
                  <a:pt x="89529" y="51015"/>
                  <a:pt x="85920" y="47405"/>
                  <a:pt x="85920" y="42960"/>
                </a:cubicBezTo>
                <a:cubicBezTo>
                  <a:pt x="85920" y="38514"/>
                  <a:pt x="89529" y="34905"/>
                  <a:pt x="93975" y="34905"/>
                </a:cubicBezTo>
                <a:close/>
                <a:moveTo>
                  <a:pt x="112770" y="42960"/>
                </a:moveTo>
                <a:cubicBezTo>
                  <a:pt x="112770" y="38514"/>
                  <a:pt x="116379" y="34905"/>
                  <a:pt x="120825" y="34905"/>
                </a:cubicBezTo>
                <a:cubicBezTo>
                  <a:pt x="125270" y="34905"/>
                  <a:pt x="128879" y="38514"/>
                  <a:pt x="128879" y="42960"/>
                </a:cubicBezTo>
                <a:cubicBezTo>
                  <a:pt x="128879" y="47405"/>
                  <a:pt x="125270" y="51015"/>
                  <a:pt x="120825" y="51015"/>
                </a:cubicBezTo>
                <a:cubicBezTo>
                  <a:pt x="116379" y="51015"/>
                  <a:pt x="112770" y="47405"/>
                  <a:pt x="112770" y="42960"/>
                </a:cubicBezTo>
                <a:close/>
                <a:moveTo>
                  <a:pt x="21480" y="96660"/>
                </a:moveTo>
                <a:cubicBezTo>
                  <a:pt x="9632" y="96660"/>
                  <a:pt x="0" y="106292"/>
                  <a:pt x="0" y="118140"/>
                </a:cubicBezTo>
                <a:lnTo>
                  <a:pt x="0" y="139619"/>
                </a:lnTo>
                <a:cubicBezTo>
                  <a:pt x="0" y="151467"/>
                  <a:pt x="9632" y="161099"/>
                  <a:pt x="21480" y="161099"/>
                </a:cubicBezTo>
                <a:lnTo>
                  <a:pt x="128879" y="161099"/>
                </a:lnTo>
                <a:cubicBezTo>
                  <a:pt x="140727" y="161099"/>
                  <a:pt x="150359" y="151467"/>
                  <a:pt x="150359" y="139619"/>
                </a:cubicBezTo>
                <a:lnTo>
                  <a:pt x="150359" y="118140"/>
                </a:lnTo>
                <a:cubicBezTo>
                  <a:pt x="150359" y="106292"/>
                  <a:pt x="140727" y="96660"/>
                  <a:pt x="128879" y="96660"/>
                </a:cubicBezTo>
                <a:lnTo>
                  <a:pt x="21480" y="96660"/>
                </a:lnTo>
                <a:close/>
                <a:moveTo>
                  <a:pt x="93975" y="120825"/>
                </a:moveTo>
                <a:cubicBezTo>
                  <a:pt x="98420" y="120825"/>
                  <a:pt x="102030" y="124434"/>
                  <a:pt x="102030" y="128879"/>
                </a:cubicBezTo>
                <a:cubicBezTo>
                  <a:pt x="102030" y="133325"/>
                  <a:pt x="98420" y="136934"/>
                  <a:pt x="93975" y="136934"/>
                </a:cubicBezTo>
                <a:cubicBezTo>
                  <a:pt x="89529" y="136934"/>
                  <a:pt x="85920" y="133325"/>
                  <a:pt x="85920" y="128879"/>
                </a:cubicBezTo>
                <a:cubicBezTo>
                  <a:pt x="85920" y="124434"/>
                  <a:pt x="89529" y="120825"/>
                  <a:pt x="93975" y="120825"/>
                </a:cubicBezTo>
                <a:close/>
                <a:moveTo>
                  <a:pt x="112770" y="128879"/>
                </a:moveTo>
                <a:cubicBezTo>
                  <a:pt x="112770" y="124434"/>
                  <a:pt x="116379" y="120825"/>
                  <a:pt x="120825" y="120825"/>
                </a:cubicBezTo>
                <a:cubicBezTo>
                  <a:pt x="125270" y="120825"/>
                  <a:pt x="128879" y="124434"/>
                  <a:pt x="128879" y="128879"/>
                </a:cubicBezTo>
                <a:cubicBezTo>
                  <a:pt x="128879" y="133325"/>
                  <a:pt x="125270" y="136934"/>
                  <a:pt x="120825" y="136934"/>
                </a:cubicBezTo>
                <a:cubicBezTo>
                  <a:pt x="116379" y="136934"/>
                  <a:pt x="112770" y="133325"/>
                  <a:pt x="112770" y="12887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876344" y="1323163"/>
            <a:ext cx="721725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Backend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65122" y="1757057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38153" y="1830089"/>
            <a:ext cx="524110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Node.js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78920" y="1864457"/>
            <a:ext cx="171839" cy="137471"/>
          </a:xfrm>
          <a:custGeom>
            <a:avLst/>
            <a:gdLst/>
            <a:ahLst/>
            <a:cxnLst/>
            <a:rect l="l" t="t" r="r" b="b"/>
            <a:pathLst>
              <a:path w="171839" h="137471">
                <a:moveTo>
                  <a:pt x="84926" y="121362"/>
                </a:moveTo>
                <a:cubicBezTo>
                  <a:pt x="84362" y="121362"/>
                  <a:pt x="83799" y="121200"/>
                  <a:pt x="83288" y="120932"/>
                </a:cubicBezTo>
                <a:lnTo>
                  <a:pt x="78133" y="117871"/>
                </a:lnTo>
                <a:cubicBezTo>
                  <a:pt x="77355" y="117441"/>
                  <a:pt x="77730" y="117280"/>
                  <a:pt x="77999" y="117200"/>
                </a:cubicBezTo>
                <a:cubicBezTo>
                  <a:pt x="79019" y="116851"/>
                  <a:pt x="79234" y="116770"/>
                  <a:pt x="80335" y="116126"/>
                </a:cubicBezTo>
                <a:cubicBezTo>
                  <a:pt x="80442" y="116072"/>
                  <a:pt x="80603" y="116099"/>
                  <a:pt x="80711" y="116153"/>
                </a:cubicBezTo>
                <a:lnTo>
                  <a:pt x="84685" y="118515"/>
                </a:lnTo>
                <a:cubicBezTo>
                  <a:pt x="84819" y="118596"/>
                  <a:pt x="85034" y="118596"/>
                  <a:pt x="85168" y="118515"/>
                </a:cubicBezTo>
                <a:lnTo>
                  <a:pt x="100687" y="109548"/>
                </a:lnTo>
                <a:cubicBezTo>
                  <a:pt x="100821" y="109467"/>
                  <a:pt x="100929" y="109306"/>
                  <a:pt x="100929" y="109118"/>
                </a:cubicBezTo>
                <a:lnTo>
                  <a:pt x="100929" y="91209"/>
                </a:lnTo>
                <a:cubicBezTo>
                  <a:pt x="100929" y="91021"/>
                  <a:pt x="100848" y="90860"/>
                  <a:pt x="100687" y="90779"/>
                </a:cubicBezTo>
                <a:lnTo>
                  <a:pt x="85168" y="81838"/>
                </a:lnTo>
                <a:cubicBezTo>
                  <a:pt x="85034" y="81758"/>
                  <a:pt x="84846" y="81758"/>
                  <a:pt x="84685" y="81838"/>
                </a:cubicBezTo>
                <a:lnTo>
                  <a:pt x="69165" y="90779"/>
                </a:lnTo>
                <a:cubicBezTo>
                  <a:pt x="69004" y="90860"/>
                  <a:pt x="68924" y="91048"/>
                  <a:pt x="68924" y="91209"/>
                </a:cubicBezTo>
                <a:lnTo>
                  <a:pt x="68924" y="109118"/>
                </a:lnTo>
                <a:cubicBezTo>
                  <a:pt x="68924" y="109279"/>
                  <a:pt x="69031" y="109440"/>
                  <a:pt x="69165" y="109521"/>
                </a:cubicBezTo>
                <a:lnTo>
                  <a:pt x="73408" y="111964"/>
                </a:lnTo>
                <a:cubicBezTo>
                  <a:pt x="75717" y="113119"/>
                  <a:pt x="77140" y="111749"/>
                  <a:pt x="77140" y="110407"/>
                </a:cubicBezTo>
                <a:lnTo>
                  <a:pt x="77140" y="92713"/>
                </a:lnTo>
                <a:cubicBezTo>
                  <a:pt x="77140" y="92471"/>
                  <a:pt x="77328" y="92256"/>
                  <a:pt x="77596" y="92256"/>
                </a:cubicBezTo>
                <a:lnTo>
                  <a:pt x="79556" y="92256"/>
                </a:lnTo>
                <a:cubicBezTo>
                  <a:pt x="79798" y="92256"/>
                  <a:pt x="80013" y="92444"/>
                  <a:pt x="80013" y="92713"/>
                </a:cubicBezTo>
                <a:lnTo>
                  <a:pt x="80013" y="110407"/>
                </a:lnTo>
                <a:cubicBezTo>
                  <a:pt x="80013" y="113495"/>
                  <a:pt x="78348" y="115240"/>
                  <a:pt x="75421" y="115240"/>
                </a:cubicBezTo>
                <a:cubicBezTo>
                  <a:pt x="74535" y="115240"/>
                  <a:pt x="73810" y="115240"/>
                  <a:pt x="71850" y="114273"/>
                </a:cubicBezTo>
                <a:lnTo>
                  <a:pt x="67769" y="111937"/>
                </a:lnTo>
                <a:cubicBezTo>
                  <a:pt x="66776" y="111347"/>
                  <a:pt x="66131" y="110273"/>
                  <a:pt x="66131" y="109118"/>
                </a:cubicBezTo>
                <a:lnTo>
                  <a:pt x="66131" y="91209"/>
                </a:lnTo>
                <a:cubicBezTo>
                  <a:pt x="66131" y="90055"/>
                  <a:pt x="66749" y="88954"/>
                  <a:pt x="67769" y="88390"/>
                </a:cubicBezTo>
                <a:lnTo>
                  <a:pt x="83288" y="79422"/>
                </a:lnTo>
                <a:cubicBezTo>
                  <a:pt x="84282" y="78858"/>
                  <a:pt x="85571" y="78858"/>
                  <a:pt x="86537" y="79422"/>
                </a:cubicBezTo>
                <a:lnTo>
                  <a:pt x="102056" y="88390"/>
                </a:lnTo>
                <a:cubicBezTo>
                  <a:pt x="103050" y="88981"/>
                  <a:pt x="103694" y="90055"/>
                  <a:pt x="103694" y="91209"/>
                </a:cubicBezTo>
                <a:lnTo>
                  <a:pt x="103694" y="109118"/>
                </a:lnTo>
                <a:cubicBezTo>
                  <a:pt x="103694" y="110273"/>
                  <a:pt x="103077" y="111373"/>
                  <a:pt x="102056" y="111937"/>
                </a:cubicBezTo>
                <a:lnTo>
                  <a:pt x="86537" y="120905"/>
                </a:lnTo>
                <a:cubicBezTo>
                  <a:pt x="86081" y="121200"/>
                  <a:pt x="85517" y="121362"/>
                  <a:pt x="84926" y="121362"/>
                </a:cubicBezTo>
                <a:close/>
                <a:moveTo>
                  <a:pt x="97465" y="103694"/>
                </a:moveTo>
                <a:cubicBezTo>
                  <a:pt x="97465" y="100338"/>
                  <a:pt x="95210" y="99452"/>
                  <a:pt x="90430" y="98808"/>
                </a:cubicBezTo>
                <a:cubicBezTo>
                  <a:pt x="85597" y="98163"/>
                  <a:pt x="85114" y="97841"/>
                  <a:pt x="85114" y="96713"/>
                </a:cubicBezTo>
                <a:cubicBezTo>
                  <a:pt x="85114" y="95774"/>
                  <a:pt x="85517" y="94538"/>
                  <a:pt x="89088" y="94538"/>
                </a:cubicBezTo>
                <a:cubicBezTo>
                  <a:pt x="92283" y="94538"/>
                  <a:pt x="93464" y="95237"/>
                  <a:pt x="93948" y="97385"/>
                </a:cubicBezTo>
                <a:cubicBezTo>
                  <a:pt x="94001" y="97599"/>
                  <a:pt x="94163" y="97734"/>
                  <a:pt x="94377" y="97734"/>
                </a:cubicBezTo>
                <a:lnTo>
                  <a:pt x="96391" y="97734"/>
                </a:lnTo>
                <a:cubicBezTo>
                  <a:pt x="96525" y="97734"/>
                  <a:pt x="96633" y="97680"/>
                  <a:pt x="96713" y="97599"/>
                </a:cubicBezTo>
                <a:cubicBezTo>
                  <a:pt x="96794" y="97492"/>
                  <a:pt x="96848" y="97385"/>
                  <a:pt x="96821" y="97250"/>
                </a:cubicBezTo>
                <a:cubicBezTo>
                  <a:pt x="96499" y="93545"/>
                  <a:pt x="94055" y="91827"/>
                  <a:pt x="89088" y="91827"/>
                </a:cubicBezTo>
                <a:cubicBezTo>
                  <a:pt x="84658" y="91827"/>
                  <a:pt x="82026" y="93706"/>
                  <a:pt x="82026" y="96821"/>
                </a:cubicBezTo>
                <a:cubicBezTo>
                  <a:pt x="82026" y="100231"/>
                  <a:pt x="84658" y="101144"/>
                  <a:pt x="88900" y="101573"/>
                </a:cubicBezTo>
                <a:cubicBezTo>
                  <a:pt x="93975" y="102083"/>
                  <a:pt x="94377" y="102808"/>
                  <a:pt x="94377" y="103802"/>
                </a:cubicBezTo>
                <a:cubicBezTo>
                  <a:pt x="94377" y="105547"/>
                  <a:pt x="92981" y="106272"/>
                  <a:pt x="89705" y="106272"/>
                </a:cubicBezTo>
                <a:cubicBezTo>
                  <a:pt x="85597" y="106272"/>
                  <a:pt x="84685" y="105252"/>
                  <a:pt x="84389" y="103211"/>
                </a:cubicBezTo>
                <a:cubicBezTo>
                  <a:pt x="84362" y="102996"/>
                  <a:pt x="84174" y="102835"/>
                  <a:pt x="83933" y="102835"/>
                </a:cubicBezTo>
                <a:lnTo>
                  <a:pt x="81919" y="102835"/>
                </a:lnTo>
                <a:cubicBezTo>
                  <a:pt x="81677" y="102835"/>
                  <a:pt x="81463" y="103023"/>
                  <a:pt x="81463" y="103292"/>
                </a:cubicBezTo>
                <a:cubicBezTo>
                  <a:pt x="81463" y="105896"/>
                  <a:pt x="82886" y="109011"/>
                  <a:pt x="89679" y="109011"/>
                </a:cubicBezTo>
                <a:cubicBezTo>
                  <a:pt x="94646" y="109011"/>
                  <a:pt x="97465" y="107077"/>
                  <a:pt x="97465" y="103694"/>
                </a:cubicBezTo>
                <a:close/>
                <a:moveTo>
                  <a:pt x="112098" y="90242"/>
                </a:moveTo>
                <a:cubicBezTo>
                  <a:pt x="112098" y="91880"/>
                  <a:pt x="110756" y="93223"/>
                  <a:pt x="109118" y="93223"/>
                </a:cubicBezTo>
                <a:cubicBezTo>
                  <a:pt x="107480" y="93223"/>
                  <a:pt x="106138" y="91880"/>
                  <a:pt x="106138" y="90242"/>
                </a:cubicBezTo>
                <a:cubicBezTo>
                  <a:pt x="106138" y="88551"/>
                  <a:pt x="107534" y="87262"/>
                  <a:pt x="109118" y="87262"/>
                </a:cubicBezTo>
                <a:cubicBezTo>
                  <a:pt x="110729" y="87235"/>
                  <a:pt x="112098" y="88551"/>
                  <a:pt x="112098" y="90242"/>
                </a:cubicBezTo>
                <a:close/>
                <a:moveTo>
                  <a:pt x="111615" y="90242"/>
                </a:moveTo>
                <a:cubicBezTo>
                  <a:pt x="111615" y="88846"/>
                  <a:pt x="110487" y="87745"/>
                  <a:pt x="109091" y="87745"/>
                </a:cubicBezTo>
                <a:cubicBezTo>
                  <a:pt x="107722" y="87745"/>
                  <a:pt x="106594" y="88846"/>
                  <a:pt x="106594" y="90242"/>
                </a:cubicBezTo>
                <a:cubicBezTo>
                  <a:pt x="106594" y="91639"/>
                  <a:pt x="107722" y="92766"/>
                  <a:pt x="109091" y="92766"/>
                </a:cubicBezTo>
                <a:cubicBezTo>
                  <a:pt x="110487" y="92740"/>
                  <a:pt x="111615" y="91612"/>
                  <a:pt x="111615" y="90242"/>
                </a:cubicBezTo>
                <a:close/>
                <a:moveTo>
                  <a:pt x="110407" y="91907"/>
                </a:moveTo>
                <a:lnTo>
                  <a:pt x="109709" y="91907"/>
                </a:lnTo>
                <a:cubicBezTo>
                  <a:pt x="109682" y="91746"/>
                  <a:pt x="109574" y="90887"/>
                  <a:pt x="109574" y="90860"/>
                </a:cubicBezTo>
                <a:cubicBezTo>
                  <a:pt x="109521" y="90672"/>
                  <a:pt x="109467" y="90565"/>
                  <a:pt x="109225" y="90565"/>
                </a:cubicBezTo>
                <a:lnTo>
                  <a:pt x="108635" y="90565"/>
                </a:lnTo>
                <a:lnTo>
                  <a:pt x="108635" y="91907"/>
                </a:lnTo>
                <a:lnTo>
                  <a:pt x="107990" y="91907"/>
                </a:lnTo>
                <a:lnTo>
                  <a:pt x="107990" y="88551"/>
                </a:lnTo>
                <a:lnTo>
                  <a:pt x="109145" y="88551"/>
                </a:lnTo>
                <a:cubicBezTo>
                  <a:pt x="109548" y="88551"/>
                  <a:pt x="110326" y="88551"/>
                  <a:pt x="110326" y="89437"/>
                </a:cubicBezTo>
                <a:cubicBezTo>
                  <a:pt x="110326" y="90055"/>
                  <a:pt x="109923" y="90189"/>
                  <a:pt x="109682" y="90269"/>
                </a:cubicBezTo>
                <a:cubicBezTo>
                  <a:pt x="110138" y="90296"/>
                  <a:pt x="110165" y="90592"/>
                  <a:pt x="110246" y="91021"/>
                </a:cubicBezTo>
                <a:cubicBezTo>
                  <a:pt x="110273" y="91290"/>
                  <a:pt x="110326" y="91746"/>
                  <a:pt x="110407" y="91907"/>
                </a:cubicBezTo>
                <a:close/>
                <a:moveTo>
                  <a:pt x="109655" y="89544"/>
                </a:moveTo>
                <a:cubicBezTo>
                  <a:pt x="109655" y="89088"/>
                  <a:pt x="109333" y="89088"/>
                  <a:pt x="109172" y="89088"/>
                </a:cubicBezTo>
                <a:lnTo>
                  <a:pt x="108635" y="89088"/>
                </a:lnTo>
                <a:lnTo>
                  <a:pt x="108635" y="90028"/>
                </a:lnTo>
                <a:lnTo>
                  <a:pt x="109145" y="90028"/>
                </a:lnTo>
                <a:cubicBezTo>
                  <a:pt x="109574" y="90028"/>
                  <a:pt x="109655" y="89732"/>
                  <a:pt x="109655" y="89544"/>
                </a:cubicBezTo>
                <a:close/>
                <a:moveTo>
                  <a:pt x="36865" y="51283"/>
                </a:moveTo>
                <a:cubicBezTo>
                  <a:pt x="36865" y="50558"/>
                  <a:pt x="36489" y="49914"/>
                  <a:pt x="35871" y="49565"/>
                </a:cubicBezTo>
                <a:lnTo>
                  <a:pt x="19412" y="40087"/>
                </a:lnTo>
                <a:cubicBezTo>
                  <a:pt x="19144" y="39926"/>
                  <a:pt x="18822" y="39845"/>
                  <a:pt x="18500" y="39818"/>
                </a:cubicBezTo>
                <a:lnTo>
                  <a:pt x="18338" y="39818"/>
                </a:lnTo>
                <a:cubicBezTo>
                  <a:pt x="18016" y="39818"/>
                  <a:pt x="17721" y="39926"/>
                  <a:pt x="17426" y="40087"/>
                </a:cubicBezTo>
                <a:lnTo>
                  <a:pt x="993" y="49565"/>
                </a:lnTo>
                <a:cubicBezTo>
                  <a:pt x="376" y="49914"/>
                  <a:pt x="0" y="50585"/>
                  <a:pt x="0" y="51283"/>
                </a:cubicBezTo>
                <a:lnTo>
                  <a:pt x="27" y="76791"/>
                </a:lnTo>
                <a:cubicBezTo>
                  <a:pt x="27" y="77140"/>
                  <a:pt x="215" y="77462"/>
                  <a:pt x="510" y="77650"/>
                </a:cubicBezTo>
                <a:cubicBezTo>
                  <a:pt x="805" y="77838"/>
                  <a:pt x="1181" y="77838"/>
                  <a:pt x="1504" y="77650"/>
                </a:cubicBezTo>
                <a:lnTo>
                  <a:pt x="11277" y="72038"/>
                </a:lnTo>
                <a:cubicBezTo>
                  <a:pt x="11895" y="71662"/>
                  <a:pt x="12270" y="71018"/>
                  <a:pt x="12270" y="70320"/>
                </a:cubicBezTo>
                <a:lnTo>
                  <a:pt x="12270" y="58399"/>
                </a:lnTo>
                <a:cubicBezTo>
                  <a:pt x="12270" y="57700"/>
                  <a:pt x="12646" y="57029"/>
                  <a:pt x="13264" y="56680"/>
                </a:cubicBezTo>
                <a:lnTo>
                  <a:pt x="17426" y="54290"/>
                </a:lnTo>
                <a:cubicBezTo>
                  <a:pt x="17748" y="54103"/>
                  <a:pt x="18070" y="54022"/>
                  <a:pt x="18419" y="54022"/>
                </a:cubicBezTo>
                <a:cubicBezTo>
                  <a:pt x="18768" y="54022"/>
                  <a:pt x="19117" y="54103"/>
                  <a:pt x="19412" y="54290"/>
                </a:cubicBezTo>
                <a:lnTo>
                  <a:pt x="23574" y="56680"/>
                </a:lnTo>
                <a:cubicBezTo>
                  <a:pt x="24192" y="57029"/>
                  <a:pt x="24568" y="57700"/>
                  <a:pt x="24568" y="58399"/>
                </a:cubicBezTo>
                <a:lnTo>
                  <a:pt x="24568" y="70320"/>
                </a:lnTo>
                <a:cubicBezTo>
                  <a:pt x="24568" y="71018"/>
                  <a:pt x="24944" y="71689"/>
                  <a:pt x="25561" y="72038"/>
                </a:cubicBezTo>
                <a:lnTo>
                  <a:pt x="35334" y="77650"/>
                </a:lnTo>
                <a:cubicBezTo>
                  <a:pt x="35630" y="77838"/>
                  <a:pt x="36033" y="77838"/>
                  <a:pt x="36328" y="77650"/>
                </a:cubicBezTo>
                <a:cubicBezTo>
                  <a:pt x="36623" y="77489"/>
                  <a:pt x="36811" y="77140"/>
                  <a:pt x="36811" y="76791"/>
                </a:cubicBezTo>
                <a:lnTo>
                  <a:pt x="36865" y="51283"/>
                </a:lnTo>
                <a:close/>
                <a:moveTo>
                  <a:pt x="126866" y="23440"/>
                </a:moveTo>
                <a:lnTo>
                  <a:pt x="126866" y="70803"/>
                </a:lnTo>
                <a:cubicBezTo>
                  <a:pt x="126866" y="71501"/>
                  <a:pt x="126490" y="72173"/>
                  <a:pt x="125872" y="72522"/>
                </a:cubicBezTo>
                <a:lnTo>
                  <a:pt x="109413" y="82026"/>
                </a:lnTo>
                <a:cubicBezTo>
                  <a:pt x="108796" y="82375"/>
                  <a:pt x="108044" y="82375"/>
                  <a:pt x="107426" y="82026"/>
                </a:cubicBezTo>
                <a:lnTo>
                  <a:pt x="90967" y="72522"/>
                </a:lnTo>
                <a:cubicBezTo>
                  <a:pt x="90350" y="72173"/>
                  <a:pt x="89974" y="71501"/>
                  <a:pt x="89974" y="70803"/>
                </a:cubicBezTo>
                <a:lnTo>
                  <a:pt x="89974" y="51793"/>
                </a:lnTo>
                <a:cubicBezTo>
                  <a:pt x="89974" y="51095"/>
                  <a:pt x="90350" y="50424"/>
                  <a:pt x="90967" y="50075"/>
                </a:cubicBezTo>
                <a:lnTo>
                  <a:pt x="107426" y="40570"/>
                </a:lnTo>
                <a:cubicBezTo>
                  <a:pt x="108044" y="40221"/>
                  <a:pt x="108796" y="40221"/>
                  <a:pt x="109413" y="40570"/>
                </a:cubicBezTo>
                <a:lnTo>
                  <a:pt x="113521" y="42933"/>
                </a:lnTo>
                <a:cubicBezTo>
                  <a:pt x="113978" y="43201"/>
                  <a:pt x="114568" y="42852"/>
                  <a:pt x="114568" y="42342"/>
                </a:cubicBezTo>
                <a:lnTo>
                  <a:pt x="114568" y="17103"/>
                </a:lnTo>
                <a:cubicBezTo>
                  <a:pt x="114568" y="16352"/>
                  <a:pt x="115374" y="15868"/>
                  <a:pt x="116045" y="16244"/>
                </a:cubicBezTo>
                <a:lnTo>
                  <a:pt x="125845" y="21722"/>
                </a:lnTo>
                <a:cubicBezTo>
                  <a:pt x="126463" y="22044"/>
                  <a:pt x="126866" y="22715"/>
                  <a:pt x="126866" y="23440"/>
                </a:cubicBezTo>
                <a:close/>
                <a:moveTo>
                  <a:pt x="114515" y="58049"/>
                </a:moveTo>
                <a:cubicBezTo>
                  <a:pt x="114515" y="57862"/>
                  <a:pt x="114407" y="57700"/>
                  <a:pt x="114273" y="57620"/>
                </a:cubicBezTo>
                <a:lnTo>
                  <a:pt x="108635" y="54344"/>
                </a:lnTo>
                <a:cubicBezTo>
                  <a:pt x="108474" y="54264"/>
                  <a:pt x="108286" y="54264"/>
                  <a:pt x="108125" y="54344"/>
                </a:cubicBezTo>
                <a:lnTo>
                  <a:pt x="102486" y="57620"/>
                </a:lnTo>
                <a:cubicBezTo>
                  <a:pt x="102325" y="57700"/>
                  <a:pt x="102244" y="57862"/>
                  <a:pt x="102244" y="58049"/>
                </a:cubicBezTo>
                <a:lnTo>
                  <a:pt x="102244" y="64574"/>
                </a:lnTo>
                <a:cubicBezTo>
                  <a:pt x="102244" y="64762"/>
                  <a:pt x="102352" y="64923"/>
                  <a:pt x="102486" y="65004"/>
                </a:cubicBezTo>
                <a:lnTo>
                  <a:pt x="108125" y="68252"/>
                </a:lnTo>
                <a:cubicBezTo>
                  <a:pt x="108286" y="68333"/>
                  <a:pt x="108474" y="68333"/>
                  <a:pt x="108608" y="68252"/>
                </a:cubicBezTo>
                <a:lnTo>
                  <a:pt x="114246" y="65004"/>
                </a:lnTo>
                <a:cubicBezTo>
                  <a:pt x="114407" y="64923"/>
                  <a:pt x="114488" y="64762"/>
                  <a:pt x="114488" y="64574"/>
                </a:cubicBezTo>
                <a:lnTo>
                  <a:pt x="114488" y="58049"/>
                </a:lnTo>
                <a:lnTo>
                  <a:pt x="114515" y="58049"/>
                </a:lnTo>
                <a:close/>
                <a:moveTo>
                  <a:pt x="170846" y="57862"/>
                </a:moveTo>
                <a:cubicBezTo>
                  <a:pt x="171463" y="57512"/>
                  <a:pt x="171839" y="56841"/>
                  <a:pt x="171839" y="56143"/>
                </a:cubicBezTo>
                <a:lnTo>
                  <a:pt x="171839" y="51552"/>
                </a:lnTo>
                <a:cubicBezTo>
                  <a:pt x="171839" y="50854"/>
                  <a:pt x="171463" y="50182"/>
                  <a:pt x="170846" y="49833"/>
                </a:cubicBezTo>
                <a:lnTo>
                  <a:pt x="154494" y="40329"/>
                </a:lnTo>
                <a:cubicBezTo>
                  <a:pt x="153877" y="39979"/>
                  <a:pt x="153125" y="39979"/>
                  <a:pt x="152507" y="40329"/>
                </a:cubicBezTo>
                <a:lnTo>
                  <a:pt x="136048" y="49833"/>
                </a:lnTo>
                <a:cubicBezTo>
                  <a:pt x="135431" y="50182"/>
                  <a:pt x="135055" y="50854"/>
                  <a:pt x="135055" y="51552"/>
                </a:cubicBezTo>
                <a:lnTo>
                  <a:pt x="135055" y="70562"/>
                </a:lnTo>
                <a:cubicBezTo>
                  <a:pt x="135055" y="71286"/>
                  <a:pt x="135431" y="71931"/>
                  <a:pt x="136048" y="72280"/>
                </a:cubicBezTo>
                <a:lnTo>
                  <a:pt x="152400" y="81597"/>
                </a:lnTo>
                <a:cubicBezTo>
                  <a:pt x="152991" y="81946"/>
                  <a:pt x="153742" y="81946"/>
                  <a:pt x="154360" y="81597"/>
                </a:cubicBezTo>
                <a:lnTo>
                  <a:pt x="164241" y="76093"/>
                </a:lnTo>
                <a:cubicBezTo>
                  <a:pt x="164912" y="75717"/>
                  <a:pt x="164912" y="74750"/>
                  <a:pt x="164241" y="74374"/>
                </a:cubicBezTo>
                <a:lnTo>
                  <a:pt x="147674" y="64869"/>
                </a:lnTo>
                <a:cubicBezTo>
                  <a:pt x="147352" y="64681"/>
                  <a:pt x="147164" y="64359"/>
                  <a:pt x="147164" y="64010"/>
                </a:cubicBezTo>
                <a:lnTo>
                  <a:pt x="147164" y="58049"/>
                </a:lnTo>
                <a:cubicBezTo>
                  <a:pt x="147164" y="57700"/>
                  <a:pt x="147352" y="57378"/>
                  <a:pt x="147674" y="57190"/>
                </a:cubicBezTo>
                <a:lnTo>
                  <a:pt x="152830" y="54210"/>
                </a:lnTo>
                <a:cubicBezTo>
                  <a:pt x="153125" y="54022"/>
                  <a:pt x="153528" y="54022"/>
                  <a:pt x="153823" y="54210"/>
                </a:cubicBezTo>
                <a:lnTo>
                  <a:pt x="158978" y="57190"/>
                </a:lnTo>
                <a:cubicBezTo>
                  <a:pt x="159274" y="57378"/>
                  <a:pt x="159488" y="57700"/>
                  <a:pt x="159488" y="58049"/>
                </a:cubicBezTo>
                <a:lnTo>
                  <a:pt x="159488" y="62721"/>
                </a:lnTo>
                <a:cubicBezTo>
                  <a:pt x="159488" y="63473"/>
                  <a:pt x="160321" y="63956"/>
                  <a:pt x="160992" y="63581"/>
                </a:cubicBezTo>
                <a:lnTo>
                  <a:pt x="170846" y="57862"/>
                </a:lnTo>
                <a:close/>
                <a:moveTo>
                  <a:pt x="150091" y="58801"/>
                </a:moveTo>
                <a:cubicBezTo>
                  <a:pt x="149984" y="58882"/>
                  <a:pt x="149903" y="58989"/>
                  <a:pt x="149903" y="59123"/>
                </a:cubicBezTo>
                <a:lnTo>
                  <a:pt x="149903" y="62775"/>
                </a:lnTo>
                <a:cubicBezTo>
                  <a:pt x="149903" y="62909"/>
                  <a:pt x="149984" y="63044"/>
                  <a:pt x="150091" y="63097"/>
                </a:cubicBezTo>
                <a:lnTo>
                  <a:pt x="153259" y="64923"/>
                </a:lnTo>
                <a:cubicBezTo>
                  <a:pt x="153367" y="65004"/>
                  <a:pt x="153528" y="65004"/>
                  <a:pt x="153635" y="64923"/>
                </a:cubicBezTo>
                <a:lnTo>
                  <a:pt x="156803" y="63097"/>
                </a:lnTo>
                <a:cubicBezTo>
                  <a:pt x="156911" y="63017"/>
                  <a:pt x="156991" y="62909"/>
                  <a:pt x="156991" y="62775"/>
                </a:cubicBezTo>
                <a:lnTo>
                  <a:pt x="156991" y="59123"/>
                </a:lnTo>
                <a:cubicBezTo>
                  <a:pt x="156991" y="58989"/>
                  <a:pt x="156911" y="58855"/>
                  <a:pt x="156803" y="58801"/>
                </a:cubicBezTo>
                <a:lnTo>
                  <a:pt x="153635" y="56975"/>
                </a:lnTo>
                <a:cubicBezTo>
                  <a:pt x="153528" y="56895"/>
                  <a:pt x="153367" y="56895"/>
                  <a:pt x="153259" y="56975"/>
                </a:cubicBezTo>
                <a:lnTo>
                  <a:pt x="150091" y="58801"/>
                </a:lnTo>
                <a:close/>
                <a:moveTo>
                  <a:pt x="81838" y="70481"/>
                </a:moveTo>
                <a:lnTo>
                  <a:pt x="81838" y="51579"/>
                </a:lnTo>
                <a:cubicBezTo>
                  <a:pt x="81838" y="50881"/>
                  <a:pt x="81409" y="50209"/>
                  <a:pt x="80791" y="49860"/>
                </a:cubicBezTo>
                <a:lnTo>
                  <a:pt x="64386" y="40409"/>
                </a:lnTo>
                <a:cubicBezTo>
                  <a:pt x="63822" y="40087"/>
                  <a:pt x="63044" y="40033"/>
                  <a:pt x="62399" y="40409"/>
                </a:cubicBezTo>
                <a:lnTo>
                  <a:pt x="45994" y="49860"/>
                </a:lnTo>
                <a:cubicBezTo>
                  <a:pt x="45376" y="50209"/>
                  <a:pt x="44947" y="50854"/>
                  <a:pt x="44947" y="51579"/>
                </a:cubicBezTo>
                <a:lnTo>
                  <a:pt x="44947" y="70481"/>
                </a:lnTo>
                <a:cubicBezTo>
                  <a:pt x="44947" y="71233"/>
                  <a:pt x="45457" y="71877"/>
                  <a:pt x="46021" y="72199"/>
                </a:cubicBezTo>
                <a:lnTo>
                  <a:pt x="62453" y="81651"/>
                </a:lnTo>
                <a:cubicBezTo>
                  <a:pt x="63097" y="82026"/>
                  <a:pt x="63849" y="82000"/>
                  <a:pt x="64440" y="81651"/>
                </a:cubicBezTo>
                <a:lnTo>
                  <a:pt x="80818" y="72199"/>
                </a:lnTo>
                <a:cubicBezTo>
                  <a:pt x="81301" y="71931"/>
                  <a:pt x="81651" y="71474"/>
                  <a:pt x="81785" y="70937"/>
                </a:cubicBezTo>
                <a:cubicBezTo>
                  <a:pt x="81812" y="70803"/>
                  <a:pt x="81838" y="70642"/>
                  <a:pt x="81838" y="70481"/>
                </a:cubicBezTo>
                <a:close/>
                <a:moveTo>
                  <a:pt x="61889" y="36945"/>
                </a:moveTo>
                <a:lnTo>
                  <a:pt x="61674" y="37080"/>
                </a:lnTo>
                <a:lnTo>
                  <a:pt x="61970" y="37080"/>
                </a:lnTo>
                <a:lnTo>
                  <a:pt x="61889" y="36945"/>
                </a:lnTo>
                <a:close/>
                <a:moveTo>
                  <a:pt x="82349" y="71904"/>
                </a:moveTo>
                <a:lnTo>
                  <a:pt x="82241" y="71716"/>
                </a:lnTo>
                <a:lnTo>
                  <a:pt x="82241" y="71958"/>
                </a:lnTo>
                <a:lnTo>
                  <a:pt x="82349" y="71904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1" name="Text 39"/>
          <p:cNvSpPr/>
          <p:nvPr/>
        </p:nvSpPr>
        <p:spPr>
          <a:xfrm>
            <a:off x="4438153" y="2036296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Runtime environment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365122" y="2392863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8153" y="2465894"/>
            <a:ext cx="60143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Express 5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87512" y="2500262"/>
            <a:ext cx="154655" cy="137471"/>
          </a:xfrm>
          <a:custGeom>
            <a:avLst/>
            <a:gdLst/>
            <a:ahLst/>
            <a:cxnLst/>
            <a:rect l="l" t="t" r="r" b="b"/>
            <a:pathLst>
              <a:path w="154655" h="137471">
                <a:moveTo>
                  <a:pt x="66588" y="23628"/>
                </a:moveTo>
                <a:lnTo>
                  <a:pt x="88068" y="23628"/>
                </a:lnTo>
                <a:lnTo>
                  <a:pt x="88068" y="36516"/>
                </a:lnTo>
                <a:lnTo>
                  <a:pt x="66588" y="36516"/>
                </a:lnTo>
                <a:lnTo>
                  <a:pt x="66588" y="23628"/>
                </a:lnTo>
                <a:close/>
                <a:moveTo>
                  <a:pt x="64440" y="8592"/>
                </a:moveTo>
                <a:cubicBezTo>
                  <a:pt x="57325" y="8592"/>
                  <a:pt x="51552" y="14365"/>
                  <a:pt x="51552" y="21480"/>
                </a:cubicBezTo>
                <a:lnTo>
                  <a:pt x="51552" y="38664"/>
                </a:lnTo>
                <a:cubicBezTo>
                  <a:pt x="51552" y="45779"/>
                  <a:pt x="57325" y="51552"/>
                  <a:pt x="64440" y="51552"/>
                </a:cubicBezTo>
                <a:lnTo>
                  <a:pt x="68736" y="51552"/>
                </a:lnTo>
                <a:lnTo>
                  <a:pt x="68736" y="60144"/>
                </a:lnTo>
                <a:lnTo>
                  <a:pt x="8592" y="60144"/>
                </a:lnTo>
                <a:cubicBezTo>
                  <a:pt x="3840" y="60144"/>
                  <a:pt x="0" y="63983"/>
                  <a:pt x="0" y="68736"/>
                </a:cubicBezTo>
                <a:cubicBezTo>
                  <a:pt x="0" y="73488"/>
                  <a:pt x="3840" y="77328"/>
                  <a:pt x="8592" y="77328"/>
                </a:cubicBezTo>
                <a:lnTo>
                  <a:pt x="34368" y="77328"/>
                </a:lnTo>
                <a:lnTo>
                  <a:pt x="34368" y="85920"/>
                </a:lnTo>
                <a:lnTo>
                  <a:pt x="30072" y="85920"/>
                </a:lnTo>
                <a:cubicBezTo>
                  <a:pt x="22957" y="85920"/>
                  <a:pt x="17184" y="91692"/>
                  <a:pt x="17184" y="98808"/>
                </a:cubicBezTo>
                <a:lnTo>
                  <a:pt x="17184" y="115992"/>
                </a:lnTo>
                <a:cubicBezTo>
                  <a:pt x="17184" y="123107"/>
                  <a:pt x="22957" y="128879"/>
                  <a:pt x="30072" y="128879"/>
                </a:cubicBezTo>
                <a:lnTo>
                  <a:pt x="55848" y="128879"/>
                </a:lnTo>
                <a:cubicBezTo>
                  <a:pt x="62963" y="128879"/>
                  <a:pt x="68736" y="123107"/>
                  <a:pt x="68736" y="115992"/>
                </a:cubicBezTo>
                <a:lnTo>
                  <a:pt x="68736" y="98808"/>
                </a:lnTo>
                <a:cubicBezTo>
                  <a:pt x="68736" y="91692"/>
                  <a:pt x="62963" y="85920"/>
                  <a:pt x="55848" y="85920"/>
                </a:cubicBezTo>
                <a:lnTo>
                  <a:pt x="51552" y="85920"/>
                </a:lnTo>
                <a:lnTo>
                  <a:pt x="51552" y="77328"/>
                </a:lnTo>
                <a:lnTo>
                  <a:pt x="103104" y="77328"/>
                </a:lnTo>
                <a:lnTo>
                  <a:pt x="103104" y="85920"/>
                </a:lnTo>
                <a:lnTo>
                  <a:pt x="98808" y="85920"/>
                </a:lnTo>
                <a:cubicBezTo>
                  <a:pt x="91692" y="85920"/>
                  <a:pt x="85920" y="91692"/>
                  <a:pt x="85920" y="98808"/>
                </a:cubicBezTo>
                <a:lnTo>
                  <a:pt x="85920" y="115992"/>
                </a:lnTo>
                <a:cubicBezTo>
                  <a:pt x="85920" y="123107"/>
                  <a:pt x="91692" y="128879"/>
                  <a:pt x="98808" y="128879"/>
                </a:cubicBezTo>
                <a:lnTo>
                  <a:pt x="124584" y="128879"/>
                </a:lnTo>
                <a:cubicBezTo>
                  <a:pt x="131699" y="128879"/>
                  <a:pt x="137471" y="123107"/>
                  <a:pt x="137471" y="115992"/>
                </a:cubicBezTo>
                <a:lnTo>
                  <a:pt x="137471" y="98808"/>
                </a:lnTo>
                <a:cubicBezTo>
                  <a:pt x="137471" y="91692"/>
                  <a:pt x="131699" y="85920"/>
                  <a:pt x="124584" y="85920"/>
                </a:cubicBezTo>
                <a:lnTo>
                  <a:pt x="120288" y="85920"/>
                </a:lnTo>
                <a:lnTo>
                  <a:pt x="120288" y="77328"/>
                </a:lnTo>
                <a:lnTo>
                  <a:pt x="146063" y="77328"/>
                </a:lnTo>
                <a:cubicBezTo>
                  <a:pt x="150816" y="77328"/>
                  <a:pt x="154655" y="73488"/>
                  <a:pt x="154655" y="68736"/>
                </a:cubicBezTo>
                <a:cubicBezTo>
                  <a:pt x="154655" y="63983"/>
                  <a:pt x="150816" y="60144"/>
                  <a:pt x="146063" y="60144"/>
                </a:cubicBezTo>
                <a:lnTo>
                  <a:pt x="85920" y="60144"/>
                </a:lnTo>
                <a:lnTo>
                  <a:pt x="85920" y="51552"/>
                </a:lnTo>
                <a:lnTo>
                  <a:pt x="90216" y="51552"/>
                </a:lnTo>
                <a:cubicBezTo>
                  <a:pt x="97331" y="51552"/>
                  <a:pt x="103104" y="45779"/>
                  <a:pt x="103104" y="38664"/>
                </a:cubicBezTo>
                <a:lnTo>
                  <a:pt x="103104" y="21480"/>
                </a:lnTo>
                <a:cubicBezTo>
                  <a:pt x="103104" y="14365"/>
                  <a:pt x="97331" y="8592"/>
                  <a:pt x="90216" y="8592"/>
                </a:cubicBezTo>
                <a:lnTo>
                  <a:pt x="64440" y="8592"/>
                </a:lnTo>
                <a:close/>
                <a:moveTo>
                  <a:pt x="120288" y="100956"/>
                </a:moveTo>
                <a:lnTo>
                  <a:pt x="122436" y="100956"/>
                </a:lnTo>
                <a:lnTo>
                  <a:pt x="122436" y="113844"/>
                </a:lnTo>
                <a:lnTo>
                  <a:pt x="100956" y="113844"/>
                </a:lnTo>
                <a:lnTo>
                  <a:pt x="100956" y="100956"/>
                </a:lnTo>
                <a:lnTo>
                  <a:pt x="120288" y="100956"/>
                </a:lnTo>
                <a:close/>
                <a:moveTo>
                  <a:pt x="51552" y="100956"/>
                </a:moveTo>
                <a:lnTo>
                  <a:pt x="53700" y="100956"/>
                </a:lnTo>
                <a:lnTo>
                  <a:pt x="53700" y="113844"/>
                </a:lnTo>
                <a:lnTo>
                  <a:pt x="32220" y="113844"/>
                </a:lnTo>
                <a:lnTo>
                  <a:pt x="32220" y="100956"/>
                </a:lnTo>
                <a:lnTo>
                  <a:pt x="51552" y="100956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5" name="Text 43"/>
          <p:cNvSpPr/>
          <p:nvPr/>
        </p:nvSpPr>
        <p:spPr>
          <a:xfrm>
            <a:off x="4438153" y="2672101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Web framework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65122" y="3028668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38153" y="3101700"/>
            <a:ext cx="687357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MongoDB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604696" y="3136068"/>
            <a:ext cx="120288" cy="137471"/>
          </a:xfrm>
          <a:custGeom>
            <a:avLst/>
            <a:gdLst/>
            <a:ahLst/>
            <a:cxnLst/>
            <a:rect l="l" t="t" r="r" b="b"/>
            <a:pathLst>
              <a:path w="120288" h="137471">
                <a:moveTo>
                  <a:pt x="120288" y="55257"/>
                </a:moveTo>
                <a:cubicBezTo>
                  <a:pt x="116314" y="57888"/>
                  <a:pt x="111749" y="60010"/>
                  <a:pt x="106997" y="61701"/>
                </a:cubicBezTo>
                <a:cubicBezTo>
                  <a:pt x="94377" y="66212"/>
                  <a:pt x="77811" y="68736"/>
                  <a:pt x="60144" y="68736"/>
                </a:cubicBezTo>
                <a:cubicBezTo>
                  <a:pt x="42477" y="68736"/>
                  <a:pt x="25883" y="66185"/>
                  <a:pt x="13291" y="61701"/>
                </a:cubicBezTo>
                <a:cubicBezTo>
                  <a:pt x="8565" y="60010"/>
                  <a:pt x="3974" y="57888"/>
                  <a:pt x="0" y="55257"/>
                </a:cubicBezTo>
                <a:lnTo>
                  <a:pt x="0" y="77328"/>
                </a:lnTo>
                <a:cubicBezTo>
                  <a:pt x="0" y="89195"/>
                  <a:pt x="26930" y="98808"/>
                  <a:pt x="60144" y="98808"/>
                </a:cubicBezTo>
                <a:cubicBezTo>
                  <a:pt x="93357" y="98808"/>
                  <a:pt x="120288" y="89195"/>
                  <a:pt x="120288" y="77328"/>
                </a:cubicBezTo>
                <a:lnTo>
                  <a:pt x="120288" y="55257"/>
                </a:lnTo>
                <a:close/>
                <a:moveTo>
                  <a:pt x="120288" y="34368"/>
                </a:moveTo>
                <a:lnTo>
                  <a:pt x="120288" y="21480"/>
                </a:lnTo>
                <a:cubicBezTo>
                  <a:pt x="120288" y="9612"/>
                  <a:pt x="93357" y="0"/>
                  <a:pt x="60144" y="0"/>
                </a:cubicBezTo>
                <a:cubicBezTo>
                  <a:pt x="26930" y="0"/>
                  <a:pt x="0" y="9612"/>
                  <a:pt x="0" y="21480"/>
                </a:cubicBezTo>
                <a:lnTo>
                  <a:pt x="0" y="34368"/>
                </a:lnTo>
                <a:cubicBezTo>
                  <a:pt x="0" y="46236"/>
                  <a:pt x="26930" y="55848"/>
                  <a:pt x="60144" y="55848"/>
                </a:cubicBezTo>
                <a:cubicBezTo>
                  <a:pt x="93357" y="55848"/>
                  <a:pt x="120288" y="46236"/>
                  <a:pt x="120288" y="34368"/>
                </a:cubicBezTo>
                <a:close/>
                <a:moveTo>
                  <a:pt x="106997" y="104661"/>
                </a:moveTo>
                <a:cubicBezTo>
                  <a:pt x="94404" y="109145"/>
                  <a:pt x="77838" y="111696"/>
                  <a:pt x="60144" y="111696"/>
                </a:cubicBezTo>
                <a:cubicBezTo>
                  <a:pt x="42450" y="111696"/>
                  <a:pt x="25883" y="109145"/>
                  <a:pt x="13291" y="104661"/>
                </a:cubicBezTo>
                <a:cubicBezTo>
                  <a:pt x="8565" y="102969"/>
                  <a:pt x="3974" y="100848"/>
                  <a:pt x="0" y="98217"/>
                </a:cubicBezTo>
                <a:lnTo>
                  <a:pt x="0" y="115992"/>
                </a:lnTo>
                <a:cubicBezTo>
                  <a:pt x="0" y="127859"/>
                  <a:pt x="26930" y="137471"/>
                  <a:pt x="60144" y="137471"/>
                </a:cubicBezTo>
                <a:cubicBezTo>
                  <a:pt x="93357" y="137471"/>
                  <a:pt x="120288" y="127859"/>
                  <a:pt x="120288" y="115992"/>
                </a:cubicBezTo>
                <a:lnTo>
                  <a:pt x="120288" y="98217"/>
                </a:lnTo>
                <a:cubicBezTo>
                  <a:pt x="116314" y="100848"/>
                  <a:pt x="111749" y="102969"/>
                  <a:pt x="106997" y="104661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49" name="Text 47"/>
          <p:cNvSpPr/>
          <p:nvPr/>
        </p:nvSpPr>
        <p:spPr>
          <a:xfrm>
            <a:off x="4438153" y="3307907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Document database (49 models)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365122" y="3664474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38153" y="3737505"/>
            <a:ext cx="40382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Redis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596104" y="3771873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17184" y="17184"/>
                </a:moveTo>
                <a:cubicBezTo>
                  <a:pt x="7706" y="17184"/>
                  <a:pt x="0" y="24890"/>
                  <a:pt x="0" y="34368"/>
                </a:cubicBezTo>
                <a:lnTo>
                  <a:pt x="0" y="36355"/>
                </a:lnTo>
                <a:cubicBezTo>
                  <a:pt x="0" y="38181"/>
                  <a:pt x="1181" y="39738"/>
                  <a:pt x="2712" y="40731"/>
                </a:cubicBezTo>
                <a:cubicBezTo>
                  <a:pt x="6256" y="43040"/>
                  <a:pt x="8592" y="47014"/>
                  <a:pt x="8592" y="51552"/>
                </a:cubicBezTo>
                <a:cubicBezTo>
                  <a:pt x="8592" y="56089"/>
                  <a:pt x="6256" y="60063"/>
                  <a:pt x="2712" y="62372"/>
                </a:cubicBezTo>
                <a:cubicBezTo>
                  <a:pt x="1181" y="63366"/>
                  <a:pt x="0" y="64923"/>
                  <a:pt x="0" y="66749"/>
                </a:cubicBezTo>
                <a:lnTo>
                  <a:pt x="0" y="81624"/>
                </a:lnTo>
                <a:lnTo>
                  <a:pt x="137471" y="81624"/>
                </a:lnTo>
                <a:lnTo>
                  <a:pt x="137471" y="66749"/>
                </a:lnTo>
                <a:cubicBezTo>
                  <a:pt x="137471" y="64923"/>
                  <a:pt x="136290" y="63366"/>
                  <a:pt x="134760" y="62372"/>
                </a:cubicBezTo>
                <a:cubicBezTo>
                  <a:pt x="131215" y="60063"/>
                  <a:pt x="128879" y="56089"/>
                  <a:pt x="128879" y="51552"/>
                </a:cubicBezTo>
                <a:cubicBezTo>
                  <a:pt x="128879" y="47014"/>
                  <a:pt x="131215" y="43040"/>
                  <a:pt x="134760" y="40731"/>
                </a:cubicBezTo>
                <a:cubicBezTo>
                  <a:pt x="136290" y="39738"/>
                  <a:pt x="137471" y="38181"/>
                  <a:pt x="137471" y="36355"/>
                </a:cubicBezTo>
                <a:lnTo>
                  <a:pt x="137471" y="34368"/>
                </a:lnTo>
                <a:cubicBezTo>
                  <a:pt x="137471" y="24890"/>
                  <a:pt x="129766" y="17184"/>
                  <a:pt x="120288" y="17184"/>
                </a:cubicBezTo>
                <a:lnTo>
                  <a:pt x="17184" y="17184"/>
                </a:lnTo>
                <a:close/>
                <a:moveTo>
                  <a:pt x="137471" y="111696"/>
                </a:moveTo>
                <a:lnTo>
                  <a:pt x="137471" y="94512"/>
                </a:lnTo>
                <a:lnTo>
                  <a:pt x="0" y="94512"/>
                </a:lnTo>
                <a:lnTo>
                  <a:pt x="0" y="111696"/>
                </a:lnTo>
                <a:cubicBezTo>
                  <a:pt x="0" y="116448"/>
                  <a:pt x="3840" y="120288"/>
                  <a:pt x="8592" y="120288"/>
                </a:cubicBezTo>
                <a:lnTo>
                  <a:pt x="25776" y="120288"/>
                </a:lnTo>
                <a:lnTo>
                  <a:pt x="25776" y="113844"/>
                </a:lnTo>
                <a:cubicBezTo>
                  <a:pt x="25776" y="110273"/>
                  <a:pt x="28649" y="107400"/>
                  <a:pt x="32220" y="107400"/>
                </a:cubicBezTo>
                <a:cubicBezTo>
                  <a:pt x="35791" y="107400"/>
                  <a:pt x="38664" y="110273"/>
                  <a:pt x="38664" y="113844"/>
                </a:cubicBezTo>
                <a:lnTo>
                  <a:pt x="38664" y="120288"/>
                </a:lnTo>
                <a:lnTo>
                  <a:pt x="62292" y="120288"/>
                </a:lnTo>
                <a:lnTo>
                  <a:pt x="62292" y="113844"/>
                </a:lnTo>
                <a:cubicBezTo>
                  <a:pt x="62292" y="110273"/>
                  <a:pt x="65165" y="107400"/>
                  <a:pt x="68736" y="107400"/>
                </a:cubicBezTo>
                <a:cubicBezTo>
                  <a:pt x="72307" y="107400"/>
                  <a:pt x="75180" y="110273"/>
                  <a:pt x="75180" y="113844"/>
                </a:cubicBezTo>
                <a:lnTo>
                  <a:pt x="75180" y="120288"/>
                </a:lnTo>
                <a:lnTo>
                  <a:pt x="98808" y="120288"/>
                </a:lnTo>
                <a:lnTo>
                  <a:pt x="98808" y="113844"/>
                </a:lnTo>
                <a:cubicBezTo>
                  <a:pt x="98808" y="110273"/>
                  <a:pt x="101681" y="107400"/>
                  <a:pt x="105252" y="107400"/>
                </a:cubicBezTo>
                <a:cubicBezTo>
                  <a:pt x="108823" y="107400"/>
                  <a:pt x="111696" y="110273"/>
                  <a:pt x="111696" y="113844"/>
                </a:cubicBezTo>
                <a:lnTo>
                  <a:pt x="111696" y="120288"/>
                </a:lnTo>
                <a:lnTo>
                  <a:pt x="128879" y="120288"/>
                </a:lnTo>
                <a:cubicBezTo>
                  <a:pt x="133632" y="120288"/>
                  <a:pt x="137471" y="116448"/>
                  <a:pt x="137471" y="111696"/>
                </a:cubicBezTo>
                <a:close/>
                <a:moveTo>
                  <a:pt x="42960" y="42960"/>
                </a:moveTo>
                <a:lnTo>
                  <a:pt x="42960" y="60144"/>
                </a:lnTo>
                <a:cubicBezTo>
                  <a:pt x="42960" y="64896"/>
                  <a:pt x="39120" y="68736"/>
                  <a:pt x="34368" y="68736"/>
                </a:cubicBezTo>
                <a:cubicBezTo>
                  <a:pt x="29615" y="68736"/>
                  <a:pt x="25776" y="64896"/>
                  <a:pt x="25776" y="60144"/>
                </a:cubicBezTo>
                <a:lnTo>
                  <a:pt x="25776" y="42960"/>
                </a:lnTo>
                <a:cubicBezTo>
                  <a:pt x="25776" y="38207"/>
                  <a:pt x="29615" y="34368"/>
                  <a:pt x="34368" y="34368"/>
                </a:cubicBezTo>
                <a:cubicBezTo>
                  <a:pt x="39120" y="34368"/>
                  <a:pt x="42960" y="38207"/>
                  <a:pt x="42960" y="42960"/>
                </a:cubicBezTo>
                <a:close/>
                <a:moveTo>
                  <a:pt x="77328" y="42960"/>
                </a:moveTo>
                <a:lnTo>
                  <a:pt x="77328" y="60144"/>
                </a:lnTo>
                <a:cubicBezTo>
                  <a:pt x="77328" y="64896"/>
                  <a:pt x="73488" y="68736"/>
                  <a:pt x="68736" y="68736"/>
                </a:cubicBezTo>
                <a:cubicBezTo>
                  <a:pt x="63983" y="68736"/>
                  <a:pt x="60144" y="64896"/>
                  <a:pt x="60144" y="60144"/>
                </a:cubicBezTo>
                <a:lnTo>
                  <a:pt x="60144" y="42960"/>
                </a:lnTo>
                <a:cubicBezTo>
                  <a:pt x="60144" y="38207"/>
                  <a:pt x="63983" y="34368"/>
                  <a:pt x="68736" y="34368"/>
                </a:cubicBezTo>
                <a:cubicBezTo>
                  <a:pt x="73488" y="34368"/>
                  <a:pt x="77328" y="38207"/>
                  <a:pt x="77328" y="42960"/>
                </a:cubicBezTo>
                <a:close/>
                <a:moveTo>
                  <a:pt x="111696" y="42960"/>
                </a:moveTo>
                <a:lnTo>
                  <a:pt x="111696" y="60144"/>
                </a:lnTo>
                <a:cubicBezTo>
                  <a:pt x="111696" y="64896"/>
                  <a:pt x="107856" y="68736"/>
                  <a:pt x="103104" y="68736"/>
                </a:cubicBezTo>
                <a:cubicBezTo>
                  <a:pt x="98351" y="68736"/>
                  <a:pt x="94512" y="64896"/>
                  <a:pt x="94512" y="60144"/>
                </a:cubicBezTo>
                <a:lnTo>
                  <a:pt x="94512" y="42960"/>
                </a:lnTo>
                <a:cubicBezTo>
                  <a:pt x="94512" y="38207"/>
                  <a:pt x="98351" y="34368"/>
                  <a:pt x="103104" y="34368"/>
                </a:cubicBezTo>
                <a:cubicBezTo>
                  <a:pt x="107856" y="34368"/>
                  <a:pt x="111696" y="38207"/>
                  <a:pt x="111696" y="4296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3" name="Text 51"/>
          <p:cNvSpPr/>
          <p:nvPr/>
        </p:nvSpPr>
        <p:spPr>
          <a:xfrm>
            <a:off x="4438153" y="3943712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Caching &amp; queues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4365122" y="4300279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38153" y="4373311"/>
            <a:ext cx="549886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BullMQ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596104" y="4407679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35925" y="9747"/>
                </a:moveTo>
                <a:cubicBezTo>
                  <a:pt x="38852" y="11787"/>
                  <a:pt x="39550" y="15815"/>
                  <a:pt x="37509" y="18714"/>
                </a:cubicBezTo>
                <a:lnTo>
                  <a:pt x="22473" y="40194"/>
                </a:lnTo>
                <a:cubicBezTo>
                  <a:pt x="21373" y="41752"/>
                  <a:pt x="19654" y="42745"/>
                  <a:pt x="17748" y="42906"/>
                </a:cubicBezTo>
                <a:cubicBezTo>
                  <a:pt x="15841" y="43067"/>
                  <a:pt x="13962" y="42423"/>
                  <a:pt x="12619" y="41080"/>
                </a:cubicBezTo>
                <a:lnTo>
                  <a:pt x="1879" y="30340"/>
                </a:lnTo>
                <a:cubicBezTo>
                  <a:pt x="-618" y="27816"/>
                  <a:pt x="-618" y="23735"/>
                  <a:pt x="1879" y="21211"/>
                </a:cubicBezTo>
                <a:cubicBezTo>
                  <a:pt x="4377" y="18688"/>
                  <a:pt x="8485" y="18714"/>
                  <a:pt x="11008" y="21211"/>
                </a:cubicBezTo>
                <a:lnTo>
                  <a:pt x="16325" y="26528"/>
                </a:lnTo>
                <a:lnTo>
                  <a:pt x="26957" y="11331"/>
                </a:lnTo>
                <a:cubicBezTo>
                  <a:pt x="28998" y="8404"/>
                  <a:pt x="33025" y="7706"/>
                  <a:pt x="35925" y="9747"/>
                </a:cubicBezTo>
                <a:close/>
                <a:moveTo>
                  <a:pt x="35925" y="52706"/>
                </a:moveTo>
                <a:cubicBezTo>
                  <a:pt x="38852" y="54747"/>
                  <a:pt x="39550" y="58774"/>
                  <a:pt x="37509" y="61674"/>
                </a:cubicBezTo>
                <a:lnTo>
                  <a:pt x="22473" y="83154"/>
                </a:lnTo>
                <a:cubicBezTo>
                  <a:pt x="21373" y="84711"/>
                  <a:pt x="19654" y="85705"/>
                  <a:pt x="17748" y="85866"/>
                </a:cubicBezTo>
                <a:cubicBezTo>
                  <a:pt x="15841" y="86027"/>
                  <a:pt x="13962" y="85383"/>
                  <a:pt x="12619" y="84040"/>
                </a:cubicBezTo>
                <a:lnTo>
                  <a:pt x="1879" y="73300"/>
                </a:lnTo>
                <a:cubicBezTo>
                  <a:pt x="-644" y="70776"/>
                  <a:pt x="-644" y="66695"/>
                  <a:pt x="1879" y="64198"/>
                </a:cubicBezTo>
                <a:cubicBezTo>
                  <a:pt x="4403" y="61701"/>
                  <a:pt x="8485" y="61674"/>
                  <a:pt x="10982" y="64198"/>
                </a:cubicBezTo>
                <a:lnTo>
                  <a:pt x="16298" y="69514"/>
                </a:lnTo>
                <a:lnTo>
                  <a:pt x="26930" y="54317"/>
                </a:lnTo>
                <a:cubicBezTo>
                  <a:pt x="28971" y="51391"/>
                  <a:pt x="32999" y="50693"/>
                  <a:pt x="35898" y="52733"/>
                </a:cubicBezTo>
                <a:close/>
                <a:moveTo>
                  <a:pt x="60144" y="25776"/>
                </a:moveTo>
                <a:cubicBezTo>
                  <a:pt x="60144" y="21023"/>
                  <a:pt x="63983" y="17184"/>
                  <a:pt x="68736" y="17184"/>
                </a:cubicBezTo>
                <a:lnTo>
                  <a:pt x="128879" y="17184"/>
                </a:lnTo>
                <a:cubicBezTo>
                  <a:pt x="133632" y="17184"/>
                  <a:pt x="137471" y="21023"/>
                  <a:pt x="137471" y="25776"/>
                </a:cubicBezTo>
                <a:cubicBezTo>
                  <a:pt x="137471" y="30528"/>
                  <a:pt x="133632" y="34368"/>
                  <a:pt x="128879" y="34368"/>
                </a:cubicBezTo>
                <a:lnTo>
                  <a:pt x="68736" y="34368"/>
                </a:lnTo>
                <a:cubicBezTo>
                  <a:pt x="63983" y="34368"/>
                  <a:pt x="60144" y="30528"/>
                  <a:pt x="60144" y="25776"/>
                </a:cubicBezTo>
                <a:close/>
                <a:moveTo>
                  <a:pt x="60144" y="68736"/>
                </a:moveTo>
                <a:cubicBezTo>
                  <a:pt x="60144" y="63983"/>
                  <a:pt x="63983" y="60144"/>
                  <a:pt x="68736" y="60144"/>
                </a:cubicBezTo>
                <a:lnTo>
                  <a:pt x="128879" y="60144"/>
                </a:lnTo>
                <a:cubicBezTo>
                  <a:pt x="133632" y="60144"/>
                  <a:pt x="137471" y="63983"/>
                  <a:pt x="137471" y="68736"/>
                </a:cubicBezTo>
                <a:cubicBezTo>
                  <a:pt x="137471" y="73488"/>
                  <a:pt x="133632" y="77328"/>
                  <a:pt x="128879" y="77328"/>
                </a:cubicBezTo>
                <a:lnTo>
                  <a:pt x="68736" y="77328"/>
                </a:lnTo>
                <a:cubicBezTo>
                  <a:pt x="63983" y="77328"/>
                  <a:pt x="60144" y="73488"/>
                  <a:pt x="60144" y="68736"/>
                </a:cubicBezTo>
                <a:close/>
                <a:moveTo>
                  <a:pt x="42960" y="111696"/>
                </a:moveTo>
                <a:cubicBezTo>
                  <a:pt x="42960" y="106943"/>
                  <a:pt x="46799" y="103104"/>
                  <a:pt x="51552" y="103104"/>
                </a:cubicBezTo>
                <a:lnTo>
                  <a:pt x="128879" y="103104"/>
                </a:lnTo>
                <a:cubicBezTo>
                  <a:pt x="133632" y="103104"/>
                  <a:pt x="137471" y="106943"/>
                  <a:pt x="137471" y="111696"/>
                </a:cubicBezTo>
                <a:cubicBezTo>
                  <a:pt x="137471" y="116448"/>
                  <a:pt x="133632" y="120288"/>
                  <a:pt x="128879" y="120288"/>
                </a:cubicBezTo>
                <a:lnTo>
                  <a:pt x="51552" y="120288"/>
                </a:lnTo>
                <a:cubicBezTo>
                  <a:pt x="46799" y="120288"/>
                  <a:pt x="42960" y="116448"/>
                  <a:pt x="42960" y="111696"/>
                </a:cubicBezTo>
                <a:close/>
                <a:moveTo>
                  <a:pt x="17184" y="100956"/>
                </a:moveTo>
                <a:cubicBezTo>
                  <a:pt x="23111" y="100956"/>
                  <a:pt x="27924" y="105768"/>
                  <a:pt x="27924" y="111696"/>
                </a:cubicBezTo>
                <a:cubicBezTo>
                  <a:pt x="27924" y="117623"/>
                  <a:pt x="23111" y="122436"/>
                  <a:pt x="17184" y="122436"/>
                </a:cubicBezTo>
                <a:cubicBezTo>
                  <a:pt x="11256" y="122436"/>
                  <a:pt x="6444" y="117623"/>
                  <a:pt x="6444" y="111696"/>
                </a:cubicBezTo>
                <a:cubicBezTo>
                  <a:pt x="6444" y="105768"/>
                  <a:pt x="11256" y="100956"/>
                  <a:pt x="17184" y="100956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57" name="Text 55"/>
          <p:cNvSpPr/>
          <p:nvPr/>
        </p:nvSpPr>
        <p:spPr>
          <a:xfrm>
            <a:off x="4438153" y="4579518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Background job processing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365122" y="4936085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38153" y="5009116"/>
            <a:ext cx="69594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Passport.js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613288" y="5043484"/>
            <a:ext cx="103104" cy="137471"/>
          </a:xfrm>
          <a:custGeom>
            <a:avLst/>
            <a:gdLst/>
            <a:ahLst/>
            <a:cxnLst/>
            <a:rect l="l" t="t" r="r" b="b"/>
            <a:pathLst>
              <a:path w="103104" h="137471">
                <a:moveTo>
                  <a:pt x="0" y="17184"/>
                </a:moveTo>
                <a:cubicBezTo>
                  <a:pt x="0" y="7706"/>
                  <a:pt x="7706" y="0"/>
                  <a:pt x="17184" y="0"/>
                </a:cubicBezTo>
                <a:lnTo>
                  <a:pt x="85920" y="0"/>
                </a:lnTo>
                <a:cubicBezTo>
                  <a:pt x="95398" y="0"/>
                  <a:pt x="103104" y="7706"/>
                  <a:pt x="103104" y="17184"/>
                </a:cubicBezTo>
                <a:lnTo>
                  <a:pt x="103104" y="120288"/>
                </a:lnTo>
                <a:cubicBezTo>
                  <a:pt x="103104" y="129766"/>
                  <a:pt x="95398" y="137471"/>
                  <a:pt x="85920" y="137471"/>
                </a:cubicBezTo>
                <a:lnTo>
                  <a:pt x="17184" y="137471"/>
                </a:lnTo>
                <a:cubicBezTo>
                  <a:pt x="7706" y="137471"/>
                  <a:pt x="0" y="129766"/>
                  <a:pt x="0" y="120288"/>
                </a:cubicBezTo>
                <a:lnTo>
                  <a:pt x="0" y="17184"/>
                </a:lnTo>
                <a:close/>
                <a:moveTo>
                  <a:pt x="25776" y="109548"/>
                </a:moveTo>
                <a:cubicBezTo>
                  <a:pt x="25776" y="113119"/>
                  <a:pt x="28649" y="115992"/>
                  <a:pt x="32220" y="115992"/>
                </a:cubicBezTo>
                <a:lnTo>
                  <a:pt x="70884" y="115992"/>
                </a:lnTo>
                <a:cubicBezTo>
                  <a:pt x="74455" y="115992"/>
                  <a:pt x="77328" y="113119"/>
                  <a:pt x="77328" y="109548"/>
                </a:cubicBezTo>
                <a:cubicBezTo>
                  <a:pt x="77328" y="105977"/>
                  <a:pt x="74455" y="103104"/>
                  <a:pt x="70884" y="103104"/>
                </a:cubicBezTo>
                <a:lnTo>
                  <a:pt x="32220" y="103104"/>
                </a:lnTo>
                <a:cubicBezTo>
                  <a:pt x="28649" y="103104"/>
                  <a:pt x="25776" y="105977"/>
                  <a:pt x="25776" y="109548"/>
                </a:cubicBezTo>
                <a:close/>
                <a:moveTo>
                  <a:pt x="74804" y="55848"/>
                </a:moveTo>
                <a:cubicBezTo>
                  <a:pt x="73515" y="62936"/>
                  <a:pt x="69031" y="68924"/>
                  <a:pt x="62936" y="72280"/>
                </a:cubicBezTo>
                <a:cubicBezTo>
                  <a:pt x="64735" y="67715"/>
                  <a:pt x="65943" y="62077"/>
                  <a:pt x="66319" y="55848"/>
                </a:cubicBezTo>
                <a:lnTo>
                  <a:pt x="74804" y="55848"/>
                </a:lnTo>
                <a:close/>
                <a:moveTo>
                  <a:pt x="28327" y="55848"/>
                </a:moveTo>
                <a:lnTo>
                  <a:pt x="36811" y="55848"/>
                </a:lnTo>
                <a:cubicBezTo>
                  <a:pt x="37187" y="62050"/>
                  <a:pt x="38422" y="67715"/>
                  <a:pt x="40194" y="72280"/>
                </a:cubicBezTo>
                <a:cubicBezTo>
                  <a:pt x="34099" y="68924"/>
                  <a:pt x="29615" y="62936"/>
                  <a:pt x="28327" y="55848"/>
                </a:cubicBezTo>
                <a:close/>
                <a:moveTo>
                  <a:pt x="48840" y="70615"/>
                </a:moveTo>
                <a:cubicBezTo>
                  <a:pt x="47175" y="67017"/>
                  <a:pt x="45860" y="61889"/>
                  <a:pt x="45430" y="55848"/>
                </a:cubicBezTo>
                <a:lnTo>
                  <a:pt x="57727" y="55848"/>
                </a:lnTo>
                <a:cubicBezTo>
                  <a:pt x="57298" y="61889"/>
                  <a:pt x="55982" y="67017"/>
                  <a:pt x="54317" y="70615"/>
                </a:cubicBezTo>
                <a:cubicBezTo>
                  <a:pt x="53109" y="73193"/>
                  <a:pt x="52116" y="74321"/>
                  <a:pt x="51579" y="74777"/>
                </a:cubicBezTo>
                <a:cubicBezTo>
                  <a:pt x="51042" y="74321"/>
                  <a:pt x="50048" y="73220"/>
                  <a:pt x="48840" y="70615"/>
                </a:cubicBezTo>
                <a:close/>
                <a:moveTo>
                  <a:pt x="48840" y="32488"/>
                </a:moveTo>
                <a:cubicBezTo>
                  <a:pt x="50048" y="29911"/>
                  <a:pt x="51042" y="28783"/>
                  <a:pt x="51579" y="28327"/>
                </a:cubicBezTo>
                <a:cubicBezTo>
                  <a:pt x="52116" y="28783"/>
                  <a:pt x="53109" y="29884"/>
                  <a:pt x="54317" y="32488"/>
                </a:cubicBezTo>
                <a:cubicBezTo>
                  <a:pt x="55982" y="36086"/>
                  <a:pt x="57298" y="41215"/>
                  <a:pt x="57727" y="47256"/>
                </a:cubicBezTo>
                <a:lnTo>
                  <a:pt x="45430" y="47256"/>
                </a:lnTo>
                <a:cubicBezTo>
                  <a:pt x="45860" y="41215"/>
                  <a:pt x="47175" y="36086"/>
                  <a:pt x="48840" y="32488"/>
                </a:cubicBezTo>
                <a:close/>
                <a:moveTo>
                  <a:pt x="74804" y="47256"/>
                </a:moveTo>
                <a:lnTo>
                  <a:pt x="66319" y="47256"/>
                </a:lnTo>
                <a:cubicBezTo>
                  <a:pt x="65943" y="41053"/>
                  <a:pt x="64708" y="35388"/>
                  <a:pt x="62936" y="30824"/>
                </a:cubicBezTo>
                <a:cubicBezTo>
                  <a:pt x="69031" y="34180"/>
                  <a:pt x="73515" y="40167"/>
                  <a:pt x="74804" y="47256"/>
                </a:cubicBezTo>
                <a:close/>
                <a:moveTo>
                  <a:pt x="36784" y="47256"/>
                </a:moveTo>
                <a:lnTo>
                  <a:pt x="28300" y="47256"/>
                </a:lnTo>
                <a:cubicBezTo>
                  <a:pt x="29589" y="40167"/>
                  <a:pt x="34073" y="34180"/>
                  <a:pt x="40167" y="30824"/>
                </a:cubicBezTo>
                <a:cubicBezTo>
                  <a:pt x="38368" y="35388"/>
                  <a:pt x="37160" y="41027"/>
                  <a:pt x="36784" y="47256"/>
                </a:cubicBezTo>
                <a:close/>
                <a:moveTo>
                  <a:pt x="85920" y="51552"/>
                </a:moveTo>
                <a:cubicBezTo>
                  <a:pt x="85920" y="32584"/>
                  <a:pt x="70520" y="17184"/>
                  <a:pt x="51552" y="17184"/>
                </a:cubicBezTo>
                <a:cubicBezTo>
                  <a:pt x="32584" y="17184"/>
                  <a:pt x="17184" y="32584"/>
                  <a:pt x="17184" y="51552"/>
                </a:cubicBezTo>
                <a:cubicBezTo>
                  <a:pt x="17184" y="70520"/>
                  <a:pt x="32584" y="85920"/>
                  <a:pt x="51552" y="85920"/>
                </a:cubicBezTo>
                <a:cubicBezTo>
                  <a:pt x="70520" y="85920"/>
                  <a:pt x="85920" y="70520"/>
                  <a:pt x="85920" y="51552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61" name="Text 59"/>
          <p:cNvSpPr/>
          <p:nvPr/>
        </p:nvSpPr>
        <p:spPr>
          <a:xfrm>
            <a:off x="4438153" y="5215323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Authentication middleware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103030" y="1082588"/>
            <a:ext cx="3746097" cy="4553742"/>
          </a:xfrm>
          <a:custGeom>
            <a:avLst/>
            <a:gdLst/>
            <a:ahLst/>
            <a:cxnLst/>
            <a:rect l="l" t="t" r="r" b="b"/>
            <a:pathLst>
              <a:path w="3746097" h="4553742">
                <a:moveTo>
                  <a:pt x="34368" y="0"/>
                </a:moveTo>
                <a:lnTo>
                  <a:pt x="3711729" y="0"/>
                </a:lnTo>
                <a:cubicBezTo>
                  <a:pt x="3730710" y="0"/>
                  <a:pt x="3746097" y="15387"/>
                  <a:pt x="3746097" y="34368"/>
                </a:cubicBezTo>
                <a:lnTo>
                  <a:pt x="3746097" y="4485001"/>
                </a:lnTo>
                <a:cubicBezTo>
                  <a:pt x="3746097" y="4522966"/>
                  <a:pt x="3715321" y="4553742"/>
                  <a:pt x="3677356" y="4553742"/>
                </a:cubicBezTo>
                <a:lnTo>
                  <a:pt x="68741" y="4553742"/>
                </a:lnTo>
                <a:cubicBezTo>
                  <a:pt x="30776" y="4553742"/>
                  <a:pt x="0" y="4522966"/>
                  <a:pt x="0" y="4485001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3" name="Shape 61"/>
          <p:cNvSpPr/>
          <p:nvPr/>
        </p:nvSpPr>
        <p:spPr>
          <a:xfrm>
            <a:off x="8103030" y="1082588"/>
            <a:ext cx="3746097" cy="34368"/>
          </a:xfrm>
          <a:custGeom>
            <a:avLst/>
            <a:gdLst/>
            <a:ahLst/>
            <a:cxnLst/>
            <a:rect l="l" t="t" r="r" b="b"/>
            <a:pathLst>
              <a:path w="3746097" h="34368">
                <a:moveTo>
                  <a:pt x="34368" y="0"/>
                </a:moveTo>
                <a:lnTo>
                  <a:pt x="3711729" y="0"/>
                </a:lnTo>
                <a:cubicBezTo>
                  <a:pt x="3730710" y="0"/>
                  <a:pt x="3746097" y="15387"/>
                  <a:pt x="3746097" y="34368"/>
                </a:cubicBezTo>
                <a:lnTo>
                  <a:pt x="3746097" y="34368"/>
                </a:lnTo>
                <a:lnTo>
                  <a:pt x="0" y="34368"/>
                </a:ln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64" name="Shape 62"/>
          <p:cNvSpPr/>
          <p:nvPr/>
        </p:nvSpPr>
        <p:spPr>
          <a:xfrm>
            <a:off x="8240501" y="1237243"/>
            <a:ext cx="412414" cy="412414"/>
          </a:xfrm>
          <a:custGeom>
            <a:avLst/>
            <a:gdLst/>
            <a:ahLst/>
            <a:cxnLst/>
            <a:rect l="l" t="t" r="r" b="b"/>
            <a:pathLst>
              <a:path w="412414" h="412414">
                <a:moveTo>
                  <a:pt x="68737" y="0"/>
                </a:moveTo>
                <a:lnTo>
                  <a:pt x="343677" y="0"/>
                </a:lnTo>
                <a:cubicBezTo>
                  <a:pt x="381614" y="0"/>
                  <a:pt x="412414" y="30800"/>
                  <a:pt x="412414" y="68737"/>
                </a:cubicBezTo>
                <a:lnTo>
                  <a:pt x="412414" y="343677"/>
                </a:lnTo>
                <a:cubicBezTo>
                  <a:pt x="412414" y="381614"/>
                  <a:pt x="381614" y="412414"/>
                  <a:pt x="343677" y="412414"/>
                </a:cubicBezTo>
                <a:lnTo>
                  <a:pt x="68737" y="412414"/>
                </a:lnTo>
                <a:cubicBezTo>
                  <a:pt x="30800" y="412414"/>
                  <a:pt x="0" y="381614"/>
                  <a:pt x="0" y="343677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65" name="Shape 63"/>
          <p:cNvSpPr/>
          <p:nvPr/>
        </p:nvSpPr>
        <p:spPr>
          <a:xfrm>
            <a:off x="8360789" y="1357531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40275" y="18795"/>
                </a:moveTo>
                <a:cubicBezTo>
                  <a:pt x="40275" y="8424"/>
                  <a:pt x="48699" y="0"/>
                  <a:pt x="59070" y="0"/>
                </a:cubicBezTo>
                <a:lnTo>
                  <a:pt x="67125" y="0"/>
                </a:lnTo>
                <a:cubicBezTo>
                  <a:pt x="73065" y="0"/>
                  <a:pt x="77865" y="4799"/>
                  <a:pt x="77865" y="10740"/>
                </a:cubicBezTo>
                <a:lnTo>
                  <a:pt x="77865" y="161099"/>
                </a:lnTo>
                <a:cubicBezTo>
                  <a:pt x="77865" y="167040"/>
                  <a:pt x="73065" y="171839"/>
                  <a:pt x="67125" y="171839"/>
                </a:cubicBezTo>
                <a:lnTo>
                  <a:pt x="56385" y="171839"/>
                </a:lnTo>
                <a:cubicBezTo>
                  <a:pt x="46383" y="171839"/>
                  <a:pt x="37959" y="164993"/>
                  <a:pt x="35576" y="155729"/>
                </a:cubicBezTo>
                <a:cubicBezTo>
                  <a:pt x="35341" y="155729"/>
                  <a:pt x="35140" y="155729"/>
                  <a:pt x="34905" y="155729"/>
                </a:cubicBezTo>
                <a:cubicBezTo>
                  <a:pt x="20070" y="155729"/>
                  <a:pt x="8055" y="143714"/>
                  <a:pt x="8055" y="128879"/>
                </a:cubicBezTo>
                <a:cubicBezTo>
                  <a:pt x="8055" y="122838"/>
                  <a:pt x="10069" y="117267"/>
                  <a:pt x="13425" y="112770"/>
                </a:cubicBezTo>
                <a:cubicBezTo>
                  <a:pt x="6914" y="107869"/>
                  <a:pt x="2685" y="100083"/>
                  <a:pt x="2685" y="91290"/>
                </a:cubicBezTo>
                <a:cubicBezTo>
                  <a:pt x="2685" y="80919"/>
                  <a:pt x="8592" y="71891"/>
                  <a:pt x="17184" y="67427"/>
                </a:cubicBezTo>
                <a:cubicBezTo>
                  <a:pt x="14801" y="63399"/>
                  <a:pt x="13425" y="58701"/>
                  <a:pt x="13425" y="53700"/>
                </a:cubicBezTo>
                <a:cubicBezTo>
                  <a:pt x="13425" y="38865"/>
                  <a:pt x="25440" y="26850"/>
                  <a:pt x="40275" y="26850"/>
                </a:cubicBezTo>
                <a:lnTo>
                  <a:pt x="40275" y="18795"/>
                </a:lnTo>
                <a:close/>
                <a:moveTo>
                  <a:pt x="131564" y="18795"/>
                </a:moveTo>
                <a:lnTo>
                  <a:pt x="131564" y="26850"/>
                </a:lnTo>
                <a:cubicBezTo>
                  <a:pt x="146399" y="26850"/>
                  <a:pt x="158414" y="38865"/>
                  <a:pt x="158414" y="53700"/>
                </a:cubicBezTo>
                <a:cubicBezTo>
                  <a:pt x="158414" y="58734"/>
                  <a:pt x="157038" y="63433"/>
                  <a:pt x="154655" y="67427"/>
                </a:cubicBezTo>
                <a:cubicBezTo>
                  <a:pt x="163281" y="71891"/>
                  <a:pt x="169154" y="80885"/>
                  <a:pt x="169154" y="91290"/>
                </a:cubicBezTo>
                <a:cubicBezTo>
                  <a:pt x="169154" y="100083"/>
                  <a:pt x="164925" y="107869"/>
                  <a:pt x="158414" y="112770"/>
                </a:cubicBezTo>
                <a:cubicBezTo>
                  <a:pt x="161771" y="117267"/>
                  <a:pt x="163784" y="122838"/>
                  <a:pt x="163784" y="128879"/>
                </a:cubicBezTo>
                <a:cubicBezTo>
                  <a:pt x="163784" y="143714"/>
                  <a:pt x="151769" y="155729"/>
                  <a:pt x="136934" y="155729"/>
                </a:cubicBezTo>
                <a:cubicBezTo>
                  <a:pt x="136700" y="155729"/>
                  <a:pt x="136498" y="155729"/>
                  <a:pt x="136263" y="155729"/>
                </a:cubicBezTo>
                <a:cubicBezTo>
                  <a:pt x="133880" y="164993"/>
                  <a:pt x="125456" y="171839"/>
                  <a:pt x="115455" y="171839"/>
                </a:cubicBezTo>
                <a:lnTo>
                  <a:pt x="104715" y="171839"/>
                </a:lnTo>
                <a:cubicBezTo>
                  <a:pt x="98774" y="171839"/>
                  <a:pt x="93975" y="167040"/>
                  <a:pt x="93975" y="161099"/>
                </a:cubicBezTo>
                <a:lnTo>
                  <a:pt x="93975" y="10740"/>
                </a:lnTo>
                <a:cubicBezTo>
                  <a:pt x="93975" y="4799"/>
                  <a:pt x="98774" y="0"/>
                  <a:pt x="104715" y="0"/>
                </a:cubicBezTo>
                <a:lnTo>
                  <a:pt x="112770" y="0"/>
                </a:lnTo>
                <a:cubicBezTo>
                  <a:pt x="123140" y="0"/>
                  <a:pt x="131564" y="8424"/>
                  <a:pt x="131564" y="1879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8756019" y="1323163"/>
            <a:ext cx="695949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Core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244797" y="1757057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17829" y="1830089"/>
            <a:ext cx="78186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Python 3.11+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1484505" y="1864457"/>
            <a:ext cx="120288" cy="137471"/>
          </a:xfrm>
          <a:custGeom>
            <a:avLst/>
            <a:gdLst/>
            <a:ahLst/>
            <a:cxnLst/>
            <a:rect l="l" t="t" r="r" b="b"/>
            <a:pathLst>
              <a:path w="120288" h="137471">
                <a:moveTo>
                  <a:pt x="118086" y="53834"/>
                </a:moveTo>
                <a:cubicBezTo>
                  <a:pt x="116018" y="45537"/>
                  <a:pt x="112098" y="39281"/>
                  <a:pt x="103748" y="39281"/>
                </a:cubicBezTo>
                <a:lnTo>
                  <a:pt x="92981" y="39281"/>
                </a:lnTo>
                <a:lnTo>
                  <a:pt x="92981" y="52008"/>
                </a:lnTo>
                <a:cubicBezTo>
                  <a:pt x="92981" y="61889"/>
                  <a:pt x="84604" y="70212"/>
                  <a:pt x="75045" y="70212"/>
                </a:cubicBezTo>
                <a:lnTo>
                  <a:pt x="46370" y="70212"/>
                </a:lnTo>
                <a:cubicBezTo>
                  <a:pt x="38530" y="70212"/>
                  <a:pt x="32032" y="76925"/>
                  <a:pt x="32032" y="84792"/>
                </a:cubicBezTo>
                <a:lnTo>
                  <a:pt x="32032" y="112125"/>
                </a:lnTo>
                <a:cubicBezTo>
                  <a:pt x="32032" y="119912"/>
                  <a:pt x="38798" y="124476"/>
                  <a:pt x="46370" y="126705"/>
                </a:cubicBezTo>
                <a:cubicBezTo>
                  <a:pt x="55445" y="129363"/>
                  <a:pt x="64171" y="129846"/>
                  <a:pt x="75045" y="126705"/>
                </a:cubicBezTo>
                <a:cubicBezTo>
                  <a:pt x="82268" y="124610"/>
                  <a:pt x="89383" y="120395"/>
                  <a:pt x="89383" y="112125"/>
                </a:cubicBezTo>
                <a:lnTo>
                  <a:pt x="89383" y="101197"/>
                </a:lnTo>
                <a:lnTo>
                  <a:pt x="60734" y="101197"/>
                </a:lnTo>
                <a:lnTo>
                  <a:pt x="60734" y="97546"/>
                </a:lnTo>
                <a:lnTo>
                  <a:pt x="103748" y="97546"/>
                </a:lnTo>
                <a:cubicBezTo>
                  <a:pt x="112098" y="97546"/>
                  <a:pt x="115186" y="91719"/>
                  <a:pt x="118086" y="82993"/>
                </a:cubicBezTo>
                <a:cubicBezTo>
                  <a:pt x="121093" y="73998"/>
                  <a:pt x="120959" y="65353"/>
                  <a:pt x="118086" y="53834"/>
                </a:cubicBezTo>
                <a:close/>
                <a:moveTo>
                  <a:pt x="76844" y="119401"/>
                </a:moveTo>
                <a:cubicBezTo>
                  <a:pt x="74801" y="119545"/>
                  <a:pt x="72848" y="118536"/>
                  <a:pt x="71783" y="116786"/>
                </a:cubicBezTo>
                <a:cubicBezTo>
                  <a:pt x="70717" y="115037"/>
                  <a:pt x="70717" y="112839"/>
                  <a:pt x="71783" y="111089"/>
                </a:cubicBezTo>
                <a:cubicBezTo>
                  <a:pt x="72848" y="109339"/>
                  <a:pt x="74801" y="108330"/>
                  <a:pt x="76844" y="108474"/>
                </a:cubicBezTo>
                <a:cubicBezTo>
                  <a:pt x="78888" y="108330"/>
                  <a:pt x="80841" y="109339"/>
                  <a:pt x="81906" y="111089"/>
                </a:cubicBezTo>
                <a:cubicBezTo>
                  <a:pt x="82971" y="112839"/>
                  <a:pt x="82971" y="115037"/>
                  <a:pt x="81906" y="116786"/>
                </a:cubicBezTo>
                <a:cubicBezTo>
                  <a:pt x="80841" y="118536"/>
                  <a:pt x="78888" y="119545"/>
                  <a:pt x="76844" y="119401"/>
                </a:cubicBezTo>
                <a:close/>
                <a:moveTo>
                  <a:pt x="45054" y="66615"/>
                </a:moveTo>
                <a:lnTo>
                  <a:pt x="73730" y="66615"/>
                </a:lnTo>
                <a:cubicBezTo>
                  <a:pt x="81704" y="66615"/>
                  <a:pt x="88068" y="60036"/>
                  <a:pt x="88068" y="52035"/>
                </a:cubicBezTo>
                <a:lnTo>
                  <a:pt x="88068" y="24675"/>
                </a:lnTo>
                <a:cubicBezTo>
                  <a:pt x="88068" y="16889"/>
                  <a:pt x="81516" y="11062"/>
                  <a:pt x="73730" y="9747"/>
                </a:cubicBezTo>
                <a:cubicBezTo>
                  <a:pt x="64118" y="8162"/>
                  <a:pt x="53673" y="8243"/>
                  <a:pt x="45054" y="9773"/>
                </a:cubicBezTo>
                <a:cubicBezTo>
                  <a:pt x="32918" y="11921"/>
                  <a:pt x="30716" y="16405"/>
                  <a:pt x="30716" y="24702"/>
                </a:cubicBezTo>
                <a:lnTo>
                  <a:pt x="30716" y="35630"/>
                </a:lnTo>
                <a:lnTo>
                  <a:pt x="59419" y="35630"/>
                </a:lnTo>
                <a:lnTo>
                  <a:pt x="59419" y="39281"/>
                </a:lnTo>
                <a:lnTo>
                  <a:pt x="19949" y="39281"/>
                </a:lnTo>
                <a:cubicBezTo>
                  <a:pt x="11599" y="39281"/>
                  <a:pt x="4296" y="44302"/>
                  <a:pt x="2014" y="53834"/>
                </a:cubicBezTo>
                <a:cubicBezTo>
                  <a:pt x="-618" y="64762"/>
                  <a:pt x="-725" y="71582"/>
                  <a:pt x="2014" y="82993"/>
                </a:cubicBezTo>
                <a:cubicBezTo>
                  <a:pt x="4054" y="91478"/>
                  <a:pt x="8914" y="97546"/>
                  <a:pt x="17264" y="97546"/>
                </a:cubicBezTo>
                <a:lnTo>
                  <a:pt x="27118" y="97546"/>
                </a:lnTo>
                <a:lnTo>
                  <a:pt x="27118" y="84443"/>
                </a:lnTo>
                <a:cubicBezTo>
                  <a:pt x="27118" y="74965"/>
                  <a:pt x="35308" y="66615"/>
                  <a:pt x="45054" y="66615"/>
                </a:cubicBezTo>
                <a:close/>
                <a:moveTo>
                  <a:pt x="43282" y="17372"/>
                </a:moveTo>
                <a:cubicBezTo>
                  <a:pt x="46305" y="17372"/>
                  <a:pt x="48759" y="19826"/>
                  <a:pt x="48759" y="22849"/>
                </a:cubicBezTo>
                <a:cubicBezTo>
                  <a:pt x="48759" y="25872"/>
                  <a:pt x="46305" y="28327"/>
                  <a:pt x="43282" y="28327"/>
                </a:cubicBezTo>
                <a:cubicBezTo>
                  <a:pt x="40259" y="28327"/>
                  <a:pt x="37805" y="25872"/>
                  <a:pt x="37805" y="22849"/>
                </a:cubicBezTo>
                <a:cubicBezTo>
                  <a:pt x="37805" y="19826"/>
                  <a:pt x="40259" y="17372"/>
                  <a:pt x="43282" y="17372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70" name="Text 68"/>
          <p:cNvSpPr/>
          <p:nvPr/>
        </p:nvSpPr>
        <p:spPr>
          <a:xfrm>
            <a:off x="8317829" y="2036296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AI/ML runtime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244797" y="2392863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317829" y="2465894"/>
            <a:ext cx="541294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FastAPI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1484505" y="2500262"/>
            <a:ext cx="120288" cy="137471"/>
          </a:xfrm>
          <a:custGeom>
            <a:avLst/>
            <a:gdLst/>
            <a:ahLst/>
            <a:cxnLst/>
            <a:rect l="l" t="t" r="r" b="b"/>
            <a:pathLst>
              <a:path w="120288" h="137471">
                <a:moveTo>
                  <a:pt x="90967" y="-2658"/>
                </a:moveTo>
                <a:cubicBezTo>
                  <a:pt x="94163" y="-349"/>
                  <a:pt x="95344" y="3840"/>
                  <a:pt x="93894" y="7491"/>
                </a:cubicBezTo>
                <a:lnTo>
                  <a:pt x="72844" y="60144"/>
                </a:lnTo>
                <a:lnTo>
                  <a:pt x="111696" y="60144"/>
                </a:lnTo>
                <a:cubicBezTo>
                  <a:pt x="115320" y="60144"/>
                  <a:pt x="118542" y="62399"/>
                  <a:pt x="119777" y="65809"/>
                </a:cubicBezTo>
                <a:cubicBezTo>
                  <a:pt x="121012" y="69219"/>
                  <a:pt x="119965" y="73032"/>
                  <a:pt x="117200" y="75341"/>
                </a:cubicBezTo>
                <a:lnTo>
                  <a:pt x="39872" y="139781"/>
                </a:lnTo>
                <a:cubicBezTo>
                  <a:pt x="36838" y="142304"/>
                  <a:pt x="32515" y="142439"/>
                  <a:pt x="29320" y="140130"/>
                </a:cubicBezTo>
                <a:cubicBezTo>
                  <a:pt x="26125" y="137821"/>
                  <a:pt x="24944" y="133632"/>
                  <a:pt x="26393" y="129980"/>
                </a:cubicBezTo>
                <a:lnTo>
                  <a:pt x="47444" y="77328"/>
                </a:lnTo>
                <a:lnTo>
                  <a:pt x="8592" y="77328"/>
                </a:lnTo>
                <a:cubicBezTo>
                  <a:pt x="4967" y="77328"/>
                  <a:pt x="1745" y="75072"/>
                  <a:pt x="510" y="71662"/>
                </a:cubicBezTo>
                <a:cubicBezTo>
                  <a:pt x="-725" y="68252"/>
                  <a:pt x="322" y="64440"/>
                  <a:pt x="3088" y="62131"/>
                </a:cubicBezTo>
                <a:lnTo>
                  <a:pt x="80415" y="-2309"/>
                </a:lnTo>
                <a:cubicBezTo>
                  <a:pt x="83449" y="-4833"/>
                  <a:pt x="87772" y="-4967"/>
                  <a:pt x="90967" y="-2658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74" name="Text 72"/>
          <p:cNvSpPr/>
          <p:nvPr/>
        </p:nvSpPr>
        <p:spPr>
          <a:xfrm>
            <a:off x="8317829" y="2672101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High-performance API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44797" y="3028668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317829" y="3101700"/>
            <a:ext cx="74750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11475913" y="3136068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0" y="21480"/>
                </a:moveTo>
                <a:cubicBezTo>
                  <a:pt x="0" y="14365"/>
                  <a:pt x="5773" y="8592"/>
                  <a:pt x="12888" y="8592"/>
                </a:cubicBezTo>
                <a:lnTo>
                  <a:pt x="38664" y="8592"/>
                </a:lnTo>
                <a:cubicBezTo>
                  <a:pt x="45779" y="8592"/>
                  <a:pt x="51552" y="14365"/>
                  <a:pt x="51552" y="21480"/>
                </a:cubicBezTo>
                <a:lnTo>
                  <a:pt x="51552" y="25776"/>
                </a:lnTo>
                <a:lnTo>
                  <a:pt x="85920" y="25776"/>
                </a:lnTo>
                <a:lnTo>
                  <a:pt x="85920" y="21480"/>
                </a:lnTo>
                <a:cubicBezTo>
                  <a:pt x="85920" y="14365"/>
                  <a:pt x="91692" y="8592"/>
                  <a:pt x="98808" y="8592"/>
                </a:cubicBezTo>
                <a:lnTo>
                  <a:pt x="124584" y="8592"/>
                </a:lnTo>
                <a:cubicBezTo>
                  <a:pt x="131699" y="8592"/>
                  <a:pt x="137471" y="14365"/>
                  <a:pt x="137471" y="21480"/>
                </a:cubicBezTo>
                <a:lnTo>
                  <a:pt x="137471" y="47256"/>
                </a:lnTo>
                <a:cubicBezTo>
                  <a:pt x="137471" y="54371"/>
                  <a:pt x="131699" y="60144"/>
                  <a:pt x="124584" y="60144"/>
                </a:cubicBezTo>
                <a:lnTo>
                  <a:pt x="98808" y="60144"/>
                </a:lnTo>
                <a:cubicBezTo>
                  <a:pt x="91692" y="60144"/>
                  <a:pt x="85920" y="54371"/>
                  <a:pt x="85920" y="47256"/>
                </a:cubicBezTo>
                <a:lnTo>
                  <a:pt x="85920" y="42960"/>
                </a:lnTo>
                <a:lnTo>
                  <a:pt x="51552" y="42960"/>
                </a:lnTo>
                <a:lnTo>
                  <a:pt x="51552" y="47256"/>
                </a:lnTo>
                <a:cubicBezTo>
                  <a:pt x="51552" y="49216"/>
                  <a:pt x="51095" y="51095"/>
                  <a:pt x="50317" y="52760"/>
                </a:cubicBezTo>
                <a:lnTo>
                  <a:pt x="68736" y="77328"/>
                </a:lnTo>
                <a:lnTo>
                  <a:pt x="90216" y="77328"/>
                </a:lnTo>
                <a:cubicBezTo>
                  <a:pt x="97331" y="77328"/>
                  <a:pt x="103104" y="83100"/>
                  <a:pt x="103104" y="90216"/>
                </a:cubicBezTo>
                <a:lnTo>
                  <a:pt x="103104" y="115992"/>
                </a:lnTo>
                <a:cubicBezTo>
                  <a:pt x="103104" y="123107"/>
                  <a:pt x="97331" y="128879"/>
                  <a:pt x="90216" y="128879"/>
                </a:cubicBezTo>
                <a:lnTo>
                  <a:pt x="64440" y="128879"/>
                </a:lnTo>
                <a:cubicBezTo>
                  <a:pt x="57325" y="128879"/>
                  <a:pt x="51552" y="123107"/>
                  <a:pt x="51552" y="115992"/>
                </a:cubicBezTo>
                <a:lnTo>
                  <a:pt x="51552" y="90216"/>
                </a:lnTo>
                <a:cubicBezTo>
                  <a:pt x="51552" y="88256"/>
                  <a:pt x="52008" y="86376"/>
                  <a:pt x="52787" y="84711"/>
                </a:cubicBezTo>
                <a:lnTo>
                  <a:pt x="34368" y="60144"/>
                </a:lnTo>
                <a:lnTo>
                  <a:pt x="12888" y="60144"/>
                </a:lnTo>
                <a:cubicBezTo>
                  <a:pt x="5773" y="60144"/>
                  <a:pt x="0" y="54371"/>
                  <a:pt x="0" y="47256"/>
                </a:cubicBezTo>
                <a:lnTo>
                  <a:pt x="0" y="21480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78" name="Text 76"/>
          <p:cNvSpPr/>
          <p:nvPr/>
        </p:nvSpPr>
        <p:spPr>
          <a:xfrm>
            <a:off x="8317829" y="3307907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Agent orchestration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244797" y="3664474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317829" y="3737505"/>
            <a:ext cx="584254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Pydantic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11475913" y="3771873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68736" y="137471"/>
                </a:moveTo>
                <a:cubicBezTo>
                  <a:pt x="106672" y="137471"/>
                  <a:pt x="137471" y="106672"/>
                  <a:pt x="137471" y="68736"/>
                </a:cubicBezTo>
                <a:cubicBezTo>
                  <a:pt x="137471" y="30799"/>
                  <a:pt x="106672" y="0"/>
                  <a:pt x="68736" y="0"/>
                </a:cubicBezTo>
                <a:cubicBezTo>
                  <a:pt x="30799" y="0"/>
                  <a:pt x="0" y="30799"/>
                  <a:pt x="0" y="68736"/>
                </a:cubicBezTo>
                <a:cubicBezTo>
                  <a:pt x="0" y="106672"/>
                  <a:pt x="30799" y="137471"/>
                  <a:pt x="68736" y="137471"/>
                </a:cubicBezTo>
                <a:close/>
                <a:moveTo>
                  <a:pt x="91397" y="57110"/>
                </a:moveTo>
                <a:lnTo>
                  <a:pt x="69917" y="91478"/>
                </a:lnTo>
                <a:cubicBezTo>
                  <a:pt x="68789" y="93277"/>
                  <a:pt x="66856" y="94404"/>
                  <a:pt x="64735" y="94512"/>
                </a:cubicBezTo>
                <a:cubicBezTo>
                  <a:pt x="62614" y="94619"/>
                  <a:pt x="60573" y="93652"/>
                  <a:pt x="59311" y="91934"/>
                </a:cubicBezTo>
                <a:lnTo>
                  <a:pt x="46423" y="74750"/>
                </a:lnTo>
                <a:cubicBezTo>
                  <a:pt x="44275" y="71904"/>
                  <a:pt x="44866" y="67877"/>
                  <a:pt x="47712" y="65729"/>
                </a:cubicBezTo>
                <a:cubicBezTo>
                  <a:pt x="50558" y="63581"/>
                  <a:pt x="54586" y="64171"/>
                  <a:pt x="56734" y="67017"/>
                </a:cubicBezTo>
                <a:lnTo>
                  <a:pt x="63983" y="76683"/>
                </a:lnTo>
                <a:lnTo>
                  <a:pt x="80469" y="50290"/>
                </a:lnTo>
                <a:cubicBezTo>
                  <a:pt x="82349" y="47283"/>
                  <a:pt x="86322" y="46343"/>
                  <a:pt x="89356" y="48249"/>
                </a:cubicBezTo>
                <a:cubicBezTo>
                  <a:pt x="92390" y="50156"/>
                  <a:pt x="93303" y="54103"/>
                  <a:pt x="91397" y="57137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82" name="Text 80"/>
          <p:cNvSpPr/>
          <p:nvPr/>
        </p:nvSpPr>
        <p:spPr>
          <a:xfrm>
            <a:off x="8317829" y="3943712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validation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8244797" y="4300279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317829" y="4373311"/>
            <a:ext cx="79046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PaddleOCR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11467321" y="4407679"/>
            <a:ext cx="154655" cy="137471"/>
          </a:xfrm>
          <a:custGeom>
            <a:avLst/>
            <a:gdLst/>
            <a:ahLst/>
            <a:cxnLst/>
            <a:rect l="l" t="t" r="r" b="b"/>
            <a:pathLst>
              <a:path w="154655" h="137471">
                <a:moveTo>
                  <a:pt x="77328" y="8592"/>
                </a:moveTo>
                <a:cubicBezTo>
                  <a:pt x="55633" y="8592"/>
                  <a:pt x="38261" y="18473"/>
                  <a:pt x="25615" y="30233"/>
                </a:cubicBezTo>
                <a:cubicBezTo>
                  <a:pt x="13049" y="41913"/>
                  <a:pt x="4645" y="55848"/>
                  <a:pt x="644" y="65433"/>
                </a:cubicBezTo>
                <a:cubicBezTo>
                  <a:pt x="-242" y="67554"/>
                  <a:pt x="-242" y="69917"/>
                  <a:pt x="644" y="72038"/>
                </a:cubicBezTo>
                <a:cubicBezTo>
                  <a:pt x="4645" y="81624"/>
                  <a:pt x="13049" y="95586"/>
                  <a:pt x="25615" y="107238"/>
                </a:cubicBezTo>
                <a:cubicBezTo>
                  <a:pt x="38261" y="118972"/>
                  <a:pt x="55633" y="128879"/>
                  <a:pt x="77328" y="128879"/>
                </a:cubicBezTo>
                <a:cubicBezTo>
                  <a:pt x="99022" y="128879"/>
                  <a:pt x="116394" y="118999"/>
                  <a:pt x="129041" y="107238"/>
                </a:cubicBezTo>
                <a:cubicBezTo>
                  <a:pt x="141606" y="95559"/>
                  <a:pt x="150010" y="81624"/>
                  <a:pt x="154011" y="72038"/>
                </a:cubicBezTo>
                <a:cubicBezTo>
                  <a:pt x="154897" y="69917"/>
                  <a:pt x="154897" y="67554"/>
                  <a:pt x="154011" y="65433"/>
                </a:cubicBezTo>
                <a:cubicBezTo>
                  <a:pt x="150010" y="55848"/>
                  <a:pt x="141606" y="41886"/>
                  <a:pt x="129041" y="30233"/>
                </a:cubicBezTo>
                <a:cubicBezTo>
                  <a:pt x="116394" y="18500"/>
                  <a:pt x="99022" y="8592"/>
                  <a:pt x="77328" y="8592"/>
                </a:cubicBezTo>
                <a:close/>
                <a:moveTo>
                  <a:pt x="38664" y="68736"/>
                </a:moveTo>
                <a:cubicBezTo>
                  <a:pt x="38664" y="47397"/>
                  <a:pt x="55989" y="30072"/>
                  <a:pt x="77328" y="30072"/>
                </a:cubicBezTo>
                <a:cubicBezTo>
                  <a:pt x="98667" y="30072"/>
                  <a:pt x="115992" y="47397"/>
                  <a:pt x="115992" y="68736"/>
                </a:cubicBezTo>
                <a:cubicBezTo>
                  <a:pt x="115992" y="90075"/>
                  <a:pt x="98667" y="107400"/>
                  <a:pt x="77328" y="107400"/>
                </a:cubicBezTo>
                <a:cubicBezTo>
                  <a:pt x="55989" y="107400"/>
                  <a:pt x="38664" y="90075"/>
                  <a:pt x="38664" y="68736"/>
                </a:cubicBezTo>
                <a:close/>
                <a:moveTo>
                  <a:pt x="77328" y="51552"/>
                </a:moveTo>
                <a:cubicBezTo>
                  <a:pt x="77328" y="61030"/>
                  <a:pt x="69622" y="68736"/>
                  <a:pt x="60144" y="68736"/>
                </a:cubicBezTo>
                <a:cubicBezTo>
                  <a:pt x="57056" y="68736"/>
                  <a:pt x="54156" y="67930"/>
                  <a:pt x="51632" y="66480"/>
                </a:cubicBezTo>
                <a:cubicBezTo>
                  <a:pt x="51364" y="69407"/>
                  <a:pt x="51605" y="72414"/>
                  <a:pt x="52411" y="75395"/>
                </a:cubicBezTo>
                <a:cubicBezTo>
                  <a:pt x="56089" y="89142"/>
                  <a:pt x="70239" y="97304"/>
                  <a:pt x="83986" y="93626"/>
                </a:cubicBezTo>
                <a:cubicBezTo>
                  <a:pt x="97734" y="89947"/>
                  <a:pt x="105896" y="75797"/>
                  <a:pt x="102218" y="62050"/>
                </a:cubicBezTo>
                <a:cubicBezTo>
                  <a:pt x="98942" y="49780"/>
                  <a:pt x="87316" y="41966"/>
                  <a:pt x="75072" y="43040"/>
                </a:cubicBezTo>
                <a:cubicBezTo>
                  <a:pt x="76495" y="45537"/>
                  <a:pt x="77328" y="48437"/>
                  <a:pt x="77328" y="51552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86" name="Text 84"/>
          <p:cNvSpPr/>
          <p:nvPr/>
        </p:nvSpPr>
        <p:spPr>
          <a:xfrm>
            <a:off x="8317829" y="4579518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Vision &amp; OCR pipeline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244797" y="4936085"/>
            <a:ext cx="3462562" cy="558478"/>
          </a:xfrm>
          <a:custGeom>
            <a:avLst/>
            <a:gdLst/>
            <a:ahLst/>
            <a:cxnLst/>
            <a:rect l="l" t="t" r="r" b="b"/>
            <a:pathLst>
              <a:path w="3462562" h="558478">
                <a:moveTo>
                  <a:pt x="34369" y="0"/>
                </a:moveTo>
                <a:lnTo>
                  <a:pt x="3428194" y="0"/>
                </a:lnTo>
                <a:cubicBezTo>
                  <a:pt x="3447175" y="0"/>
                  <a:pt x="3462562" y="15387"/>
                  <a:pt x="3462562" y="34369"/>
                </a:cubicBezTo>
                <a:lnTo>
                  <a:pt x="3462562" y="524109"/>
                </a:lnTo>
                <a:cubicBezTo>
                  <a:pt x="3462562" y="543090"/>
                  <a:pt x="3447175" y="558478"/>
                  <a:pt x="3428194" y="558478"/>
                </a:cubicBezTo>
                <a:lnTo>
                  <a:pt x="34369" y="558478"/>
                </a:lnTo>
                <a:cubicBezTo>
                  <a:pt x="15387" y="558478"/>
                  <a:pt x="0" y="543090"/>
                  <a:pt x="0" y="524109"/>
                </a:cubicBezTo>
                <a:lnTo>
                  <a:pt x="0" y="34369"/>
                </a:lnTo>
                <a:cubicBezTo>
                  <a:pt x="0" y="15387"/>
                  <a:pt x="15387" y="0"/>
                  <a:pt x="3436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317829" y="5009116"/>
            <a:ext cx="498334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SQLite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11475913" y="5043484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17184" y="17184"/>
                </a:moveTo>
                <a:cubicBezTo>
                  <a:pt x="7706" y="17184"/>
                  <a:pt x="0" y="24890"/>
                  <a:pt x="0" y="34368"/>
                </a:cubicBezTo>
                <a:lnTo>
                  <a:pt x="0" y="36355"/>
                </a:lnTo>
                <a:cubicBezTo>
                  <a:pt x="0" y="38181"/>
                  <a:pt x="1181" y="39738"/>
                  <a:pt x="2712" y="40731"/>
                </a:cubicBezTo>
                <a:cubicBezTo>
                  <a:pt x="6256" y="43040"/>
                  <a:pt x="8592" y="47014"/>
                  <a:pt x="8592" y="51552"/>
                </a:cubicBezTo>
                <a:cubicBezTo>
                  <a:pt x="8592" y="56089"/>
                  <a:pt x="6256" y="60063"/>
                  <a:pt x="2712" y="62372"/>
                </a:cubicBezTo>
                <a:cubicBezTo>
                  <a:pt x="1181" y="63366"/>
                  <a:pt x="0" y="64923"/>
                  <a:pt x="0" y="66749"/>
                </a:cubicBezTo>
                <a:lnTo>
                  <a:pt x="0" y="81624"/>
                </a:lnTo>
                <a:lnTo>
                  <a:pt x="137471" y="81624"/>
                </a:lnTo>
                <a:lnTo>
                  <a:pt x="137471" y="66749"/>
                </a:lnTo>
                <a:cubicBezTo>
                  <a:pt x="137471" y="64923"/>
                  <a:pt x="136290" y="63366"/>
                  <a:pt x="134760" y="62372"/>
                </a:cubicBezTo>
                <a:cubicBezTo>
                  <a:pt x="131215" y="60063"/>
                  <a:pt x="128879" y="56089"/>
                  <a:pt x="128879" y="51552"/>
                </a:cubicBezTo>
                <a:cubicBezTo>
                  <a:pt x="128879" y="47014"/>
                  <a:pt x="131215" y="43040"/>
                  <a:pt x="134760" y="40731"/>
                </a:cubicBezTo>
                <a:cubicBezTo>
                  <a:pt x="136290" y="39738"/>
                  <a:pt x="137471" y="38181"/>
                  <a:pt x="137471" y="36355"/>
                </a:cubicBezTo>
                <a:lnTo>
                  <a:pt x="137471" y="34368"/>
                </a:lnTo>
                <a:cubicBezTo>
                  <a:pt x="137471" y="24890"/>
                  <a:pt x="129766" y="17184"/>
                  <a:pt x="120288" y="17184"/>
                </a:cubicBezTo>
                <a:lnTo>
                  <a:pt x="17184" y="17184"/>
                </a:lnTo>
                <a:close/>
                <a:moveTo>
                  <a:pt x="137471" y="111696"/>
                </a:moveTo>
                <a:lnTo>
                  <a:pt x="137471" y="94512"/>
                </a:lnTo>
                <a:lnTo>
                  <a:pt x="0" y="94512"/>
                </a:lnTo>
                <a:lnTo>
                  <a:pt x="0" y="111696"/>
                </a:lnTo>
                <a:cubicBezTo>
                  <a:pt x="0" y="116448"/>
                  <a:pt x="3840" y="120288"/>
                  <a:pt x="8592" y="120288"/>
                </a:cubicBezTo>
                <a:lnTo>
                  <a:pt x="25776" y="120288"/>
                </a:lnTo>
                <a:lnTo>
                  <a:pt x="25776" y="113844"/>
                </a:lnTo>
                <a:cubicBezTo>
                  <a:pt x="25776" y="110273"/>
                  <a:pt x="28649" y="107400"/>
                  <a:pt x="32220" y="107400"/>
                </a:cubicBezTo>
                <a:cubicBezTo>
                  <a:pt x="35791" y="107400"/>
                  <a:pt x="38664" y="110273"/>
                  <a:pt x="38664" y="113844"/>
                </a:cubicBezTo>
                <a:lnTo>
                  <a:pt x="38664" y="120288"/>
                </a:lnTo>
                <a:lnTo>
                  <a:pt x="62292" y="120288"/>
                </a:lnTo>
                <a:lnTo>
                  <a:pt x="62292" y="113844"/>
                </a:lnTo>
                <a:cubicBezTo>
                  <a:pt x="62292" y="110273"/>
                  <a:pt x="65165" y="107400"/>
                  <a:pt x="68736" y="107400"/>
                </a:cubicBezTo>
                <a:cubicBezTo>
                  <a:pt x="72307" y="107400"/>
                  <a:pt x="75180" y="110273"/>
                  <a:pt x="75180" y="113844"/>
                </a:cubicBezTo>
                <a:lnTo>
                  <a:pt x="75180" y="120288"/>
                </a:lnTo>
                <a:lnTo>
                  <a:pt x="98808" y="120288"/>
                </a:lnTo>
                <a:lnTo>
                  <a:pt x="98808" y="113844"/>
                </a:lnTo>
                <a:cubicBezTo>
                  <a:pt x="98808" y="110273"/>
                  <a:pt x="101681" y="107400"/>
                  <a:pt x="105252" y="107400"/>
                </a:cubicBezTo>
                <a:cubicBezTo>
                  <a:pt x="108823" y="107400"/>
                  <a:pt x="111696" y="110273"/>
                  <a:pt x="111696" y="113844"/>
                </a:cubicBezTo>
                <a:lnTo>
                  <a:pt x="111696" y="120288"/>
                </a:lnTo>
                <a:lnTo>
                  <a:pt x="128879" y="120288"/>
                </a:lnTo>
                <a:cubicBezTo>
                  <a:pt x="133632" y="120288"/>
                  <a:pt x="137471" y="116448"/>
                  <a:pt x="137471" y="111696"/>
                </a:cubicBezTo>
                <a:close/>
                <a:moveTo>
                  <a:pt x="42960" y="42960"/>
                </a:moveTo>
                <a:lnTo>
                  <a:pt x="42960" y="60144"/>
                </a:lnTo>
                <a:cubicBezTo>
                  <a:pt x="42960" y="64896"/>
                  <a:pt x="39120" y="68736"/>
                  <a:pt x="34368" y="68736"/>
                </a:cubicBezTo>
                <a:cubicBezTo>
                  <a:pt x="29615" y="68736"/>
                  <a:pt x="25776" y="64896"/>
                  <a:pt x="25776" y="60144"/>
                </a:cubicBezTo>
                <a:lnTo>
                  <a:pt x="25776" y="42960"/>
                </a:lnTo>
                <a:cubicBezTo>
                  <a:pt x="25776" y="38207"/>
                  <a:pt x="29615" y="34368"/>
                  <a:pt x="34368" y="34368"/>
                </a:cubicBezTo>
                <a:cubicBezTo>
                  <a:pt x="39120" y="34368"/>
                  <a:pt x="42960" y="38207"/>
                  <a:pt x="42960" y="42960"/>
                </a:cubicBezTo>
                <a:close/>
                <a:moveTo>
                  <a:pt x="77328" y="42960"/>
                </a:moveTo>
                <a:lnTo>
                  <a:pt x="77328" y="60144"/>
                </a:lnTo>
                <a:cubicBezTo>
                  <a:pt x="77328" y="64896"/>
                  <a:pt x="73488" y="68736"/>
                  <a:pt x="68736" y="68736"/>
                </a:cubicBezTo>
                <a:cubicBezTo>
                  <a:pt x="63983" y="68736"/>
                  <a:pt x="60144" y="64896"/>
                  <a:pt x="60144" y="60144"/>
                </a:cubicBezTo>
                <a:lnTo>
                  <a:pt x="60144" y="42960"/>
                </a:lnTo>
                <a:cubicBezTo>
                  <a:pt x="60144" y="38207"/>
                  <a:pt x="63983" y="34368"/>
                  <a:pt x="68736" y="34368"/>
                </a:cubicBezTo>
                <a:cubicBezTo>
                  <a:pt x="73488" y="34368"/>
                  <a:pt x="77328" y="38207"/>
                  <a:pt x="77328" y="42960"/>
                </a:cubicBezTo>
                <a:close/>
                <a:moveTo>
                  <a:pt x="111696" y="42960"/>
                </a:moveTo>
                <a:lnTo>
                  <a:pt x="111696" y="60144"/>
                </a:lnTo>
                <a:cubicBezTo>
                  <a:pt x="111696" y="64896"/>
                  <a:pt x="107856" y="68736"/>
                  <a:pt x="103104" y="68736"/>
                </a:cubicBezTo>
                <a:cubicBezTo>
                  <a:pt x="98351" y="68736"/>
                  <a:pt x="94512" y="64896"/>
                  <a:pt x="94512" y="60144"/>
                </a:cubicBezTo>
                <a:lnTo>
                  <a:pt x="94512" y="42960"/>
                </a:lnTo>
                <a:cubicBezTo>
                  <a:pt x="94512" y="38207"/>
                  <a:pt x="98351" y="34368"/>
                  <a:pt x="103104" y="34368"/>
                </a:cubicBezTo>
                <a:cubicBezTo>
                  <a:pt x="107856" y="34368"/>
                  <a:pt x="111696" y="38207"/>
                  <a:pt x="111696" y="4296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90" name="Text 88"/>
          <p:cNvSpPr/>
          <p:nvPr/>
        </p:nvSpPr>
        <p:spPr>
          <a:xfrm>
            <a:off x="8317829" y="5215323"/>
            <a:ext cx="3385235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AI memory storage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347975" y="5778097"/>
            <a:ext cx="2792389" cy="730317"/>
          </a:xfrm>
          <a:custGeom>
            <a:avLst/>
            <a:gdLst/>
            <a:ahLst/>
            <a:cxnLst/>
            <a:rect l="l" t="t" r="r" b="b"/>
            <a:pathLst>
              <a:path w="2792389" h="730317">
                <a:moveTo>
                  <a:pt x="68737" y="0"/>
                </a:moveTo>
                <a:lnTo>
                  <a:pt x="2723652" y="0"/>
                </a:lnTo>
                <a:cubicBezTo>
                  <a:pt x="2761614" y="0"/>
                  <a:pt x="2792389" y="30775"/>
                  <a:pt x="2792389" y="68737"/>
                </a:cubicBezTo>
                <a:lnTo>
                  <a:pt x="2792389" y="661580"/>
                </a:lnTo>
                <a:cubicBezTo>
                  <a:pt x="2792389" y="699542"/>
                  <a:pt x="2761614" y="730317"/>
                  <a:pt x="2723652" y="730317"/>
                </a:cubicBezTo>
                <a:lnTo>
                  <a:pt x="68737" y="730317"/>
                </a:lnTo>
                <a:cubicBezTo>
                  <a:pt x="30775" y="730317"/>
                  <a:pt x="0" y="699542"/>
                  <a:pt x="0" y="661580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03822" y="5885497"/>
            <a:ext cx="2680693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4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40+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421006" y="6194808"/>
            <a:ext cx="2646326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Frontend Dependencies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3249106" y="5778097"/>
            <a:ext cx="2792389" cy="730317"/>
          </a:xfrm>
          <a:custGeom>
            <a:avLst/>
            <a:gdLst/>
            <a:ahLst/>
            <a:cxnLst/>
            <a:rect l="l" t="t" r="r" b="b"/>
            <a:pathLst>
              <a:path w="2792389" h="730317">
                <a:moveTo>
                  <a:pt x="68737" y="0"/>
                </a:moveTo>
                <a:lnTo>
                  <a:pt x="2723652" y="0"/>
                </a:lnTo>
                <a:cubicBezTo>
                  <a:pt x="2761614" y="0"/>
                  <a:pt x="2792389" y="30775"/>
                  <a:pt x="2792389" y="68737"/>
                </a:cubicBezTo>
                <a:lnTo>
                  <a:pt x="2792389" y="661580"/>
                </a:lnTo>
                <a:cubicBezTo>
                  <a:pt x="2792389" y="699542"/>
                  <a:pt x="2761614" y="730317"/>
                  <a:pt x="2723652" y="730317"/>
                </a:cubicBezTo>
                <a:lnTo>
                  <a:pt x="68737" y="730317"/>
                </a:lnTo>
                <a:cubicBezTo>
                  <a:pt x="30775" y="730317"/>
                  <a:pt x="0" y="699542"/>
                  <a:pt x="0" y="661580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1F2937">
              <a:alpha val="10196"/>
            </a:srgbClr>
          </a:solidFill>
          <a:ln w="12700">
            <a:solidFill>
              <a:srgbClr val="1F2937">
                <a:alpha val="30196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04953" y="5885497"/>
            <a:ext cx="2680693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4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46</a:t>
            </a:r>
            <a:endParaRPr lang="en-US" sz="1600" dirty="0"/>
          </a:p>
        </p:txBody>
      </p:sp>
      <p:sp>
        <p:nvSpPr>
          <p:cNvPr id="96" name="Text 94"/>
          <p:cNvSpPr/>
          <p:nvPr/>
        </p:nvSpPr>
        <p:spPr>
          <a:xfrm>
            <a:off x="3322137" y="6194808"/>
            <a:ext cx="2646326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Backend Dependencies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6150371" y="5778097"/>
            <a:ext cx="2792389" cy="730317"/>
          </a:xfrm>
          <a:custGeom>
            <a:avLst/>
            <a:gdLst/>
            <a:ahLst/>
            <a:cxnLst/>
            <a:rect l="l" t="t" r="r" b="b"/>
            <a:pathLst>
              <a:path w="2792389" h="730317">
                <a:moveTo>
                  <a:pt x="68737" y="0"/>
                </a:moveTo>
                <a:lnTo>
                  <a:pt x="2723652" y="0"/>
                </a:lnTo>
                <a:cubicBezTo>
                  <a:pt x="2761614" y="0"/>
                  <a:pt x="2792389" y="30775"/>
                  <a:pt x="2792389" y="68737"/>
                </a:cubicBezTo>
                <a:lnTo>
                  <a:pt x="2792389" y="661580"/>
                </a:lnTo>
                <a:cubicBezTo>
                  <a:pt x="2792389" y="699542"/>
                  <a:pt x="2761614" y="730317"/>
                  <a:pt x="2723652" y="730317"/>
                </a:cubicBezTo>
                <a:lnTo>
                  <a:pt x="68737" y="730317"/>
                </a:lnTo>
                <a:cubicBezTo>
                  <a:pt x="30775" y="730317"/>
                  <a:pt x="0" y="699542"/>
                  <a:pt x="0" y="661580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6B7280">
              <a:alpha val="10196"/>
            </a:srgbClr>
          </a:solidFill>
          <a:ln w="12700">
            <a:solidFill>
              <a:srgbClr val="6B7280">
                <a:alpha val="30196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206219" y="5885497"/>
            <a:ext cx="2680693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4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</a:t>
            </a:r>
            <a:endParaRPr lang="en-US" sz="1600" dirty="0"/>
          </a:p>
        </p:txBody>
      </p:sp>
      <p:sp>
        <p:nvSpPr>
          <p:cNvPr id="99" name="Text 97"/>
          <p:cNvSpPr/>
          <p:nvPr/>
        </p:nvSpPr>
        <p:spPr>
          <a:xfrm>
            <a:off x="6223403" y="6194808"/>
            <a:ext cx="2646326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Python Dependencies</a:t>
            </a:r>
            <a:endParaRPr lang="en-US" sz="1600" dirty="0"/>
          </a:p>
        </p:txBody>
      </p:sp>
      <p:sp>
        <p:nvSpPr>
          <p:cNvPr id="100" name="Shape 98"/>
          <p:cNvSpPr/>
          <p:nvPr/>
        </p:nvSpPr>
        <p:spPr>
          <a:xfrm>
            <a:off x="9051502" y="5778097"/>
            <a:ext cx="2792389" cy="730317"/>
          </a:xfrm>
          <a:custGeom>
            <a:avLst/>
            <a:gdLst/>
            <a:ahLst/>
            <a:cxnLst/>
            <a:rect l="l" t="t" r="r" b="b"/>
            <a:pathLst>
              <a:path w="2792389" h="730317">
                <a:moveTo>
                  <a:pt x="68737" y="0"/>
                </a:moveTo>
                <a:lnTo>
                  <a:pt x="2723652" y="0"/>
                </a:lnTo>
                <a:cubicBezTo>
                  <a:pt x="2761614" y="0"/>
                  <a:pt x="2792389" y="30775"/>
                  <a:pt x="2792389" y="68737"/>
                </a:cubicBezTo>
                <a:lnTo>
                  <a:pt x="2792389" y="661580"/>
                </a:lnTo>
                <a:cubicBezTo>
                  <a:pt x="2792389" y="699542"/>
                  <a:pt x="2761614" y="730317"/>
                  <a:pt x="2723652" y="730317"/>
                </a:cubicBezTo>
                <a:lnTo>
                  <a:pt x="68737" y="730317"/>
                </a:lnTo>
                <a:cubicBezTo>
                  <a:pt x="30775" y="730317"/>
                  <a:pt x="0" y="699542"/>
                  <a:pt x="0" y="661580"/>
                </a:cubicBezTo>
                <a:lnTo>
                  <a:pt x="0" y="68737"/>
                </a:lnTo>
                <a:cubicBezTo>
                  <a:pt x="0" y="30775"/>
                  <a:pt x="30775" y="0"/>
                  <a:pt x="68737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107350" y="5885497"/>
            <a:ext cx="2680693" cy="274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4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8+</a:t>
            </a:r>
            <a:endParaRPr lang="en-US" sz="1600" dirty="0"/>
          </a:p>
        </p:txBody>
      </p:sp>
      <p:sp>
        <p:nvSpPr>
          <p:cNvPr id="102" name="Text 100"/>
          <p:cNvSpPr/>
          <p:nvPr/>
        </p:nvSpPr>
        <p:spPr>
          <a:xfrm>
            <a:off x="9124534" y="6194808"/>
            <a:ext cx="2646326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LLM Providers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44" kern="0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 PRIVACY &amp; SECURITY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Defense-in-Depth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5683250" cy="3175000"/>
          </a:xfrm>
          <a:custGeom>
            <a:avLst/>
            <a:gdLst/>
            <a:ahLst/>
            <a:cxnLst/>
            <a:rect l="l" t="t" r="r" b="b"/>
            <a:pathLst>
              <a:path w="5683250" h="3175000">
                <a:moveTo>
                  <a:pt x="63500" y="0"/>
                </a:moveTo>
                <a:lnTo>
                  <a:pt x="5619750" y="0"/>
                </a:lnTo>
                <a:cubicBezTo>
                  <a:pt x="5654797" y="0"/>
                  <a:pt x="5683250" y="28453"/>
                  <a:pt x="5683250" y="63500"/>
                </a:cubicBezTo>
                <a:lnTo>
                  <a:pt x="5683250" y="3111500"/>
                </a:lnTo>
                <a:cubicBezTo>
                  <a:pt x="5683250" y="3146547"/>
                  <a:pt x="5654797" y="3175000"/>
                  <a:pt x="5619750" y="3175000"/>
                </a:cubicBezTo>
                <a:lnTo>
                  <a:pt x="63500" y="3175000"/>
                </a:lnTo>
                <a:cubicBezTo>
                  <a:pt x="28453" y="3175000"/>
                  <a:pt x="0" y="3146547"/>
                  <a:pt x="0" y="311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64344" y="1143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2938" y="1111250"/>
            <a:ext cx="5310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Security Layers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4500" y="1428750"/>
            <a:ext cx="5429250" cy="603250"/>
          </a:xfrm>
          <a:custGeom>
            <a:avLst/>
            <a:gdLst/>
            <a:ahLst/>
            <a:cxnLst/>
            <a:rect l="l" t="t" r="r" b="b"/>
            <a:pathLst>
              <a:path w="5429250" h="603250">
                <a:moveTo>
                  <a:pt x="31749" y="0"/>
                </a:moveTo>
                <a:lnTo>
                  <a:pt x="5397501" y="0"/>
                </a:lnTo>
                <a:cubicBezTo>
                  <a:pt x="5415035" y="0"/>
                  <a:pt x="5429250" y="14215"/>
                  <a:pt x="5429250" y="31749"/>
                </a:cubicBezTo>
                <a:lnTo>
                  <a:pt x="5429250" y="571501"/>
                </a:lnTo>
                <a:cubicBezTo>
                  <a:pt x="5429250" y="589035"/>
                  <a:pt x="5415035" y="603250"/>
                  <a:pt x="539750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5557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31750" y="23812"/>
                </a:moveTo>
                <a:lnTo>
                  <a:pt x="31750" y="39688"/>
                </a:lnTo>
                <a:lnTo>
                  <a:pt x="63500" y="39688"/>
                </a:lnTo>
                <a:lnTo>
                  <a:pt x="63500" y="23812"/>
                </a:lnTo>
                <a:cubicBezTo>
                  <a:pt x="63500" y="15056"/>
                  <a:pt x="56381" y="7938"/>
                  <a:pt x="47625" y="7938"/>
                </a:cubicBezTo>
                <a:cubicBezTo>
                  <a:pt x="38869" y="7938"/>
                  <a:pt x="31750" y="15056"/>
                  <a:pt x="31750" y="23812"/>
                </a:cubicBezTo>
                <a:close/>
                <a:moveTo>
                  <a:pt x="15875" y="39688"/>
                </a:moveTo>
                <a:lnTo>
                  <a:pt x="15875" y="23812"/>
                </a:lnTo>
                <a:cubicBezTo>
                  <a:pt x="15875" y="6276"/>
                  <a:pt x="30088" y="-7937"/>
                  <a:pt x="47625" y="-7937"/>
                </a:cubicBezTo>
                <a:cubicBezTo>
                  <a:pt x="65162" y="-7937"/>
                  <a:pt x="79375" y="6276"/>
                  <a:pt x="79375" y="23812"/>
                </a:cubicBezTo>
                <a:lnTo>
                  <a:pt x="79375" y="39688"/>
                </a:lnTo>
                <a:cubicBezTo>
                  <a:pt x="88131" y="39688"/>
                  <a:pt x="95250" y="46806"/>
                  <a:pt x="95250" y="55563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55563"/>
                </a:lnTo>
                <a:cubicBezTo>
                  <a:pt x="0" y="46806"/>
                  <a:pt x="7119" y="39688"/>
                  <a:pt x="15875" y="3968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1524000"/>
            <a:ext cx="944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Transport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9750" y="174625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HTTPS, CORS with origin validation, trust proxy detection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4500" y="2095500"/>
            <a:ext cx="5429250" cy="603250"/>
          </a:xfrm>
          <a:custGeom>
            <a:avLst/>
            <a:gdLst/>
            <a:ahLst/>
            <a:cxnLst/>
            <a:rect l="l" t="t" r="r" b="b"/>
            <a:pathLst>
              <a:path w="5429250" h="603250">
                <a:moveTo>
                  <a:pt x="31749" y="0"/>
                </a:moveTo>
                <a:lnTo>
                  <a:pt x="5397501" y="0"/>
                </a:lnTo>
                <a:cubicBezTo>
                  <a:pt x="5415035" y="0"/>
                  <a:pt x="5429250" y="14215"/>
                  <a:pt x="5429250" y="31749"/>
                </a:cubicBezTo>
                <a:lnTo>
                  <a:pt x="5429250" y="571501"/>
                </a:lnTo>
                <a:cubicBezTo>
                  <a:pt x="5429250" y="589035"/>
                  <a:pt x="5415035" y="603250"/>
                  <a:pt x="539750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7688" y="222250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55563" y="61516"/>
                </a:moveTo>
                <a:cubicBezTo>
                  <a:pt x="71991" y="61516"/>
                  <a:pt x="85328" y="48178"/>
                  <a:pt x="85328" y="31750"/>
                </a:cubicBezTo>
                <a:cubicBezTo>
                  <a:pt x="85328" y="15322"/>
                  <a:pt x="71991" y="1984"/>
                  <a:pt x="55563" y="1984"/>
                </a:cubicBezTo>
                <a:cubicBezTo>
                  <a:pt x="39134" y="1984"/>
                  <a:pt x="25797" y="15322"/>
                  <a:pt x="25797" y="31750"/>
                </a:cubicBezTo>
                <a:cubicBezTo>
                  <a:pt x="25797" y="48178"/>
                  <a:pt x="39134" y="61516"/>
                  <a:pt x="55562" y="61516"/>
                </a:cubicBezTo>
                <a:close/>
                <a:moveTo>
                  <a:pt x="48196" y="75406"/>
                </a:moveTo>
                <a:cubicBezTo>
                  <a:pt x="23763" y="75406"/>
                  <a:pt x="3969" y="95200"/>
                  <a:pt x="3969" y="119633"/>
                </a:cubicBezTo>
                <a:cubicBezTo>
                  <a:pt x="3969" y="123701"/>
                  <a:pt x="7268" y="127000"/>
                  <a:pt x="11336" y="127000"/>
                </a:cubicBezTo>
                <a:lnTo>
                  <a:pt x="73720" y="127000"/>
                </a:lnTo>
                <a:cubicBezTo>
                  <a:pt x="64740" y="116433"/>
                  <a:pt x="59531" y="102815"/>
                  <a:pt x="59531" y="88404"/>
                </a:cubicBezTo>
                <a:lnTo>
                  <a:pt x="59531" y="80690"/>
                </a:lnTo>
                <a:cubicBezTo>
                  <a:pt x="59531" y="78879"/>
                  <a:pt x="59779" y="77093"/>
                  <a:pt x="60251" y="75406"/>
                </a:cubicBezTo>
                <a:lnTo>
                  <a:pt x="48196" y="75406"/>
                </a:lnTo>
                <a:close/>
                <a:moveTo>
                  <a:pt x="110455" y="121171"/>
                </a:moveTo>
                <a:lnTo>
                  <a:pt x="107156" y="122734"/>
                </a:lnTo>
                <a:lnTo>
                  <a:pt x="107156" y="76076"/>
                </a:lnTo>
                <a:lnTo>
                  <a:pt x="130969" y="84013"/>
                </a:lnTo>
                <a:lnTo>
                  <a:pt x="130969" y="88875"/>
                </a:lnTo>
                <a:cubicBezTo>
                  <a:pt x="130969" y="102716"/>
                  <a:pt x="122982" y="115292"/>
                  <a:pt x="110455" y="121196"/>
                </a:cubicBezTo>
                <a:close/>
                <a:moveTo>
                  <a:pt x="104651" y="64368"/>
                </a:moveTo>
                <a:lnTo>
                  <a:pt x="76870" y="73620"/>
                </a:lnTo>
                <a:cubicBezTo>
                  <a:pt x="73620" y="74712"/>
                  <a:pt x="71438" y="77738"/>
                  <a:pt x="71438" y="81161"/>
                </a:cubicBezTo>
                <a:lnTo>
                  <a:pt x="71438" y="88875"/>
                </a:lnTo>
                <a:cubicBezTo>
                  <a:pt x="71438" y="107330"/>
                  <a:pt x="82104" y="124123"/>
                  <a:pt x="98772" y="131961"/>
                </a:cubicBezTo>
                <a:lnTo>
                  <a:pt x="103361" y="134119"/>
                </a:lnTo>
                <a:cubicBezTo>
                  <a:pt x="104552" y="134665"/>
                  <a:pt x="105842" y="134962"/>
                  <a:pt x="107131" y="134962"/>
                </a:cubicBezTo>
                <a:cubicBezTo>
                  <a:pt x="108421" y="134962"/>
                  <a:pt x="109736" y="134665"/>
                  <a:pt x="110902" y="134119"/>
                </a:cubicBezTo>
                <a:lnTo>
                  <a:pt x="115491" y="131961"/>
                </a:lnTo>
                <a:cubicBezTo>
                  <a:pt x="132209" y="124098"/>
                  <a:pt x="142875" y="107305"/>
                  <a:pt x="142875" y="88850"/>
                </a:cubicBezTo>
                <a:lnTo>
                  <a:pt x="142875" y="81136"/>
                </a:lnTo>
                <a:cubicBezTo>
                  <a:pt x="142875" y="77713"/>
                  <a:pt x="140692" y="74687"/>
                  <a:pt x="137443" y="73596"/>
                </a:cubicBezTo>
                <a:lnTo>
                  <a:pt x="109662" y="64343"/>
                </a:lnTo>
                <a:cubicBezTo>
                  <a:pt x="108024" y="63798"/>
                  <a:pt x="106263" y="63798"/>
                  <a:pt x="104651" y="6434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2190750"/>
            <a:ext cx="91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750" y="241300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JWT with Passport, Google OAuth2, TOTP 2FA (RFC 6238), API key auth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4500" y="2762250"/>
            <a:ext cx="5429250" cy="603250"/>
          </a:xfrm>
          <a:custGeom>
            <a:avLst/>
            <a:gdLst/>
            <a:ahLst/>
            <a:cxnLst/>
            <a:rect l="l" t="t" r="r" b="b"/>
            <a:pathLst>
              <a:path w="5429250" h="603250">
                <a:moveTo>
                  <a:pt x="31749" y="0"/>
                </a:moveTo>
                <a:lnTo>
                  <a:pt x="5397501" y="0"/>
                </a:lnTo>
                <a:cubicBezTo>
                  <a:pt x="5415035" y="0"/>
                  <a:pt x="5429250" y="14215"/>
                  <a:pt x="5429250" y="31749"/>
                </a:cubicBezTo>
                <a:lnTo>
                  <a:pt x="5429250" y="571501"/>
                </a:lnTo>
                <a:cubicBezTo>
                  <a:pt x="5429250" y="589035"/>
                  <a:pt x="5415035" y="603250"/>
                  <a:pt x="539750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55625" y="2889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15875"/>
                </a:moveTo>
                <a:cubicBezTo>
                  <a:pt x="4738" y="15875"/>
                  <a:pt x="1836" y="17810"/>
                  <a:pt x="595" y="20786"/>
                </a:cubicBezTo>
                <a:cubicBezTo>
                  <a:pt x="-645" y="23763"/>
                  <a:pt x="50" y="27161"/>
                  <a:pt x="2332" y="29418"/>
                </a:cubicBezTo>
                <a:lnTo>
                  <a:pt x="47625" y="74737"/>
                </a:lnTo>
                <a:lnTo>
                  <a:pt x="47625" y="103188"/>
                </a:lnTo>
                <a:cubicBezTo>
                  <a:pt x="47625" y="105296"/>
                  <a:pt x="48468" y="107305"/>
                  <a:pt x="49957" y="108793"/>
                </a:cubicBezTo>
                <a:lnTo>
                  <a:pt x="65832" y="124668"/>
                </a:lnTo>
                <a:cubicBezTo>
                  <a:pt x="68114" y="126950"/>
                  <a:pt x="71512" y="127620"/>
                  <a:pt x="74488" y="126380"/>
                </a:cubicBezTo>
                <a:cubicBezTo>
                  <a:pt x="77465" y="125140"/>
                  <a:pt x="79375" y="122262"/>
                  <a:pt x="79375" y="119063"/>
                </a:cubicBezTo>
                <a:lnTo>
                  <a:pt x="79375" y="74737"/>
                </a:lnTo>
                <a:lnTo>
                  <a:pt x="124668" y="29443"/>
                </a:lnTo>
                <a:cubicBezTo>
                  <a:pt x="126950" y="27161"/>
                  <a:pt x="127620" y="23763"/>
                  <a:pt x="126380" y="20786"/>
                </a:cubicBezTo>
                <a:cubicBezTo>
                  <a:pt x="125140" y="17810"/>
                  <a:pt x="122262" y="15875"/>
                  <a:pt x="119063" y="15875"/>
                </a:cubicBezTo>
                <a:lnTo>
                  <a:pt x="7938" y="158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2857500"/>
            <a:ext cx="984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Input Validation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9750" y="307975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Zod validation on all endpoints, NoSQL injection sanitization, CSRF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4500" y="3429000"/>
            <a:ext cx="5429250" cy="603250"/>
          </a:xfrm>
          <a:custGeom>
            <a:avLst/>
            <a:gdLst/>
            <a:ahLst/>
            <a:cxnLst/>
            <a:rect l="l" t="t" r="r" b="b"/>
            <a:pathLst>
              <a:path w="5429250" h="603250">
                <a:moveTo>
                  <a:pt x="31749" y="0"/>
                </a:moveTo>
                <a:lnTo>
                  <a:pt x="5397501" y="0"/>
                </a:lnTo>
                <a:cubicBezTo>
                  <a:pt x="5415035" y="0"/>
                  <a:pt x="5429250" y="14215"/>
                  <a:pt x="5429250" y="31749"/>
                </a:cubicBezTo>
                <a:lnTo>
                  <a:pt x="5429250" y="571501"/>
                </a:lnTo>
                <a:cubicBezTo>
                  <a:pt x="5429250" y="589035"/>
                  <a:pt x="5415035" y="603250"/>
                  <a:pt x="5397501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47688" y="355600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55563" y="1984"/>
                </a:moveTo>
                <a:cubicBezTo>
                  <a:pt x="71991" y="1984"/>
                  <a:pt x="85328" y="15322"/>
                  <a:pt x="85328" y="31750"/>
                </a:cubicBezTo>
                <a:cubicBezTo>
                  <a:pt x="85328" y="48178"/>
                  <a:pt x="71991" y="61516"/>
                  <a:pt x="55563" y="61516"/>
                </a:cubicBezTo>
                <a:cubicBezTo>
                  <a:pt x="39134" y="61516"/>
                  <a:pt x="25797" y="48178"/>
                  <a:pt x="25797" y="31750"/>
                </a:cubicBezTo>
                <a:cubicBezTo>
                  <a:pt x="25797" y="15322"/>
                  <a:pt x="39134" y="1984"/>
                  <a:pt x="55562" y="1984"/>
                </a:cubicBezTo>
                <a:close/>
                <a:moveTo>
                  <a:pt x="48196" y="75406"/>
                </a:moveTo>
                <a:lnTo>
                  <a:pt x="62929" y="75406"/>
                </a:lnTo>
                <a:cubicBezTo>
                  <a:pt x="70296" y="75406"/>
                  <a:pt x="77242" y="77217"/>
                  <a:pt x="83344" y="80392"/>
                </a:cubicBezTo>
                <a:lnTo>
                  <a:pt x="83344" y="81459"/>
                </a:lnTo>
                <a:cubicBezTo>
                  <a:pt x="78482" y="85824"/>
                  <a:pt x="75406" y="92149"/>
                  <a:pt x="75406" y="99194"/>
                </a:cubicBezTo>
                <a:lnTo>
                  <a:pt x="75406" y="123006"/>
                </a:lnTo>
                <a:cubicBezTo>
                  <a:pt x="75406" y="124371"/>
                  <a:pt x="75530" y="125710"/>
                  <a:pt x="75729" y="127000"/>
                </a:cubicBezTo>
                <a:lnTo>
                  <a:pt x="11336" y="127000"/>
                </a:lnTo>
                <a:cubicBezTo>
                  <a:pt x="7268" y="127000"/>
                  <a:pt x="3969" y="123701"/>
                  <a:pt x="3969" y="119633"/>
                </a:cubicBezTo>
                <a:cubicBezTo>
                  <a:pt x="3969" y="95200"/>
                  <a:pt x="23763" y="75406"/>
                  <a:pt x="48196" y="75406"/>
                </a:cubicBezTo>
                <a:close/>
                <a:moveTo>
                  <a:pt x="123031" y="75431"/>
                </a:moveTo>
                <a:cubicBezTo>
                  <a:pt x="123031" y="71041"/>
                  <a:pt x="119484" y="67494"/>
                  <a:pt x="115094" y="67494"/>
                </a:cubicBezTo>
                <a:cubicBezTo>
                  <a:pt x="110703" y="67494"/>
                  <a:pt x="107156" y="71041"/>
                  <a:pt x="107156" y="75431"/>
                </a:cubicBezTo>
                <a:lnTo>
                  <a:pt x="107156" y="87313"/>
                </a:lnTo>
                <a:lnTo>
                  <a:pt x="123031" y="87313"/>
                </a:lnTo>
                <a:lnTo>
                  <a:pt x="123031" y="75431"/>
                </a:lnTo>
                <a:close/>
                <a:moveTo>
                  <a:pt x="87313" y="99219"/>
                </a:moveTo>
                <a:cubicBezTo>
                  <a:pt x="87313" y="94035"/>
                  <a:pt x="90636" y="89619"/>
                  <a:pt x="95250" y="87982"/>
                </a:cubicBezTo>
                <a:lnTo>
                  <a:pt x="95250" y="75431"/>
                </a:lnTo>
                <a:cubicBezTo>
                  <a:pt x="95250" y="64467"/>
                  <a:pt x="104130" y="55587"/>
                  <a:pt x="115094" y="55587"/>
                </a:cubicBezTo>
                <a:cubicBezTo>
                  <a:pt x="126057" y="55587"/>
                  <a:pt x="134938" y="64467"/>
                  <a:pt x="134938" y="75431"/>
                </a:cubicBezTo>
                <a:lnTo>
                  <a:pt x="134938" y="87982"/>
                </a:lnTo>
                <a:cubicBezTo>
                  <a:pt x="139551" y="89619"/>
                  <a:pt x="142875" y="94035"/>
                  <a:pt x="142875" y="99219"/>
                </a:cubicBezTo>
                <a:lnTo>
                  <a:pt x="142875" y="123031"/>
                </a:lnTo>
                <a:cubicBezTo>
                  <a:pt x="142875" y="129604"/>
                  <a:pt x="137542" y="134938"/>
                  <a:pt x="130969" y="134938"/>
                </a:cubicBezTo>
                <a:lnTo>
                  <a:pt x="99219" y="134938"/>
                </a:lnTo>
                <a:cubicBezTo>
                  <a:pt x="92646" y="134938"/>
                  <a:pt x="87313" y="129604"/>
                  <a:pt x="87313" y="123031"/>
                </a:cubicBezTo>
                <a:lnTo>
                  <a:pt x="87313" y="9921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3524250"/>
            <a:ext cx="91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750" y="3746500"/>
            <a:ext cx="530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Organization-scoped queries, role-based permissions, plugin sandbox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7500" y="4254500"/>
            <a:ext cx="5683250" cy="1889125"/>
          </a:xfrm>
          <a:custGeom>
            <a:avLst/>
            <a:gdLst/>
            <a:ahLst/>
            <a:cxnLst/>
            <a:rect l="l" t="t" r="r" b="b"/>
            <a:pathLst>
              <a:path w="5683250" h="1889125">
                <a:moveTo>
                  <a:pt x="63493" y="0"/>
                </a:moveTo>
                <a:lnTo>
                  <a:pt x="5619757" y="0"/>
                </a:lnTo>
                <a:cubicBezTo>
                  <a:pt x="5654823" y="0"/>
                  <a:pt x="5683250" y="28427"/>
                  <a:pt x="5683250" y="63493"/>
                </a:cubicBezTo>
                <a:lnTo>
                  <a:pt x="5683250" y="1825632"/>
                </a:lnTo>
                <a:cubicBezTo>
                  <a:pt x="5683250" y="1860698"/>
                  <a:pt x="5654823" y="1889125"/>
                  <a:pt x="5619757" y="1889125"/>
                </a:cubicBezTo>
                <a:lnTo>
                  <a:pt x="63493" y="1889125"/>
                </a:lnTo>
                <a:cubicBezTo>
                  <a:pt x="28427" y="1889125"/>
                  <a:pt x="0" y="1860698"/>
                  <a:pt x="0" y="1825632"/>
                </a:cubicBezTo>
                <a:lnTo>
                  <a:pt x="0" y="63493"/>
                </a:lnTo>
                <a:cubicBezTo>
                  <a:pt x="0" y="28427"/>
                  <a:pt x="28427" y="0"/>
                  <a:pt x="63493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4" name="Text 22"/>
          <p:cNvSpPr/>
          <p:nvPr/>
        </p:nvSpPr>
        <p:spPr>
          <a:xfrm>
            <a:off x="444500" y="4381500"/>
            <a:ext cx="5500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Audit &amp; Monitoring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8469" y="4702969"/>
            <a:ext cx="5421313" cy="388938"/>
          </a:xfrm>
          <a:custGeom>
            <a:avLst/>
            <a:gdLst/>
            <a:ahLst/>
            <a:cxnLst/>
            <a:rect l="l" t="t" r="r" b="b"/>
            <a:pathLst>
              <a:path w="5421313" h="388938">
                <a:moveTo>
                  <a:pt x="31749" y="0"/>
                </a:moveTo>
                <a:lnTo>
                  <a:pt x="5389564" y="0"/>
                </a:lnTo>
                <a:cubicBezTo>
                  <a:pt x="5407098" y="0"/>
                  <a:pt x="5421313" y="14214"/>
                  <a:pt x="5421313" y="31749"/>
                </a:cubicBezTo>
                <a:lnTo>
                  <a:pt x="5421313" y="357189"/>
                </a:lnTo>
                <a:cubicBezTo>
                  <a:pt x="5421313" y="374723"/>
                  <a:pt x="5407098" y="388938"/>
                  <a:pt x="5389564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9438" y="483393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7242" y="7938"/>
                </a:moveTo>
                <a:lnTo>
                  <a:pt x="79375" y="7938"/>
                </a:lnTo>
                <a:cubicBezTo>
                  <a:pt x="88131" y="7938"/>
                  <a:pt x="95250" y="15056"/>
                  <a:pt x="95250" y="23812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23812"/>
                </a:lnTo>
                <a:cubicBezTo>
                  <a:pt x="0" y="15056"/>
                  <a:pt x="7119" y="7938"/>
                  <a:pt x="15875" y="7938"/>
                </a:cubicBezTo>
                <a:lnTo>
                  <a:pt x="18008" y="7938"/>
                </a:lnTo>
                <a:cubicBezTo>
                  <a:pt x="20737" y="3200"/>
                  <a:pt x="25871" y="0"/>
                  <a:pt x="31750" y="0"/>
                </a:cubicBezTo>
                <a:lnTo>
                  <a:pt x="63500" y="0"/>
                </a:lnTo>
                <a:cubicBezTo>
                  <a:pt x="69379" y="0"/>
                  <a:pt x="74513" y="3200"/>
                  <a:pt x="77242" y="7938"/>
                </a:cubicBezTo>
                <a:close/>
                <a:moveTo>
                  <a:pt x="61516" y="27781"/>
                </a:moveTo>
                <a:cubicBezTo>
                  <a:pt x="64815" y="27781"/>
                  <a:pt x="67469" y="25127"/>
                  <a:pt x="67469" y="21828"/>
                </a:cubicBezTo>
                <a:cubicBezTo>
                  <a:pt x="67469" y="18529"/>
                  <a:pt x="64815" y="15875"/>
                  <a:pt x="61516" y="15875"/>
                </a:cubicBezTo>
                <a:lnTo>
                  <a:pt x="33734" y="15875"/>
                </a:lnTo>
                <a:cubicBezTo>
                  <a:pt x="30435" y="15875"/>
                  <a:pt x="27781" y="18529"/>
                  <a:pt x="27781" y="21828"/>
                </a:cubicBezTo>
                <a:cubicBezTo>
                  <a:pt x="27781" y="25127"/>
                  <a:pt x="30435" y="27781"/>
                  <a:pt x="33734" y="27781"/>
                </a:cubicBezTo>
                <a:lnTo>
                  <a:pt x="61516" y="27781"/>
                </a:lnTo>
                <a:close/>
                <a:moveTo>
                  <a:pt x="31750" y="63500"/>
                </a:moveTo>
                <a:cubicBezTo>
                  <a:pt x="31750" y="59119"/>
                  <a:pt x="28193" y="55563"/>
                  <a:pt x="23812" y="55563"/>
                </a:cubicBezTo>
                <a:cubicBezTo>
                  <a:pt x="19432" y="55563"/>
                  <a:pt x="15875" y="59119"/>
                  <a:pt x="15875" y="63500"/>
                </a:cubicBezTo>
                <a:cubicBezTo>
                  <a:pt x="15875" y="67881"/>
                  <a:pt x="19432" y="71438"/>
                  <a:pt x="23812" y="71438"/>
                </a:cubicBezTo>
                <a:cubicBezTo>
                  <a:pt x="28193" y="71438"/>
                  <a:pt x="31750" y="67881"/>
                  <a:pt x="31750" y="63500"/>
                </a:cubicBezTo>
                <a:close/>
                <a:moveTo>
                  <a:pt x="39688" y="63500"/>
                </a:moveTo>
                <a:cubicBezTo>
                  <a:pt x="39688" y="66799"/>
                  <a:pt x="42342" y="69453"/>
                  <a:pt x="45641" y="69453"/>
                </a:cubicBezTo>
                <a:lnTo>
                  <a:pt x="73422" y="69453"/>
                </a:lnTo>
                <a:cubicBezTo>
                  <a:pt x="76721" y="69453"/>
                  <a:pt x="79375" y="66799"/>
                  <a:pt x="79375" y="63500"/>
                </a:cubicBezTo>
                <a:cubicBezTo>
                  <a:pt x="79375" y="60201"/>
                  <a:pt x="76721" y="57547"/>
                  <a:pt x="73422" y="57547"/>
                </a:cubicBezTo>
                <a:lnTo>
                  <a:pt x="45641" y="57547"/>
                </a:lnTo>
                <a:cubicBezTo>
                  <a:pt x="42342" y="57547"/>
                  <a:pt x="39688" y="60201"/>
                  <a:pt x="39688" y="63500"/>
                </a:cubicBezTo>
                <a:close/>
                <a:moveTo>
                  <a:pt x="39688" y="95250"/>
                </a:moveTo>
                <a:cubicBezTo>
                  <a:pt x="39688" y="98549"/>
                  <a:pt x="42342" y="101203"/>
                  <a:pt x="45641" y="101203"/>
                </a:cubicBezTo>
                <a:lnTo>
                  <a:pt x="73422" y="101203"/>
                </a:lnTo>
                <a:cubicBezTo>
                  <a:pt x="76721" y="101203"/>
                  <a:pt x="79375" y="98549"/>
                  <a:pt x="79375" y="95250"/>
                </a:cubicBezTo>
                <a:cubicBezTo>
                  <a:pt x="79375" y="91951"/>
                  <a:pt x="76721" y="89297"/>
                  <a:pt x="73422" y="89297"/>
                </a:cubicBezTo>
                <a:lnTo>
                  <a:pt x="45641" y="89297"/>
                </a:lnTo>
                <a:cubicBezTo>
                  <a:pt x="42342" y="89297"/>
                  <a:pt x="39688" y="91951"/>
                  <a:pt x="39688" y="95250"/>
                </a:cubicBezTo>
                <a:close/>
                <a:moveTo>
                  <a:pt x="23812" y="103188"/>
                </a:moveTo>
                <a:cubicBezTo>
                  <a:pt x="28193" y="103188"/>
                  <a:pt x="31750" y="99631"/>
                  <a:pt x="31750" y="95250"/>
                </a:cubicBezTo>
                <a:cubicBezTo>
                  <a:pt x="31750" y="90869"/>
                  <a:pt x="28193" y="87313"/>
                  <a:pt x="23812" y="87313"/>
                </a:cubicBezTo>
                <a:cubicBezTo>
                  <a:pt x="19432" y="87313"/>
                  <a:pt x="15875" y="90869"/>
                  <a:pt x="15875" y="95250"/>
                </a:cubicBezTo>
                <a:cubicBezTo>
                  <a:pt x="15875" y="99631"/>
                  <a:pt x="19432" y="103188"/>
                  <a:pt x="23812" y="10318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769938" y="4802188"/>
            <a:ext cx="111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Security Audit Log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4358" y="4802188"/>
            <a:ext cx="531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 types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8469" y="5163344"/>
            <a:ext cx="5421313" cy="388938"/>
          </a:xfrm>
          <a:custGeom>
            <a:avLst/>
            <a:gdLst/>
            <a:ahLst/>
            <a:cxnLst/>
            <a:rect l="l" t="t" r="r" b="b"/>
            <a:pathLst>
              <a:path w="5421313" h="388938">
                <a:moveTo>
                  <a:pt x="31749" y="0"/>
                </a:moveTo>
                <a:lnTo>
                  <a:pt x="5389564" y="0"/>
                </a:lnTo>
                <a:cubicBezTo>
                  <a:pt x="5407098" y="0"/>
                  <a:pt x="5421313" y="14214"/>
                  <a:pt x="5421313" y="31749"/>
                </a:cubicBezTo>
                <a:lnTo>
                  <a:pt x="5421313" y="357189"/>
                </a:lnTo>
                <a:cubicBezTo>
                  <a:pt x="5421313" y="374723"/>
                  <a:pt x="5407098" y="388938"/>
                  <a:pt x="5389564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3563" y="52943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98547" y="0"/>
                  <a:pt x="127000" y="28453"/>
                  <a:pt x="127000" y="63500"/>
                </a:cubicBezTo>
                <a:cubicBezTo>
                  <a:pt x="127000" y="98547"/>
                  <a:pt x="98547" y="127000"/>
                  <a:pt x="63500" y="127000"/>
                </a:cubicBezTo>
                <a:cubicBezTo>
                  <a:pt x="28453" y="127000"/>
                  <a:pt x="0" y="98547"/>
                  <a:pt x="0" y="63500"/>
                </a:cubicBezTo>
                <a:cubicBezTo>
                  <a:pt x="0" y="28453"/>
                  <a:pt x="28453" y="0"/>
                  <a:pt x="63500" y="0"/>
                </a:cubicBezTo>
                <a:close/>
                <a:moveTo>
                  <a:pt x="57547" y="29766"/>
                </a:moveTo>
                <a:lnTo>
                  <a:pt x="57547" y="63500"/>
                </a:lnTo>
                <a:cubicBezTo>
                  <a:pt x="57547" y="65484"/>
                  <a:pt x="58539" y="67345"/>
                  <a:pt x="60201" y="68461"/>
                </a:cubicBezTo>
                <a:lnTo>
                  <a:pt x="84013" y="84336"/>
                </a:lnTo>
                <a:cubicBezTo>
                  <a:pt x="86742" y="86171"/>
                  <a:pt x="90438" y="85427"/>
                  <a:pt x="92273" y="82674"/>
                </a:cubicBezTo>
                <a:cubicBezTo>
                  <a:pt x="94109" y="79921"/>
                  <a:pt x="93365" y="76250"/>
                  <a:pt x="90612" y="74414"/>
                </a:cubicBezTo>
                <a:lnTo>
                  <a:pt x="69453" y="60325"/>
                </a:lnTo>
                <a:lnTo>
                  <a:pt x="69453" y="29766"/>
                </a:lnTo>
                <a:cubicBezTo>
                  <a:pt x="69453" y="26467"/>
                  <a:pt x="66799" y="23812"/>
                  <a:pt x="63500" y="23812"/>
                </a:cubicBezTo>
                <a:cubicBezTo>
                  <a:pt x="60201" y="23812"/>
                  <a:pt x="57547" y="26467"/>
                  <a:pt x="57547" y="2976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769938" y="5262563"/>
            <a:ext cx="84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Log Retention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46762" y="5262563"/>
            <a:ext cx="785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365 days TTL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8469" y="5623719"/>
            <a:ext cx="5421313" cy="388938"/>
          </a:xfrm>
          <a:custGeom>
            <a:avLst/>
            <a:gdLst/>
            <a:ahLst/>
            <a:cxnLst/>
            <a:rect l="l" t="t" r="r" b="b"/>
            <a:pathLst>
              <a:path w="5421313" h="388938">
                <a:moveTo>
                  <a:pt x="31749" y="0"/>
                </a:moveTo>
                <a:lnTo>
                  <a:pt x="5389564" y="0"/>
                </a:lnTo>
                <a:cubicBezTo>
                  <a:pt x="5407098" y="0"/>
                  <a:pt x="5421313" y="14214"/>
                  <a:pt x="5421313" y="31749"/>
                </a:cubicBezTo>
                <a:lnTo>
                  <a:pt x="5421313" y="357189"/>
                </a:lnTo>
                <a:cubicBezTo>
                  <a:pt x="5421313" y="374723"/>
                  <a:pt x="5407098" y="388938"/>
                  <a:pt x="5389564" y="388938"/>
                </a:cubicBezTo>
                <a:lnTo>
                  <a:pt x="31749" y="388938"/>
                </a:lnTo>
                <a:cubicBezTo>
                  <a:pt x="14214" y="388938"/>
                  <a:pt x="0" y="374723"/>
                  <a:pt x="0" y="357189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3563" y="575468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15875" y="11485"/>
                  <a:pt x="12328" y="7938"/>
                  <a:pt x="7938" y="7938"/>
                </a:cubicBezTo>
                <a:cubicBezTo>
                  <a:pt x="3547" y="7938"/>
                  <a:pt x="0" y="11485"/>
                  <a:pt x="0" y="15875"/>
                </a:cubicBezTo>
                <a:lnTo>
                  <a:pt x="0" y="99219"/>
                </a:lnTo>
                <a:cubicBezTo>
                  <a:pt x="0" y="110182"/>
                  <a:pt x="8880" y="119063"/>
                  <a:pt x="19844" y="119063"/>
                </a:cubicBezTo>
                <a:lnTo>
                  <a:pt x="119063" y="119063"/>
                </a:lnTo>
                <a:cubicBezTo>
                  <a:pt x="123453" y="119063"/>
                  <a:pt x="127000" y="115515"/>
                  <a:pt x="127000" y="111125"/>
                </a:cubicBezTo>
                <a:cubicBezTo>
                  <a:pt x="127000" y="106735"/>
                  <a:pt x="123453" y="103188"/>
                  <a:pt x="119063" y="103188"/>
                </a:cubicBezTo>
                <a:lnTo>
                  <a:pt x="19844" y="103188"/>
                </a:lnTo>
                <a:cubicBezTo>
                  <a:pt x="17661" y="103188"/>
                  <a:pt x="15875" y="101402"/>
                  <a:pt x="15875" y="99219"/>
                </a:cubicBezTo>
                <a:lnTo>
                  <a:pt x="15875" y="15875"/>
                </a:lnTo>
                <a:close/>
                <a:moveTo>
                  <a:pt x="116731" y="37356"/>
                </a:moveTo>
                <a:cubicBezTo>
                  <a:pt x="119831" y="34255"/>
                  <a:pt x="119831" y="29220"/>
                  <a:pt x="116731" y="26119"/>
                </a:cubicBezTo>
                <a:cubicBezTo>
                  <a:pt x="113630" y="23019"/>
                  <a:pt x="108595" y="23019"/>
                  <a:pt x="105494" y="26119"/>
                </a:cubicBezTo>
                <a:lnTo>
                  <a:pt x="79375" y="52263"/>
                </a:lnTo>
                <a:lnTo>
                  <a:pt x="65137" y="38050"/>
                </a:lnTo>
                <a:cubicBezTo>
                  <a:pt x="62037" y="34950"/>
                  <a:pt x="57001" y="34950"/>
                  <a:pt x="53901" y="38050"/>
                </a:cubicBezTo>
                <a:lnTo>
                  <a:pt x="30088" y="61863"/>
                </a:lnTo>
                <a:cubicBezTo>
                  <a:pt x="26988" y="64963"/>
                  <a:pt x="26988" y="69999"/>
                  <a:pt x="30088" y="73099"/>
                </a:cubicBezTo>
                <a:cubicBezTo>
                  <a:pt x="33189" y="76200"/>
                  <a:pt x="38224" y="76200"/>
                  <a:pt x="41325" y="73099"/>
                </a:cubicBezTo>
                <a:lnTo>
                  <a:pt x="59531" y="54893"/>
                </a:lnTo>
                <a:lnTo>
                  <a:pt x="73769" y="69131"/>
                </a:lnTo>
                <a:cubicBezTo>
                  <a:pt x="76870" y="72231"/>
                  <a:pt x="81905" y="72231"/>
                  <a:pt x="85006" y="69131"/>
                </a:cubicBezTo>
                <a:lnTo>
                  <a:pt x="116756" y="37381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769938" y="5722938"/>
            <a:ext cx="809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10001" y="5722938"/>
            <a:ext cx="1023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+ per-user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1250" y="984250"/>
            <a:ext cx="5683250" cy="3794125"/>
          </a:xfrm>
          <a:custGeom>
            <a:avLst/>
            <a:gdLst/>
            <a:ahLst/>
            <a:cxnLst/>
            <a:rect l="l" t="t" r="r" b="b"/>
            <a:pathLst>
              <a:path w="5683250" h="3794125">
                <a:moveTo>
                  <a:pt x="63514" y="0"/>
                </a:moveTo>
                <a:lnTo>
                  <a:pt x="5619736" y="0"/>
                </a:lnTo>
                <a:cubicBezTo>
                  <a:pt x="5654814" y="0"/>
                  <a:pt x="5683250" y="28436"/>
                  <a:pt x="5683250" y="63514"/>
                </a:cubicBezTo>
                <a:lnTo>
                  <a:pt x="5683250" y="3730611"/>
                </a:lnTo>
                <a:cubicBezTo>
                  <a:pt x="5683250" y="3765689"/>
                  <a:pt x="5654814" y="3794125"/>
                  <a:pt x="5619736" y="3794125"/>
                </a:cubicBezTo>
                <a:lnTo>
                  <a:pt x="63514" y="3794125"/>
                </a:lnTo>
                <a:cubicBezTo>
                  <a:pt x="28436" y="3794125"/>
                  <a:pt x="0" y="3765689"/>
                  <a:pt x="0" y="3730611"/>
                </a:cubicBezTo>
                <a:lnTo>
                  <a:pt x="0" y="63514"/>
                </a:lnTo>
                <a:cubicBezTo>
                  <a:pt x="0" y="28460"/>
                  <a:pt x="28460" y="0"/>
                  <a:pt x="63514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8" name="Shape 36"/>
          <p:cNvSpPr/>
          <p:nvPr/>
        </p:nvSpPr>
        <p:spPr>
          <a:xfrm>
            <a:off x="6348016" y="1143000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53020" y="-4961"/>
                </a:moveTo>
                <a:cubicBezTo>
                  <a:pt x="41734" y="-4961"/>
                  <a:pt x="35099" y="13115"/>
                  <a:pt x="31843" y="29766"/>
                </a:cubicBezTo>
                <a:lnTo>
                  <a:pt x="22324" y="29766"/>
                </a:lnTo>
                <a:cubicBezTo>
                  <a:pt x="18200" y="29766"/>
                  <a:pt x="14883" y="33083"/>
                  <a:pt x="14883" y="37207"/>
                </a:cubicBezTo>
                <a:cubicBezTo>
                  <a:pt x="14883" y="41331"/>
                  <a:pt x="18200" y="44648"/>
                  <a:pt x="22324" y="44648"/>
                </a:cubicBezTo>
                <a:lnTo>
                  <a:pt x="29766" y="44648"/>
                </a:lnTo>
                <a:lnTo>
                  <a:pt x="29766" y="54570"/>
                </a:lnTo>
                <a:cubicBezTo>
                  <a:pt x="29766" y="59841"/>
                  <a:pt x="30789" y="64864"/>
                  <a:pt x="32649" y="69453"/>
                </a:cubicBezTo>
                <a:lnTo>
                  <a:pt x="29766" y="69453"/>
                </a:lnTo>
                <a:lnTo>
                  <a:pt x="29766" y="69453"/>
                </a:lnTo>
                <a:lnTo>
                  <a:pt x="23409" y="69453"/>
                </a:lnTo>
                <a:cubicBezTo>
                  <a:pt x="18697" y="69453"/>
                  <a:pt x="14883" y="73267"/>
                  <a:pt x="14883" y="77980"/>
                </a:cubicBezTo>
                <a:cubicBezTo>
                  <a:pt x="14883" y="78910"/>
                  <a:pt x="15038" y="79809"/>
                  <a:pt x="15317" y="80677"/>
                </a:cubicBezTo>
                <a:lnTo>
                  <a:pt x="24278" y="107528"/>
                </a:lnTo>
                <a:cubicBezTo>
                  <a:pt x="12464" y="117698"/>
                  <a:pt x="4961" y="132736"/>
                  <a:pt x="4961" y="149541"/>
                </a:cubicBezTo>
                <a:cubicBezTo>
                  <a:pt x="4961" y="154626"/>
                  <a:pt x="9085" y="158750"/>
                  <a:pt x="14170" y="158750"/>
                </a:cubicBezTo>
                <a:lnTo>
                  <a:pt x="124737" y="158750"/>
                </a:lnTo>
                <a:cubicBezTo>
                  <a:pt x="129822" y="158750"/>
                  <a:pt x="133945" y="154626"/>
                  <a:pt x="133945" y="149541"/>
                </a:cubicBezTo>
                <a:cubicBezTo>
                  <a:pt x="133945" y="132736"/>
                  <a:pt x="126442" y="117698"/>
                  <a:pt x="114629" y="107559"/>
                </a:cubicBezTo>
                <a:lnTo>
                  <a:pt x="123589" y="80708"/>
                </a:lnTo>
                <a:cubicBezTo>
                  <a:pt x="123868" y="79840"/>
                  <a:pt x="124023" y="78941"/>
                  <a:pt x="124023" y="78011"/>
                </a:cubicBezTo>
                <a:cubicBezTo>
                  <a:pt x="124023" y="73298"/>
                  <a:pt x="120210" y="69484"/>
                  <a:pt x="115497" y="69484"/>
                </a:cubicBezTo>
                <a:lnTo>
                  <a:pt x="109141" y="69484"/>
                </a:lnTo>
                <a:lnTo>
                  <a:pt x="109141" y="69484"/>
                </a:lnTo>
                <a:lnTo>
                  <a:pt x="106257" y="69484"/>
                </a:lnTo>
                <a:cubicBezTo>
                  <a:pt x="108117" y="64895"/>
                  <a:pt x="109141" y="59872"/>
                  <a:pt x="109141" y="54601"/>
                </a:cubicBezTo>
                <a:lnTo>
                  <a:pt x="109141" y="44679"/>
                </a:lnTo>
                <a:lnTo>
                  <a:pt x="116582" y="44679"/>
                </a:lnTo>
                <a:cubicBezTo>
                  <a:pt x="120706" y="44679"/>
                  <a:pt x="124023" y="41362"/>
                  <a:pt x="124023" y="37238"/>
                </a:cubicBezTo>
                <a:cubicBezTo>
                  <a:pt x="124023" y="33114"/>
                  <a:pt x="120706" y="29797"/>
                  <a:pt x="116582" y="29797"/>
                </a:cubicBezTo>
                <a:lnTo>
                  <a:pt x="107063" y="29797"/>
                </a:lnTo>
                <a:cubicBezTo>
                  <a:pt x="103839" y="13146"/>
                  <a:pt x="97172" y="-4930"/>
                  <a:pt x="85886" y="-4930"/>
                </a:cubicBezTo>
                <a:cubicBezTo>
                  <a:pt x="82910" y="-4930"/>
                  <a:pt x="79995" y="-3721"/>
                  <a:pt x="77360" y="-2387"/>
                </a:cubicBezTo>
                <a:cubicBezTo>
                  <a:pt x="74817" y="-1116"/>
                  <a:pt x="71655" y="31"/>
                  <a:pt x="69453" y="31"/>
                </a:cubicBezTo>
                <a:cubicBezTo>
                  <a:pt x="67252" y="31"/>
                  <a:pt x="64089" y="-1116"/>
                  <a:pt x="61547" y="-2387"/>
                </a:cubicBezTo>
                <a:cubicBezTo>
                  <a:pt x="58911" y="-3752"/>
                  <a:pt x="55997" y="-4961"/>
                  <a:pt x="53020" y="-4961"/>
                </a:cubicBezTo>
                <a:close/>
                <a:moveTo>
                  <a:pt x="82073" y="145231"/>
                </a:moveTo>
                <a:lnTo>
                  <a:pt x="74383" y="123248"/>
                </a:lnTo>
                <a:lnTo>
                  <a:pt x="83034" y="113171"/>
                </a:lnTo>
                <a:cubicBezTo>
                  <a:pt x="83871" y="112179"/>
                  <a:pt x="84336" y="110939"/>
                  <a:pt x="84336" y="109637"/>
                </a:cubicBezTo>
                <a:cubicBezTo>
                  <a:pt x="84336" y="106629"/>
                  <a:pt x="81917" y="104211"/>
                  <a:pt x="78910" y="104211"/>
                </a:cubicBezTo>
                <a:lnTo>
                  <a:pt x="59996" y="104211"/>
                </a:lnTo>
                <a:cubicBezTo>
                  <a:pt x="56989" y="104211"/>
                  <a:pt x="54570" y="106629"/>
                  <a:pt x="54570" y="109637"/>
                </a:cubicBezTo>
                <a:cubicBezTo>
                  <a:pt x="54570" y="110939"/>
                  <a:pt x="55035" y="112179"/>
                  <a:pt x="55873" y="113171"/>
                </a:cubicBezTo>
                <a:lnTo>
                  <a:pt x="64523" y="123248"/>
                </a:lnTo>
                <a:lnTo>
                  <a:pt x="56834" y="145231"/>
                </a:lnTo>
                <a:lnTo>
                  <a:pt x="39160" y="89297"/>
                </a:lnTo>
                <a:lnTo>
                  <a:pt x="50229" y="89297"/>
                </a:lnTo>
                <a:cubicBezTo>
                  <a:pt x="55935" y="92459"/>
                  <a:pt x="62477" y="94258"/>
                  <a:pt x="69453" y="94258"/>
                </a:cubicBezTo>
                <a:cubicBezTo>
                  <a:pt x="76429" y="94258"/>
                  <a:pt x="82972" y="92459"/>
                  <a:pt x="88677" y="89297"/>
                </a:cubicBezTo>
                <a:lnTo>
                  <a:pt x="99746" y="89297"/>
                </a:lnTo>
                <a:lnTo>
                  <a:pt x="82073" y="145231"/>
                </a:lnTo>
                <a:close/>
                <a:moveTo>
                  <a:pt x="69453" y="79375"/>
                </a:moveTo>
                <a:cubicBezTo>
                  <a:pt x="58694" y="79375"/>
                  <a:pt x="49547" y="72523"/>
                  <a:pt x="46106" y="62942"/>
                </a:cubicBezTo>
                <a:cubicBezTo>
                  <a:pt x="47873" y="63934"/>
                  <a:pt x="49919" y="64492"/>
                  <a:pt x="52090" y="64492"/>
                </a:cubicBezTo>
                <a:lnTo>
                  <a:pt x="55935" y="64492"/>
                </a:lnTo>
                <a:cubicBezTo>
                  <a:pt x="61051" y="64492"/>
                  <a:pt x="65577" y="61206"/>
                  <a:pt x="67190" y="56369"/>
                </a:cubicBezTo>
                <a:cubicBezTo>
                  <a:pt x="67903" y="54198"/>
                  <a:pt x="70972" y="54198"/>
                  <a:pt x="71686" y="56369"/>
                </a:cubicBezTo>
                <a:cubicBezTo>
                  <a:pt x="73298" y="61206"/>
                  <a:pt x="77856" y="64492"/>
                  <a:pt x="82941" y="64492"/>
                </a:cubicBezTo>
                <a:lnTo>
                  <a:pt x="86785" y="64492"/>
                </a:lnTo>
                <a:cubicBezTo>
                  <a:pt x="88956" y="64492"/>
                  <a:pt x="91002" y="63934"/>
                  <a:pt x="92770" y="62942"/>
                </a:cubicBezTo>
                <a:cubicBezTo>
                  <a:pt x="89328" y="72523"/>
                  <a:pt x="80181" y="79375"/>
                  <a:pt x="69422" y="79375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6516688" y="1111250"/>
            <a:ext cx="5310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Privacy-Preserving Techniques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22219" y="1432719"/>
            <a:ext cx="5421313" cy="1277938"/>
          </a:xfrm>
          <a:custGeom>
            <a:avLst/>
            <a:gdLst/>
            <a:ahLst/>
            <a:cxnLst/>
            <a:rect l="l" t="t" r="r" b="b"/>
            <a:pathLst>
              <a:path w="5421313" h="1277938">
                <a:moveTo>
                  <a:pt x="31744" y="0"/>
                </a:moveTo>
                <a:lnTo>
                  <a:pt x="5389569" y="0"/>
                </a:lnTo>
                <a:cubicBezTo>
                  <a:pt x="5407100" y="0"/>
                  <a:pt x="5421313" y="14212"/>
                  <a:pt x="5421313" y="31744"/>
                </a:cubicBezTo>
                <a:lnTo>
                  <a:pt x="5421313" y="1246194"/>
                </a:lnTo>
                <a:cubicBezTo>
                  <a:pt x="5421313" y="1263725"/>
                  <a:pt x="5407100" y="1277938"/>
                  <a:pt x="5389569" y="1277938"/>
                </a:cubicBezTo>
                <a:lnTo>
                  <a:pt x="31744" y="1277938"/>
                </a:lnTo>
                <a:cubicBezTo>
                  <a:pt x="14212" y="1277938"/>
                  <a:pt x="0" y="1263725"/>
                  <a:pt x="0" y="1246194"/>
                </a:cubicBezTo>
                <a:lnTo>
                  <a:pt x="0" y="31744"/>
                </a:lnTo>
                <a:cubicBezTo>
                  <a:pt x="0" y="14224"/>
                  <a:pt x="14224" y="0"/>
                  <a:pt x="3174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1438" y="153193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Differential Privacy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21438" y="178593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Laplace mechanism for aggregate statistics with strong privacy guarantees: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21438" y="2039938"/>
            <a:ext cx="5222875" cy="317500"/>
          </a:xfrm>
          <a:custGeom>
            <a:avLst/>
            <a:gdLst/>
            <a:ahLst/>
            <a:cxnLst/>
            <a:rect l="l" t="t" r="r" b="b"/>
            <a:pathLst>
              <a:path w="5222875" h="317500">
                <a:moveTo>
                  <a:pt x="31750" y="0"/>
                </a:moveTo>
                <a:lnTo>
                  <a:pt x="5191125" y="0"/>
                </a:lnTo>
                <a:cubicBezTo>
                  <a:pt x="5208648" y="0"/>
                  <a:pt x="5222875" y="14227"/>
                  <a:pt x="5222875" y="31750"/>
                </a:cubicBezTo>
                <a:lnTo>
                  <a:pt x="5222875" y="285750"/>
                </a:lnTo>
                <a:cubicBezTo>
                  <a:pt x="5222875" y="303273"/>
                  <a:pt x="5208648" y="317500"/>
                  <a:pt x="5191125" y="317500"/>
                </a:cubicBezTo>
                <a:lnTo>
                  <a:pt x="31750" y="317500"/>
                </a:lnTo>
                <a:cubicBezTo>
                  <a:pt x="14227" y="317500"/>
                  <a:pt x="0" y="303273"/>
                  <a:pt x="0" y="285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4" name="Text 42"/>
          <p:cNvSpPr/>
          <p:nvPr/>
        </p:nvSpPr>
        <p:spPr>
          <a:xfrm>
            <a:off x="6421438" y="2039938"/>
            <a:ext cx="5286375" cy="3175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M(D) = f(D) + Lap(Δf/ε)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21438" y="2420938"/>
            <a:ext cx="1071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Privacy parameter: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495604" y="2420938"/>
            <a:ext cx="404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ε = 0.1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22219" y="2813844"/>
            <a:ext cx="5421313" cy="1087438"/>
          </a:xfrm>
          <a:custGeom>
            <a:avLst/>
            <a:gdLst/>
            <a:ahLst/>
            <a:cxnLst/>
            <a:rect l="l" t="t" r="r" b="b"/>
            <a:pathLst>
              <a:path w="5421313" h="1087438">
                <a:moveTo>
                  <a:pt x="31753" y="0"/>
                </a:moveTo>
                <a:lnTo>
                  <a:pt x="5389559" y="0"/>
                </a:lnTo>
                <a:cubicBezTo>
                  <a:pt x="5407096" y="0"/>
                  <a:pt x="5421312" y="14216"/>
                  <a:pt x="5421312" y="31753"/>
                </a:cubicBezTo>
                <a:lnTo>
                  <a:pt x="5421313" y="1055684"/>
                </a:lnTo>
                <a:cubicBezTo>
                  <a:pt x="5421312" y="1073221"/>
                  <a:pt x="5407096" y="1087438"/>
                  <a:pt x="5389559" y="1087438"/>
                </a:cubicBezTo>
                <a:lnTo>
                  <a:pt x="31753" y="1087438"/>
                </a:lnTo>
                <a:cubicBezTo>
                  <a:pt x="14216" y="1087438"/>
                  <a:pt x="0" y="1073221"/>
                  <a:pt x="0" y="1055684"/>
                </a:cubicBezTo>
                <a:lnTo>
                  <a:pt x="0" y="31753"/>
                </a:lnTo>
                <a:cubicBezTo>
                  <a:pt x="0" y="14228"/>
                  <a:pt x="14228" y="0"/>
                  <a:pt x="3175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21438" y="2913063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PII Minimization Pipeline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44258" y="319881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0" name="Text 48"/>
          <p:cNvSpPr/>
          <p:nvPr/>
        </p:nvSpPr>
        <p:spPr>
          <a:xfrm>
            <a:off x="6623844" y="3167063"/>
            <a:ext cx="2405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Transaction data bounded by age (365 days)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444258" y="342106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6623844" y="3389313"/>
            <a:ext cx="2166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Maximum 300 transactions per request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44258" y="364331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4" name="Text 52"/>
          <p:cNvSpPr/>
          <p:nvPr/>
        </p:nvSpPr>
        <p:spPr>
          <a:xfrm>
            <a:off x="6623844" y="3611563"/>
            <a:ext cx="18653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Only necessary fields transmitted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22219" y="4004469"/>
            <a:ext cx="5421313" cy="642938"/>
          </a:xfrm>
          <a:custGeom>
            <a:avLst/>
            <a:gdLst/>
            <a:ahLst/>
            <a:cxnLst/>
            <a:rect l="l" t="t" r="r" b="b"/>
            <a:pathLst>
              <a:path w="5421313" h="642938">
                <a:moveTo>
                  <a:pt x="31748" y="0"/>
                </a:moveTo>
                <a:lnTo>
                  <a:pt x="5389564" y="0"/>
                </a:lnTo>
                <a:cubicBezTo>
                  <a:pt x="5407098" y="0"/>
                  <a:pt x="5421313" y="14214"/>
                  <a:pt x="5421313" y="31748"/>
                </a:cubicBezTo>
                <a:lnTo>
                  <a:pt x="5421313" y="611189"/>
                </a:lnTo>
                <a:cubicBezTo>
                  <a:pt x="5421313" y="628723"/>
                  <a:pt x="5407098" y="642938"/>
                  <a:pt x="5389564" y="642937"/>
                </a:cubicBezTo>
                <a:lnTo>
                  <a:pt x="31748" y="642938"/>
                </a:lnTo>
                <a:cubicBezTo>
                  <a:pt x="14214" y="642937"/>
                  <a:pt x="0" y="628723"/>
                  <a:pt x="0" y="611189"/>
                </a:cubicBezTo>
                <a:lnTo>
                  <a:pt x="0" y="31748"/>
                </a:lnTo>
                <a:cubicBezTo>
                  <a:pt x="0" y="14214"/>
                  <a:pt x="14214" y="0"/>
                  <a:pt x="3174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21438" y="4103688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Regulatory Compliance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37313" y="43894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58" name="Text 56"/>
          <p:cNvSpPr/>
          <p:nvPr/>
        </p:nvSpPr>
        <p:spPr>
          <a:xfrm>
            <a:off x="6643688" y="4357688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GDPR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104063" y="43894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60" name="Text 58"/>
          <p:cNvSpPr/>
          <p:nvPr/>
        </p:nvSpPr>
        <p:spPr>
          <a:xfrm>
            <a:off x="7310438" y="4357688"/>
            <a:ext cx="37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CCPA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7765107" y="43894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62" name="Text 60"/>
          <p:cNvSpPr/>
          <p:nvPr/>
        </p:nvSpPr>
        <p:spPr>
          <a:xfrm>
            <a:off x="7971482" y="4357688"/>
            <a:ext cx="87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Consent Flows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91250" y="4873625"/>
            <a:ext cx="5683250" cy="1682750"/>
          </a:xfrm>
          <a:custGeom>
            <a:avLst/>
            <a:gdLst/>
            <a:ahLst/>
            <a:cxnLst/>
            <a:rect l="l" t="t" r="r" b="b"/>
            <a:pathLst>
              <a:path w="5683250" h="1682750">
                <a:moveTo>
                  <a:pt x="63507" y="0"/>
                </a:moveTo>
                <a:lnTo>
                  <a:pt x="5619743" y="0"/>
                </a:lnTo>
                <a:cubicBezTo>
                  <a:pt x="5654817" y="0"/>
                  <a:pt x="5683250" y="28433"/>
                  <a:pt x="5683250" y="63507"/>
                </a:cubicBezTo>
                <a:lnTo>
                  <a:pt x="5683250" y="1619243"/>
                </a:lnTo>
                <a:cubicBezTo>
                  <a:pt x="5683250" y="1654317"/>
                  <a:pt x="5654817" y="1682750"/>
                  <a:pt x="5619743" y="1682750"/>
                </a:cubicBezTo>
                <a:lnTo>
                  <a:pt x="63507" y="1682750"/>
                </a:lnTo>
                <a:cubicBezTo>
                  <a:pt x="28433" y="1682750"/>
                  <a:pt x="0" y="1654317"/>
                  <a:pt x="0" y="1619243"/>
                </a:cubicBezTo>
                <a:lnTo>
                  <a:pt x="0" y="63507"/>
                </a:lnTo>
                <a:cubicBezTo>
                  <a:pt x="0" y="28457"/>
                  <a:pt x="28457" y="0"/>
                  <a:pt x="63507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4" name="Text 62"/>
          <p:cNvSpPr/>
          <p:nvPr/>
        </p:nvSpPr>
        <p:spPr>
          <a:xfrm>
            <a:off x="6318250" y="5000625"/>
            <a:ext cx="5500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Security Headers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22219" y="5322094"/>
            <a:ext cx="2674938" cy="515938"/>
          </a:xfrm>
          <a:custGeom>
            <a:avLst/>
            <a:gdLst/>
            <a:ahLst/>
            <a:cxnLst/>
            <a:rect l="l" t="t" r="r" b="b"/>
            <a:pathLst>
              <a:path w="2674938" h="515938">
                <a:moveTo>
                  <a:pt x="31751" y="0"/>
                </a:moveTo>
                <a:lnTo>
                  <a:pt x="2643187" y="0"/>
                </a:lnTo>
                <a:cubicBezTo>
                  <a:pt x="2660722" y="0"/>
                  <a:pt x="2674938" y="14215"/>
                  <a:pt x="2674938" y="31751"/>
                </a:cubicBezTo>
                <a:lnTo>
                  <a:pt x="2674938" y="484187"/>
                </a:lnTo>
                <a:cubicBezTo>
                  <a:pt x="2674937" y="501722"/>
                  <a:pt x="2660722" y="515938"/>
                  <a:pt x="2643187" y="515938"/>
                </a:cubicBezTo>
                <a:lnTo>
                  <a:pt x="31751" y="515938"/>
                </a:lnTo>
                <a:cubicBezTo>
                  <a:pt x="14215" y="515938"/>
                  <a:pt x="0" y="501722"/>
                  <a:pt x="0" y="48418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596187" y="5405438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7" name="Text 65"/>
          <p:cNvSpPr/>
          <p:nvPr/>
        </p:nvSpPr>
        <p:spPr>
          <a:xfrm>
            <a:off x="6357938" y="5580063"/>
            <a:ext cx="260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Helmet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068594" y="5322094"/>
            <a:ext cx="2674938" cy="515938"/>
          </a:xfrm>
          <a:custGeom>
            <a:avLst/>
            <a:gdLst/>
            <a:ahLst/>
            <a:cxnLst/>
            <a:rect l="l" t="t" r="r" b="b"/>
            <a:pathLst>
              <a:path w="2674938" h="515938">
                <a:moveTo>
                  <a:pt x="31751" y="0"/>
                </a:moveTo>
                <a:lnTo>
                  <a:pt x="2643187" y="0"/>
                </a:lnTo>
                <a:cubicBezTo>
                  <a:pt x="2660722" y="0"/>
                  <a:pt x="2674938" y="14215"/>
                  <a:pt x="2674938" y="31751"/>
                </a:cubicBezTo>
                <a:lnTo>
                  <a:pt x="2674938" y="484187"/>
                </a:lnTo>
                <a:cubicBezTo>
                  <a:pt x="2674937" y="501722"/>
                  <a:pt x="2660722" y="515938"/>
                  <a:pt x="2643187" y="515938"/>
                </a:cubicBezTo>
                <a:lnTo>
                  <a:pt x="31751" y="515938"/>
                </a:lnTo>
                <a:cubicBezTo>
                  <a:pt x="14215" y="515938"/>
                  <a:pt x="0" y="501722"/>
                  <a:pt x="0" y="48418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358438" y="5405438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0" y="15875"/>
                </a:moveTo>
                <a:cubicBezTo>
                  <a:pt x="0" y="7119"/>
                  <a:pt x="7119" y="0"/>
                  <a:pt x="15875" y="0"/>
                </a:cubicBezTo>
                <a:lnTo>
                  <a:pt x="52958" y="0"/>
                </a:lnTo>
                <a:cubicBezTo>
                  <a:pt x="57175" y="0"/>
                  <a:pt x="61218" y="1662"/>
                  <a:pt x="64195" y="4638"/>
                </a:cubicBezTo>
                <a:lnTo>
                  <a:pt x="90612" y="31080"/>
                </a:lnTo>
                <a:cubicBezTo>
                  <a:pt x="93588" y="34057"/>
                  <a:pt x="95250" y="38100"/>
                  <a:pt x="95250" y="42317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15875"/>
                </a:lnTo>
                <a:close/>
                <a:moveTo>
                  <a:pt x="51594" y="14511"/>
                </a:moveTo>
                <a:lnTo>
                  <a:pt x="51594" y="37703"/>
                </a:lnTo>
                <a:cubicBezTo>
                  <a:pt x="51594" y="41002"/>
                  <a:pt x="54248" y="43656"/>
                  <a:pt x="57547" y="43656"/>
                </a:cubicBezTo>
                <a:lnTo>
                  <a:pt x="80739" y="43656"/>
                </a:lnTo>
                <a:lnTo>
                  <a:pt x="51594" y="14511"/>
                </a:lnTo>
                <a:close/>
                <a:moveTo>
                  <a:pt x="38249" y="73323"/>
                </a:moveTo>
                <a:cubicBezTo>
                  <a:pt x="40382" y="70817"/>
                  <a:pt x="40109" y="67072"/>
                  <a:pt x="37604" y="64939"/>
                </a:cubicBezTo>
                <a:cubicBezTo>
                  <a:pt x="35099" y="62805"/>
                  <a:pt x="31353" y="63078"/>
                  <a:pt x="29220" y="65584"/>
                </a:cubicBezTo>
                <a:lnTo>
                  <a:pt x="17314" y="79474"/>
                </a:lnTo>
                <a:cubicBezTo>
                  <a:pt x="15404" y="81707"/>
                  <a:pt x="15404" y="84981"/>
                  <a:pt x="17314" y="87213"/>
                </a:cubicBezTo>
                <a:lnTo>
                  <a:pt x="29220" y="101104"/>
                </a:lnTo>
                <a:cubicBezTo>
                  <a:pt x="31353" y="103609"/>
                  <a:pt x="35123" y="103882"/>
                  <a:pt x="37604" y="101749"/>
                </a:cubicBezTo>
                <a:cubicBezTo>
                  <a:pt x="40084" y="99616"/>
                  <a:pt x="40382" y="95845"/>
                  <a:pt x="38249" y="93365"/>
                </a:cubicBezTo>
                <a:lnTo>
                  <a:pt x="29666" y="83344"/>
                </a:lnTo>
                <a:lnTo>
                  <a:pt x="38249" y="73323"/>
                </a:lnTo>
                <a:close/>
                <a:moveTo>
                  <a:pt x="66030" y="65584"/>
                </a:moveTo>
                <a:cubicBezTo>
                  <a:pt x="63897" y="63078"/>
                  <a:pt x="60127" y="62805"/>
                  <a:pt x="57646" y="64939"/>
                </a:cubicBezTo>
                <a:cubicBezTo>
                  <a:pt x="55166" y="67072"/>
                  <a:pt x="54868" y="70842"/>
                  <a:pt x="57001" y="73323"/>
                </a:cubicBezTo>
                <a:lnTo>
                  <a:pt x="65584" y="83344"/>
                </a:lnTo>
                <a:lnTo>
                  <a:pt x="57001" y="93365"/>
                </a:lnTo>
                <a:cubicBezTo>
                  <a:pt x="54868" y="95870"/>
                  <a:pt x="55141" y="99616"/>
                  <a:pt x="57646" y="101749"/>
                </a:cubicBezTo>
                <a:cubicBezTo>
                  <a:pt x="60151" y="103882"/>
                  <a:pt x="63897" y="103609"/>
                  <a:pt x="66030" y="101104"/>
                </a:cubicBezTo>
                <a:lnTo>
                  <a:pt x="77936" y="87213"/>
                </a:lnTo>
                <a:cubicBezTo>
                  <a:pt x="79846" y="84981"/>
                  <a:pt x="79846" y="81707"/>
                  <a:pt x="77936" y="79474"/>
                </a:cubicBezTo>
                <a:lnTo>
                  <a:pt x="66030" y="65584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0" name="Text 68"/>
          <p:cNvSpPr/>
          <p:nvPr/>
        </p:nvSpPr>
        <p:spPr>
          <a:xfrm>
            <a:off x="9104313" y="5580063"/>
            <a:ext cx="260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CSP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22219" y="5909469"/>
            <a:ext cx="2674938" cy="515938"/>
          </a:xfrm>
          <a:custGeom>
            <a:avLst/>
            <a:gdLst/>
            <a:ahLst/>
            <a:cxnLst/>
            <a:rect l="l" t="t" r="r" b="b"/>
            <a:pathLst>
              <a:path w="2674938" h="515938">
                <a:moveTo>
                  <a:pt x="31751" y="0"/>
                </a:moveTo>
                <a:lnTo>
                  <a:pt x="2643187" y="0"/>
                </a:lnTo>
                <a:cubicBezTo>
                  <a:pt x="2660722" y="0"/>
                  <a:pt x="2674938" y="14215"/>
                  <a:pt x="2674938" y="31751"/>
                </a:cubicBezTo>
                <a:lnTo>
                  <a:pt x="2674938" y="484187"/>
                </a:lnTo>
                <a:cubicBezTo>
                  <a:pt x="2674937" y="501722"/>
                  <a:pt x="2660722" y="515938"/>
                  <a:pt x="2643187" y="515938"/>
                </a:cubicBezTo>
                <a:lnTo>
                  <a:pt x="31751" y="515938"/>
                </a:lnTo>
                <a:cubicBezTo>
                  <a:pt x="14215" y="515938"/>
                  <a:pt x="0" y="501722"/>
                  <a:pt x="0" y="48418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612063" y="5992813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31750" y="23812"/>
                </a:moveTo>
                <a:lnTo>
                  <a:pt x="31750" y="39688"/>
                </a:lnTo>
                <a:lnTo>
                  <a:pt x="63500" y="39688"/>
                </a:lnTo>
                <a:lnTo>
                  <a:pt x="63500" y="23812"/>
                </a:lnTo>
                <a:cubicBezTo>
                  <a:pt x="63500" y="15056"/>
                  <a:pt x="56381" y="7938"/>
                  <a:pt x="47625" y="7938"/>
                </a:cubicBezTo>
                <a:cubicBezTo>
                  <a:pt x="38869" y="7938"/>
                  <a:pt x="31750" y="15056"/>
                  <a:pt x="31750" y="23812"/>
                </a:cubicBezTo>
                <a:close/>
                <a:moveTo>
                  <a:pt x="15875" y="39688"/>
                </a:moveTo>
                <a:lnTo>
                  <a:pt x="15875" y="23812"/>
                </a:lnTo>
                <a:cubicBezTo>
                  <a:pt x="15875" y="6276"/>
                  <a:pt x="30088" y="-7937"/>
                  <a:pt x="47625" y="-7937"/>
                </a:cubicBezTo>
                <a:cubicBezTo>
                  <a:pt x="65162" y="-7937"/>
                  <a:pt x="79375" y="6276"/>
                  <a:pt x="79375" y="23812"/>
                </a:cubicBezTo>
                <a:lnTo>
                  <a:pt x="79375" y="39688"/>
                </a:lnTo>
                <a:cubicBezTo>
                  <a:pt x="88131" y="39688"/>
                  <a:pt x="95250" y="46806"/>
                  <a:pt x="95250" y="55563"/>
                </a:cubicBezTo>
                <a:lnTo>
                  <a:pt x="95250" y="111125"/>
                </a:lnTo>
                <a:cubicBezTo>
                  <a:pt x="95250" y="119881"/>
                  <a:pt x="88131" y="127000"/>
                  <a:pt x="79375" y="127000"/>
                </a:cubicBezTo>
                <a:lnTo>
                  <a:pt x="15875" y="127000"/>
                </a:lnTo>
                <a:cubicBezTo>
                  <a:pt x="7119" y="127000"/>
                  <a:pt x="0" y="119881"/>
                  <a:pt x="0" y="111125"/>
                </a:cubicBezTo>
                <a:lnTo>
                  <a:pt x="0" y="55563"/>
                </a:lnTo>
                <a:cubicBezTo>
                  <a:pt x="0" y="46806"/>
                  <a:pt x="7119" y="39688"/>
                  <a:pt x="15875" y="3968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3" name="Text 71"/>
          <p:cNvSpPr/>
          <p:nvPr/>
        </p:nvSpPr>
        <p:spPr>
          <a:xfrm>
            <a:off x="6357938" y="6167438"/>
            <a:ext cx="260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HSTS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068594" y="5909469"/>
            <a:ext cx="2674938" cy="515938"/>
          </a:xfrm>
          <a:custGeom>
            <a:avLst/>
            <a:gdLst/>
            <a:ahLst/>
            <a:cxnLst/>
            <a:rect l="l" t="t" r="r" b="b"/>
            <a:pathLst>
              <a:path w="2674938" h="515938">
                <a:moveTo>
                  <a:pt x="31751" y="0"/>
                </a:moveTo>
                <a:lnTo>
                  <a:pt x="2643187" y="0"/>
                </a:lnTo>
                <a:cubicBezTo>
                  <a:pt x="2660722" y="0"/>
                  <a:pt x="2674938" y="14215"/>
                  <a:pt x="2674938" y="31751"/>
                </a:cubicBezTo>
                <a:lnTo>
                  <a:pt x="2674938" y="484187"/>
                </a:lnTo>
                <a:cubicBezTo>
                  <a:pt x="2674937" y="501722"/>
                  <a:pt x="2660722" y="515938"/>
                  <a:pt x="2643187" y="515938"/>
                </a:cubicBezTo>
                <a:lnTo>
                  <a:pt x="31751" y="515938"/>
                </a:lnTo>
                <a:cubicBezTo>
                  <a:pt x="14215" y="515938"/>
                  <a:pt x="0" y="501722"/>
                  <a:pt x="0" y="484187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342563" y="59928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7119" y="15875"/>
                  <a:pt x="0" y="22994"/>
                  <a:pt x="0" y="31750"/>
                </a:cubicBezTo>
                <a:lnTo>
                  <a:pt x="0" y="95250"/>
                </a:lnTo>
                <a:cubicBezTo>
                  <a:pt x="0" y="104006"/>
                  <a:pt x="7119" y="111125"/>
                  <a:pt x="15875" y="111125"/>
                </a:cubicBezTo>
                <a:lnTo>
                  <a:pt x="111125" y="111125"/>
                </a:lnTo>
                <a:cubicBezTo>
                  <a:pt x="119881" y="111125"/>
                  <a:pt x="127000" y="104006"/>
                  <a:pt x="127000" y="95250"/>
                </a:cubicBezTo>
                <a:lnTo>
                  <a:pt x="127000" y="31750"/>
                </a:lnTo>
                <a:cubicBezTo>
                  <a:pt x="127000" y="22994"/>
                  <a:pt x="119881" y="15875"/>
                  <a:pt x="111125" y="15875"/>
                </a:cubicBezTo>
                <a:lnTo>
                  <a:pt x="15875" y="15875"/>
                </a:lnTo>
                <a:close/>
                <a:moveTo>
                  <a:pt x="21828" y="31750"/>
                </a:moveTo>
                <a:lnTo>
                  <a:pt x="105172" y="31750"/>
                </a:lnTo>
                <a:cubicBezTo>
                  <a:pt x="108471" y="31750"/>
                  <a:pt x="111125" y="34404"/>
                  <a:pt x="111125" y="37703"/>
                </a:cubicBezTo>
                <a:cubicBezTo>
                  <a:pt x="111125" y="41002"/>
                  <a:pt x="108471" y="43656"/>
                  <a:pt x="105172" y="43656"/>
                </a:cubicBezTo>
                <a:lnTo>
                  <a:pt x="21828" y="43656"/>
                </a:lnTo>
                <a:cubicBezTo>
                  <a:pt x="18529" y="43656"/>
                  <a:pt x="15875" y="41002"/>
                  <a:pt x="15875" y="37703"/>
                </a:cubicBezTo>
                <a:cubicBezTo>
                  <a:pt x="15875" y="34404"/>
                  <a:pt x="18529" y="31750"/>
                  <a:pt x="21828" y="3175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6" name="Text 74"/>
          <p:cNvSpPr/>
          <p:nvPr/>
        </p:nvSpPr>
        <p:spPr>
          <a:xfrm>
            <a:off x="9104313" y="6167438"/>
            <a:ext cx="260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X-Frame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679" y="343679"/>
            <a:ext cx="11564786" cy="171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7" b="1" spc="47" kern="0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 FUTURE DIRECTIONS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3679" y="584254"/>
            <a:ext cx="11659298" cy="343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6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Technical Enhancements &amp; Extensions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3679" y="1065404"/>
            <a:ext cx="5644922" cy="4880237"/>
          </a:xfrm>
          <a:custGeom>
            <a:avLst/>
            <a:gdLst/>
            <a:ahLst/>
            <a:cxnLst/>
            <a:rect l="l" t="t" r="r" b="b"/>
            <a:pathLst>
              <a:path w="5644922" h="4880237">
                <a:moveTo>
                  <a:pt x="68714" y="0"/>
                </a:moveTo>
                <a:lnTo>
                  <a:pt x="5576208" y="0"/>
                </a:lnTo>
                <a:cubicBezTo>
                  <a:pt x="5614158" y="0"/>
                  <a:pt x="5644922" y="30764"/>
                  <a:pt x="5644922" y="68714"/>
                </a:cubicBezTo>
                <a:lnTo>
                  <a:pt x="5644922" y="4811523"/>
                </a:lnTo>
                <a:cubicBezTo>
                  <a:pt x="5644922" y="4849473"/>
                  <a:pt x="5614158" y="4880237"/>
                  <a:pt x="5576208" y="4880237"/>
                </a:cubicBezTo>
                <a:lnTo>
                  <a:pt x="68714" y="4880237"/>
                </a:lnTo>
                <a:cubicBezTo>
                  <a:pt x="30764" y="4880237"/>
                  <a:pt x="0" y="4849473"/>
                  <a:pt x="0" y="4811523"/>
                </a:cubicBezTo>
                <a:lnTo>
                  <a:pt x="0" y="68714"/>
                </a:lnTo>
                <a:cubicBezTo>
                  <a:pt x="0" y="30790"/>
                  <a:pt x="30790" y="0"/>
                  <a:pt x="68714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515518" y="1271611"/>
            <a:ext cx="214799" cy="171839"/>
          </a:xfrm>
          <a:custGeom>
            <a:avLst/>
            <a:gdLst/>
            <a:ahLst/>
            <a:cxnLst/>
            <a:rect l="l" t="t" r="r" b="b"/>
            <a:pathLst>
              <a:path w="214799" h="171839">
                <a:moveTo>
                  <a:pt x="139586" y="70649"/>
                </a:moveTo>
                <a:cubicBezTo>
                  <a:pt x="143680" y="69541"/>
                  <a:pt x="147976" y="71488"/>
                  <a:pt x="149822" y="75280"/>
                </a:cubicBezTo>
                <a:lnTo>
                  <a:pt x="156065" y="87900"/>
                </a:lnTo>
                <a:cubicBezTo>
                  <a:pt x="159522" y="88370"/>
                  <a:pt x="162912" y="89309"/>
                  <a:pt x="166100" y="90618"/>
                </a:cubicBezTo>
                <a:lnTo>
                  <a:pt x="177847" y="82798"/>
                </a:lnTo>
                <a:cubicBezTo>
                  <a:pt x="181371" y="80449"/>
                  <a:pt x="186036" y="80919"/>
                  <a:pt x="189023" y="83906"/>
                </a:cubicBezTo>
                <a:lnTo>
                  <a:pt x="195467" y="90350"/>
                </a:lnTo>
                <a:cubicBezTo>
                  <a:pt x="198454" y="93337"/>
                  <a:pt x="198924" y="98036"/>
                  <a:pt x="196575" y="101526"/>
                </a:cubicBezTo>
                <a:lnTo>
                  <a:pt x="188755" y="113239"/>
                </a:lnTo>
                <a:cubicBezTo>
                  <a:pt x="189392" y="114817"/>
                  <a:pt x="189963" y="116461"/>
                  <a:pt x="190433" y="118173"/>
                </a:cubicBezTo>
                <a:cubicBezTo>
                  <a:pt x="190903" y="119885"/>
                  <a:pt x="191205" y="121563"/>
                  <a:pt x="191440" y="123275"/>
                </a:cubicBezTo>
                <a:lnTo>
                  <a:pt x="204093" y="129517"/>
                </a:lnTo>
                <a:cubicBezTo>
                  <a:pt x="207885" y="131397"/>
                  <a:pt x="209832" y="135693"/>
                  <a:pt x="208724" y="139754"/>
                </a:cubicBezTo>
                <a:lnTo>
                  <a:pt x="206375" y="148547"/>
                </a:lnTo>
                <a:cubicBezTo>
                  <a:pt x="205267" y="152608"/>
                  <a:pt x="201475" y="155360"/>
                  <a:pt x="197246" y="155092"/>
                </a:cubicBezTo>
                <a:lnTo>
                  <a:pt x="183150" y="154186"/>
                </a:lnTo>
                <a:cubicBezTo>
                  <a:pt x="181035" y="156904"/>
                  <a:pt x="178585" y="159421"/>
                  <a:pt x="175800" y="161569"/>
                </a:cubicBezTo>
                <a:lnTo>
                  <a:pt x="176706" y="175632"/>
                </a:lnTo>
                <a:cubicBezTo>
                  <a:pt x="176974" y="179861"/>
                  <a:pt x="174222" y="183687"/>
                  <a:pt x="170161" y="184761"/>
                </a:cubicBezTo>
                <a:lnTo>
                  <a:pt x="161368" y="187110"/>
                </a:lnTo>
                <a:cubicBezTo>
                  <a:pt x="157273" y="188218"/>
                  <a:pt x="153011" y="186271"/>
                  <a:pt x="151131" y="182479"/>
                </a:cubicBezTo>
                <a:lnTo>
                  <a:pt x="144889" y="169859"/>
                </a:lnTo>
                <a:cubicBezTo>
                  <a:pt x="141432" y="169389"/>
                  <a:pt x="138042" y="168450"/>
                  <a:pt x="134854" y="167141"/>
                </a:cubicBezTo>
                <a:lnTo>
                  <a:pt x="123107" y="174961"/>
                </a:lnTo>
                <a:cubicBezTo>
                  <a:pt x="119583" y="177310"/>
                  <a:pt x="114918" y="176840"/>
                  <a:pt x="111930" y="173853"/>
                </a:cubicBezTo>
                <a:lnTo>
                  <a:pt x="105487" y="167409"/>
                </a:lnTo>
                <a:cubicBezTo>
                  <a:pt x="102499" y="164422"/>
                  <a:pt x="102030" y="159757"/>
                  <a:pt x="104379" y="156233"/>
                </a:cubicBezTo>
                <a:lnTo>
                  <a:pt x="112199" y="144486"/>
                </a:lnTo>
                <a:cubicBezTo>
                  <a:pt x="111561" y="142909"/>
                  <a:pt x="110991" y="141264"/>
                  <a:pt x="110521" y="139552"/>
                </a:cubicBezTo>
                <a:cubicBezTo>
                  <a:pt x="110051" y="137841"/>
                  <a:pt x="109749" y="136129"/>
                  <a:pt x="109514" y="134451"/>
                </a:cubicBezTo>
                <a:lnTo>
                  <a:pt x="96861" y="128208"/>
                </a:lnTo>
                <a:cubicBezTo>
                  <a:pt x="93068" y="126329"/>
                  <a:pt x="91155" y="122033"/>
                  <a:pt x="92229" y="117972"/>
                </a:cubicBezTo>
                <a:lnTo>
                  <a:pt x="94579" y="109178"/>
                </a:lnTo>
                <a:cubicBezTo>
                  <a:pt x="95686" y="105117"/>
                  <a:pt x="99479" y="102365"/>
                  <a:pt x="103708" y="102634"/>
                </a:cubicBezTo>
                <a:lnTo>
                  <a:pt x="117770" y="103540"/>
                </a:lnTo>
                <a:cubicBezTo>
                  <a:pt x="119885" y="100821"/>
                  <a:pt x="122335" y="98304"/>
                  <a:pt x="125121" y="96156"/>
                </a:cubicBezTo>
                <a:lnTo>
                  <a:pt x="124214" y="82127"/>
                </a:lnTo>
                <a:cubicBezTo>
                  <a:pt x="123946" y="77898"/>
                  <a:pt x="126698" y="74072"/>
                  <a:pt x="130759" y="72998"/>
                </a:cubicBezTo>
                <a:lnTo>
                  <a:pt x="139552" y="70649"/>
                </a:lnTo>
                <a:close/>
                <a:moveTo>
                  <a:pt x="150494" y="114112"/>
                </a:moveTo>
                <a:cubicBezTo>
                  <a:pt x="142343" y="114121"/>
                  <a:pt x="135734" y="120746"/>
                  <a:pt x="135743" y="128896"/>
                </a:cubicBezTo>
                <a:cubicBezTo>
                  <a:pt x="135752" y="137047"/>
                  <a:pt x="142377" y="143656"/>
                  <a:pt x="150527" y="143647"/>
                </a:cubicBezTo>
                <a:cubicBezTo>
                  <a:pt x="158678" y="143638"/>
                  <a:pt x="165287" y="137013"/>
                  <a:pt x="165278" y="128863"/>
                </a:cubicBezTo>
                <a:cubicBezTo>
                  <a:pt x="165269" y="120712"/>
                  <a:pt x="158644" y="114103"/>
                  <a:pt x="150494" y="114112"/>
                </a:cubicBezTo>
                <a:close/>
                <a:moveTo>
                  <a:pt x="75482" y="-15271"/>
                </a:moveTo>
                <a:lnTo>
                  <a:pt x="84275" y="-12922"/>
                </a:lnTo>
                <a:cubicBezTo>
                  <a:pt x="88336" y="-11814"/>
                  <a:pt x="91088" y="-7988"/>
                  <a:pt x="90820" y="-3793"/>
                </a:cubicBezTo>
                <a:lnTo>
                  <a:pt x="89914" y="10237"/>
                </a:lnTo>
                <a:cubicBezTo>
                  <a:pt x="92699" y="12385"/>
                  <a:pt x="95149" y="14868"/>
                  <a:pt x="97264" y="17620"/>
                </a:cubicBezTo>
                <a:lnTo>
                  <a:pt x="111360" y="16714"/>
                </a:lnTo>
                <a:cubicBezTo>
                  <a:pt x="115555" y="16446"/>
                  <a:pt x="119381" y="19198"/>
                  <a:pt x="120489" y="23259"/>
                </a:cubicBezTo>
                <a:lnTo>
                  <a:pt x="122838" y="32052"/>
                </a:lnTo>
                <a:cubicBezTo>
                  <a:pt x="123912" y="36113"/>
                  <a:pt x="121999" y="40409"/>
                  <a:pt x="118207" y="42289"/>
                </a:cubicBezTo>
                <a:lnTo>
                  <a:pt x="105554" y="48531"/>
                </a:lnTo>
                <a:cubicBezTo>
                  <a:pt x="105319" y="50243"/>
                  <a:pt x="104983" y="51955"/>
                  <a:pt x="104547" y="53633"/>
                </a:cubicBezTo>
                <a:cubicBezTo>
                  <a:pt x="104110" y="55311"/>
                  <a:pt x="103506" y="56989"/>
                  <a:pt x="102869" y="58566"/>
                </a:cubicBezTo>
                <a:lnTo>
                  <a:pt x="110689" y="70313"/>
                </a:lnTo>
                <a:cubicBezTo>
                  <a:pt x="113038" y="73837"/>
                  <a:pt x="112568" y="78502"/>
                  <a:pt x="109581" y="81489"/>
                </a:cubicBezTo>
                <a:lnTo>
                  <a:pt x="103137" y="87933"/>
                </a:lnTo>
                <a:cubicBezTo>
                  <a:pt x="100150" y="90920"/>
                  <a:pt x="95485" y="91390"/>
                  <a:pt x="91961" y="89041"/>
                </a:cubicBezTo>
                <a:lnTo>
                  <a:pt x="80214" y="81221"/>
                </a:lnTo>
                <a:cubicBezTo>
                  <a:pt x="77026" y="82530"/>
                  <a:pt x="73636" y="83470"/>
                  <a:pt x="70179" y="83939"/>
                </a:cubicBezTo>
                <a:lnTo>
                  <a:pt x="63936" y="96559"/>
                </a:lnTo>
                <a:cubicBezTo>
                  <a:pt x="62057" y="100351"/>
                  <a:pt x="57761" y="102265"/>
                  <a:pt x="53700" y="101191"/>
                </a:cubicBezTo>
                <a:lnTo>
                  <a:pt x="44906" y="98841"/>
                </a:lnTo>
                <a:cubicBezTo>
                  <a:pt x="40812" y="97734"/>
                  <a:pt x="38093" y="93908"/>
                  <a:pt x="38362" y="89712"/>
                </a:cubicBezTo>
                <a:lnTo>
                  <a:pt x="39268" y="75650"/>
                </a:lnTo>
                <a:cubicBezTo>
                  <a:pt x="36482" y="73502"/>
                  <a:pt x="34032" y="71018"/>
                  <a:pt x="31918" y="68266"/>
                </a:cubicBezTo>
                <a:lnTo>
                  <a:pt x="17822" y="69172"/>
                </a:lnTo>
                <a:cubicBezTo>
                  <a:pt x="13626" y="69441"/>
                  <a:pt x="9800" y="66688"/>
                  <a:pt x="8693" y="62627"/>
                </a:cubicBezTo>
                <a:lnTo>
                  <a:pt x="6343" y="53834"/>
                </a:lnTo>
                <a:cubicBezTo>
                  <a:pt x="5269" y="49773"/>
                  <a:pt x="7182" y="45477"/>
                  <a:pt x="10975" y="43598"/>
                </a:cubicBezTo>
                <a:lnTo>
                  <a:pt x="23628" y="37355"/>
                </a:lnTo>
                <a:cubicBezTo>
                  <a:pt x="23863" y="35643"/>
                  <a:pt x="24198" y="33965"/>
                  <a:pt x="24635" y="32253"/>
                </a:cubicBezTo>
                <a:cubicBezTo>
                  <a:pt x="25105" y="30542"/>
                  <a:pt x="25642" y="28897"/>
                  <a:pt x="26313" y="27320"/>
                </a:cubicBezTo>
                <a:lnTo>
                  <a:pt x="18493" y="15607"/>
                </a:lnTo>
                <a:cubicBezTo>
                  <a:pt x="16143" y="12082"/>
                  <a:pt x="16613" y="7417"/>
                  <a:pt x="19600" y="4430"/>
                </a:cubicBezTo>
                <a:lnTo>
                  <a:pt x="26044" y="-2014"/>
                </a:lnTo>
                <a:cubicBezTo>
                  <a:pt x="29031" y="-5001"/>
                  <a:pt x="33697" y="-5471"/>
                  <a:pt x="37221" y="-3121"/>
                </a:cubicBezTo>
                <a:lnTo>
                  <a:pt x="48967" y="4699"/>
                </a:lnTo>
                <a:cubicBezTo>
                  <a:pt x="52156" y="3390"/>
                  <a:pt x="55546" y="2450"/>
                  <a:pt x="59003" y="1980"/>
                </a:cubicBezTo>
                <a:lnTo>
                  <a:pt x="65245" y="-10639"/>
                </a:lnTo>
                <a:cubicBezTo>
                  <a:pt x="67125" y="-14432"/>
                  <a:pt x="71387" y="-16345"/>
                  <a:pt x="75482" y="-15271"/>
                </a:cubicBezTo>
                <a:close/>
                <a:moveTo>
                  <a:pt x="64574" y="28192"/>
                </a:moveTo>
                <a:cubicBezTo>
                  <a:pt x="56424" y="28192"/>
                  <a:pt x="49807" y="34809"/>
                  <a:pt x="49807" y="42960"/>
                </a:cubicBezTo>
                <a:cubicBezTo>
                  <a:pt x="49807" y="51110"/>
                  <a:pt x="56424" y="57727"/>
                  <a:pt x="64574" y="57727"/>
                </a:cubicBezTo>
                <a:cubicBezTo>
                  <a:pt x="72724" y="57727"/>
                  <a:pt x="79341" y="51110"/>
                  <a:pt x="79341" y="42960"/>
                </a:cubicBezTo>
                <a:cubicBezTo>
                  <a:pt x="79341" y="34809"/>
                  <a:pt x="72724" y="28192"/>
                  <a:pt x="64574" y="2819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730317" y="1237243"/>
            <a:ext cx="5172364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Technical Enhancements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2702" y="1615290"/>
            <a:ext cx="5284059" cy="962300"/>
          </a:xfrm>
          <a:custGeom>
            <a:avLst/>
            <a:gdLst/>
            <a:ahLst/>
            <a:cxnLst/>
            <a:rect l="l" t="t" r="r" b="b"/>
            <a:pathLst>
              <a:path w="5284059" h="962300">
                <a:moveTo>
                  <a:pt x="34364" y="0"/>
                </a:moveTo>
                <a:lnTo>
                  <a:pt x="5249695" y="0"/>
                </a:lnTo>
                <a:cubicBezTo>
                  <a:pt x="5268674" y="0"/>
                  <a:pt x="5284059" y="15385"/>
                  <a:pt x="5284059" y="34364"/>
                </a:cubicBezTo>
                <a:lnTo>
                  <a:pt x="5284059" y="927936"/>
                </a:lnTo>
                <a:cubicBezTo>
                  <a:pt x="5284059" y="946915"/>
                  <a:pt x="5268674" y="962300"/>
                  <a:pt x="5249695" y="962300"/>
                </a:cubicBezTo>
                <a:lnTo>
                  <a:pt x="34364" y="962300"/>
                </a:lnTo>
                <a:cubicBezTo>
                  <a:pt x="15385" y="962300"/>
                  <a:pt x="0" y="946915"/>
                  <a:pt x="0" y="927936"/>
                </a:cubicBezTo>
                <a:lnTo>
                  <a:pt x="0" y="34364"/>
                </a:lnTo>
                <a:cubicBezTo>
                  <a:pt x="0" y="15398"/>
                  <a:pt x="15398" y="0"/>
                  <a:pt x="3436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32702" y="1615290"/>
            <a:ext cx="34368" cy="962300"/>
          </a:xfrm>
          <a:custGeom>
            <a:avLst/>
            <a:gdLst/>
            <a:ahLst/>
            <a:cxnLst/>
            <a:rect l="l" t="t" r="r" b="b"/>
            <a:pathLst>
              <a:path w="34368" h="962300">
                <a:moveTo>
                  <a:pt x="34368" y="0"/>
                </a:moveTo>
                <a:lnTo>
                  <a:pt x="34368" y="0"/>
                </a:lnTo>
                <a:lnTo>
                  <a:pt x="34368" y="962300"/>
                </a:lnTo>
                <a:lnTo>
                  <a:pt x="34368" y="962300"/>
                </a:lnTo>
                <a:cubicBezTo>
                  <a:pt x="15387" y="962300"/>
                  <a:pt x="0" y="946913"/>
                  <a:pt x="0" y="927932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Shape 7"/>
          <p:cNvSpPr/>
          <p:nvPr/>
        </p:nvSpPr>
        <p:spPr>
          <a:xfrm>
            <a:off x="704541" y="1787129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32220" y="15036"/>
                </a:moveTo>
                <a:cubicBezTo>
                  <a:pt x="32220" y="6739"/>
                  <a:pt x="38959" y="0"/>
                  <a:pt x="47256" y="0"/>
                </a:cubicBezTo>
                <a:lnTo>
                  <a:pt x="53700" y="0"/>
                </a:lnTo>
                <a:cubicBezTo>
                  <a:pt x="58452" y="0"/>
                  <a:pt x="62292" y="3840"/>
                  <a:pt x="62292" y="8592"/>
                </a:cubicBezTo>
                <a:lnTo>
                  <a:pt x="62292" y="128879"/>
                </a:lnTo>
                <a:cubicBezTo>
                  <a:pt x="62292" y="133632"/>
                  <a:pt x="58452" y="137471"/>
                  <a:pt x="53700" y="137471"/>
                </a:cubicBezTo>
                <a:lnTo>
                  <a:pt x="45108" y="137471"/>
                </a:lnTo>
                <a:cubicBezTo>
                  <a:pt x="37107" y="137471"/>
                  <a:pt x="30367" y="131994"/>
                  <a:pt x="28461" y="124584"/>
                </a:cubicBezTo>
                <a:cubicBezTo>
                  <a:pt x="28273" y="124584"/>
                  <a:pt x="28112" y="124584"/>
                  <a:pt x="27924" y="124584"/>
                </a:cubicBezTo>
                <a:cubicBezTo>
                  <a:pt x="16056" y="124584"/>
                  <a:pt x="6444" y="114971"/>
                  <a:pt x="6444" y="103104"/>
                </a:cubicBezTo>
                <a:cubicBezTo>
                  <a:pt x="6444" y="98271"/>
                  <a:pt x="8055" y="93814"/>
                  <a:pt x="10740" y="90216"/>
                </a:cubicBezTo>
                <a:cubicBezTo>
                  <a:pt x="5531" y="86296"/>
                  <a:pt x="2148" y="80066"/>
                  <a:pt x="2148" y="73032"/>
                </a:cubicBezTo>
                <a:cubicBezTo>
                  <a:pt x="2148" y="64735"/>
                  <a:pt x="6874" y="57512"/>
                  <a:pt x="13747" y="53941"/>
                </a:cubicBezTo>
                <a:cubicBezTo>
                  <a:pt x="11841" y="50719"/>
                  <a:pt x="10740" y="46960"/>
                  <a:pt x="10740" y="42960"/>
                </a:cubicBezTo>
                <a:cubicBezTo>
                  <a:pt x="10740" y="31092"/>
                  <a:pt x="20352" y="21480"/>
                  <a:pt x="32220" y="21480"/>
                </a:cubicBezTo>
                <a:lnTo>
                  <a:pt x="32220" y="15036"/>
                </a:lnTo>
                <a:close/>
                <a:moveTo>
                  <a:pt x="105252" y="15036"/>
                </a:moveTo>
                <a:lnTo>
                  <a:pt x="105252" y="21480"/>
                </a:lnTo>
                <a:cubicBezTo>
                  <a:pt x="117119" y="21480"/>
                  <a:pt x="126732" y="31092"/>
                  <a:pt x="126732" y="42960"/>
                </a:cubicBezTo>
                <a:cubicBezTo>
                  <a:pt x="126732" y="46987"/>
                  <a:pt x="125631" y="50746"/>
                  <a:pt x="123724" y="53941"/>
                </a:cubicBezTo>
                <a:cubicBezTo>
                  <a:pt x="130625" y="57512"/>
                  <a:pt x="135323" y="64708"/>
                  <a:pt x="135323" y="73032"/>
                </a:cubicBezTo>
                <a:cubicBezTo>
                  <a:pt x="135323" y="80066"/>
                  <a:pt x="131940" y="86296"/>
                  <a:pt x="126732" y="90216"/>
                </a:cubicBezTo>
                <a:cubicBezTo>
                  <a:pt x="129416" y="93814"/>
                  <a:pt x="131027" y="98271"/>
                  <a:pt x="131027" y="103104"/>
                </a:cubicBezTo>
                <a:cubicBezTo>
                  <a:pt x="131027" y="114971"/>
                  <a:pt x="121415" y="124584"/>
                  <a:pt x="109548" y="124584"/>
                </a:cubicBezTo>
                <a:cubicBezTo>
                  <a:pt x="109360" y="124584"/>
                  <a:pt x="109199" y="124584"/>
                  <a:pt x="109011" y="124584"/>
                </a:cubicBezTo>
                <a:cubicBezTo>
                  <a:pt x="107104" y="131994"/>
                  <a:pt x="100365" y="137471"/>
                  <a:pt x="92364" y="137471"/>
                </a:cubicBezTo>
                <a:lnTo>
                  <a:pt x="83772" y="137471"/>
                </a:lnTo>
                <a:cubicBezTo>
                  <a:pt x="79019" y="137471"/>
                  <a:pt x="75180" y="133632"/>
                  <a:pt x="75180" y="128879"/>
                </a:cubicBezTo>
                <a:lnTo>
                  <a:pt x="75180" y="8592"/>
                </a:lnTo>
                <a:cubicBezTo>
                  <a:pt x="75180" y="3840"/>
                  <a:pt x="79019" y="0"/>
                  <a:pt x="83772" y="0"/>
                </a:cubicBezTo>
                <a:lnTo>
                  <a:pt x="90216" y="0"/>
                </a:lnTo>
                <a:cubicBezTo>
                  <a:pt x="98512" y="0"/>
                  <a:pt x="105252" y="6739"/>
                  <a:pt x="105252" y="1503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27932" y="1752761"/>
            <a:ext cx="1537962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Advanced Orchestration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7357" y="2027704"/>
            <a:ext cx="5060668" cy="41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Reinforcement learning for dynamic agent coordination based on query complexity and agent performance history.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2702" y="2680693"/>
            <a:ext cx="5284059" cy="962300"/>
          </a:xfrm>
          <a:custGeom>
            <a:avLst/>
            <a:gdLst/>
            <a:ahLst/>
            <a:cxnLst/>
            <a:rect l="l" t="t" r="r" b="b"/>
            <a:pathLst>
              <a:path w="5284059" h="962300">
                <a:moveTo>
                  <a:pt x="34364" y="0"/>
                </a:moveTo>
                <a:lnTo>
                  <a:pt x="5249695" y="0"/>
                </a:lnTo>
                <a:cubicBezTo>
                  <a:pt x="5268674" y="0"/>
                  <a:pt x="5284059" y="15385"/>
                  <a:pt x="5284059" y="34364"/>
                </a:cubicBezTo>
                <a:lnTo>
                  <a:pt x="5284059" y="927936"/>
                </a:lnTo>
                <a:cubicBezTo>
                  <a:pt x="5284059" y="946915"/>
                  <a:pt x="5268674" y="962300"/>
                  <a:pt x="5249695" y="962300"/>
                </a:cubicBezTo>
                <a:lnTo>
                  <a:pt x="34364" y="962300"/>
                </a:lnTo>
                <a:cubicBezTo>
                  <a:pt x="15385" y="962300"/>
                  <a:pt x="0" y="946915"/>
                  <a:pt x="0" y="927936"/>
                </a:cubicBezTo>
                <a:lnTo>
                  <a:pt x="0" y="34364"/>
                </a:lnTo>
                <a:cubicBezTo>
                  <a:pt x="0" y="15398"/>
                  <a:pt x="15398" y="0"/>
                  <a:pt x="3436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32702" y="2680693"/>
            <a:ext cx="34368" cy="962300"/>
          </a:xfrm>
          <a:custGeom>
            <a:avLst/>
            <a:gdLst/>
            <a:ahLst/>
            <a:cxnLst/>
            <a:rect l="l" t="t" r="r" b="b"/>
            <a:pathLst>
              <a:path w="34368" h="962300">
                <a:moveTo>
                  <a:pt x="34368" y="0"/>
                </a:moveTo>
                <a:lnTo>
                  <a:pt x="34368" y="0"/>
                </a:lnTo>
                <a:lnTo>
                  <a:pt x="34368" y="962300"/>
                </a:lnTo>
                <a:lnTo>
                  <a:pt x="34368" y="962300"/>
                </a:lnTo>
                <a:cubicBezTo>
                  <a:pt x="15387" y="962300"/>
                  <a:pt x="0" y="946913"/>
                  <a:pt x="0" y="927932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541" y="2852533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47256" y="6444"/>
                </a:moveTo>
                <a:cubicBezTo>
                  <a:pt x="47256" y="2873"/>
                  <a:pt x="44383" y="0"/>
                  <a:pt x="40812" y="0"/>
                </a:cubicBezTo>
                <a:cubicBezTo>
                  <a:pt x="37241" y="0"/>
                  <a:pt x="34368" y="2873"/>
                  <a:pt x="34368" y="6444"/>
                </a:cubicBezTo>
                <a:lnTo>
                  <a:pt x="34368" y="17184"/>
                </a:lnTo>
                <a:cubicBezTo>
                  <a:pt x="24890" y="17184"/>
                  <a:pt x="17184" y="24890"/>
                  <a:pt x="17184" y="34368"/>
                </a:cubicBezTo>
                <a:lnTo>
                  <a:pt x="6444" y="34368"/>
                </a:lnTo>
                <a:cubicBezTo>
                  <a:pt x="2873" y="34368"/>
                  <a:pt x="0" y="37241"/>
                  <a:pt x="0" y="40812"/>
                </a:cubicBezTo>
                <a:cubicBezTo>
                  <a:pt x="0" y="44383"/>
                  <a:pt x="2873" y="47256"/>
                  <a:pt x="6444" y="47256"/>
                </a:cubicBezTo>
                <a:lnTo>
                  <a:pt x="17184" y="47256"/>
                </a:lnTo>
                <a:lnTo>
                  <a:pt x="17184" y="62292"/>
                </a:lnTo>
                <a:lnTo>
                  <a:pt x="6444" y="62292"/>
                </a:lnTo>
                <a:cubicBezTo>
                  <a:pt x="2873" y="62292"/>
                  <a:pt x="0" y="65165"/>
                  <a:pt x="0" y="68736"/>
                </a:cubicBezTo>
                <a:cubicBezTo>
                  <a:pt x="0" y="72307"/>
                  <a:pt x="2873" y="75180"/>
                  <a:pt x="6444" y="75180"/>
                </a:cubicBezTo>
                <a:lnTo>
                  <a:pt x="17184" y="75180"/>
                </a:lnTo>
                <a:lnTo>
                  <a:pt x="17184" y="90216"/>
                </a:lnTo>
                <a:lnTo>
                  <a:pt x="6444" y="90216"/>
                </a:lnTo>
                <a:cubicBezTo>
                  <a:pt x="2873" y="90216"/>
                  <a:pt x="0" y="93089"/>
                  <a:pt x="0" y="96660"/>
                </a:cubicBezTo>
                <a:cubicBezTo>
                  <a:pt x="0" y="100231"/>
                  <a:pt x="2873" y="103104"/>
                  <a:pt x="6444" y="103104"/>
                </a:cubicBezTo>
                <a:lnTo>
                  <a:pt x="17184" y="103104"/>
                </a:lnTo>
                <a:cubicBezTo>
                  <a:pt x="17184" y="112582"/>
                  <a:pt x="24890" y="120288"/>
                  <a:pt x="34368" y="120288"/>
                </a:cubicBezTo>
                <a:lnTo>
                  <a:pt x="34368" y="131027"/>
                </a:lnTo>
                <a:cubicBezTo>
                  <a:pt x="34368" y="134599"/>
                  <a:pt x="37241" y="137471"/>
                  <a:pt x="40812" y="137471"/>
                </a:cubicBezTo>
                <a:cubicBezTo>
                  <a:pt x="44383" y="137471"/>
                  <a:pt x="47256" y="134599"/>
                  <a:pt x="47256" y="131027"/>
                </a:cubicBezTo>
                <a:lnTo>
                  <a:pt x="47256" y="120288"/>
                </a:lnTo>
                <a:lnTo>
                  <a:pt x="62292" y="120288"/>
                </a:lnTo>
                <a:lnTo>
                  <a:pt x="62292" y="131027"/>
                </a:lnTo>
                <a:cubicBezTo>
                  <a:pt x="62292" y="134599"/>
                  <a:pt x="65165" y="137471"/>
                  <a:pt x="68736" y="137471"/>
                </a:cubicBezTo>
                <a:cubicBezTo>
                  <a:pt x="72307" y="137471"/>
                  <a:pt x="75180" y="134599"/>
                  <a:pt x="75180" y="131027"/>
                </a:cubicBezTo>
                <a:lnTo>
                  <a:pt x="75180" y="120288"/>
                </a:lnTo>
                <a:lnTo>
                  <a:pt x="90216" y="120288"/>
                </a:lnTo>
                <a:lnTo>
                  <a:pt x="90216" y="131027"/>
                </a:lnTo>
                <a:cubicBezTo>
                  <a:pt x="90216" y="134599"/>
                  <a:pt x="93089" y="137471"/>
                  <a:pt x="96660" y="137471"/>
                </a:cubicBezTo>
                <a:cubicBezTo>
                  <a:pt x="100231" y="137471"/>
                  <a:pt x="103104" y="134599"/>
                  <a:pt x="103104" y="131027"/>
                </a:cubicBezTo>
                <a:lnTo>
                  <a:pt x="103104" y="120288"/>
                </a:lnTo>
                <a:cubicBezTo>
                  <a:pt x="112582" y="120288"/>
                  <a:pt x="120288" y="112582"/>
                  <a:pt x="120288" y="103104"/>
                </a:cubicBezTo>
                <a:lnTo>
                  <a:pt x="131027" y="103104"/>
                </a:lnTo>
                <a:cubicBezTo>
                  <a:pt x="134599" y="103104"/>
                  <a:pt x="137471" y="100231"/>
                  <a:pt x="137471" y="96660"/>
                </a:cubicBezTo>
                <a:cubicBezTo>
                  <a:pt x="137471" y="93089"/>
                  <a:pt x="134599" y="90216"/>
                  <a:pt x="131027" y="90216"/>
                </a:cubicBezTo>
                <a:lnTo>
                  <a:pt x="120288" y="90216"/>
                </a:lnTo>
                <a:lnTo>
                  <a:pt x="120288" y="75180"/>
                </a:lnTo>
                <a:lnTo>
                  <a:pt x="131027" y="75180"/>
                </a:lnTo>
                <a:cubicBezTo>
                  <a:pt x="134599" y="75180"/>
                  <a:pt x="137471" y="72307"/>
                  <a:pt x="137471" y="68736"/>
                </a:cubicBezTo>
                <a:cubicBezTo>
                  <a:pt x="137471" y="65165"/>
                  <a:pt x="134599" y="62292"/>
                  <a:pt x="131027" y="62292"/>
                </a:cubicBezTo>
                <a:lnTo>
                  <a:pt x="120288" y="62292"/>
                </a:lnTo>
                <a:lnTo>
                  <a:pt x="120288" y="47256"/>
                </a:lnTo>
                <a:lnTo>
                  <a:pt x="131027" y="47256"/>
                </a:lnTo>
                <a:cubicBezTo>
                  <a:pt x="134599" y="47256"/>
                  <a:pt x="137471" y="44383"/>
                  <a:pt x="137471" y="40812"/>
                </a:cubicBezTo>
                <a:cubicBezTo>
                  <a:pt x="137471" y="37241"/>
                  <a:pt x="134599" y="34368"/>
                  <a:pt x="131027" y="34368"/>
                </a:cubicBezTo>
                <a:lnTo>
                  <a:pt x="120288" y="34368"/>
                </a:lnTo>
                <a:cubicBezTo>
                  <a:pt x="120288" y="24890"/>
                  <a:pt x="112582" y="17184"/>
                  <a:pt x="103104" y="17184"/>
                </a:cubicBezTo>
                <a:lnTo>
                  <a:pt x="103104" y="6444"/>
                </a:lnTo>
                <a:cubicBezTo>
                  <a:pt x="103104" y="2873"/>
                  <a:pt x="100231" y="0"/>
                  <a:pt x="96660" y="0"/>
                </a:cubicBezTo>
                <a:cubicBezTo>
                  <a:pt x="93089" y="0"/>
                  <a:pt x="90216" y="2873"/>
                  <a:pt x="90216" y="6444"/>
                </a:cubicBezTo>
                <a:lnTo>
                  <a:pt x="90216" y="17184"/>
                </a:lnTo>
                <a:lnTo>
                  <a:pt x="75180" y="17184"/>
                </a:lnTo>
                <a:lnTo>
                  <a:pt x="75180" y="6444"/>
                </a:lnTo>
                <a:cubicBezTo>
                  <a:pt x="75180" y="2873"/>
                  <a:pt x="72307" y="0"/>
                  <a:pt x="68736" y="0"/>
                </a:cubicBezTo>
                <a:cubicBezTo>
                  <a:pt x="65165" y="0"/>
                  <a:pt x="62292" y="2873"/>
                  <a:pt x="62292" y="6444"/>
                </a:cubicBezTo>
                <a:lnTo>
                  <a:pt x="62292" y="17184"/>
                </a:lnTo>
                <a:lnTo>
                  <a:pt x="47256" y="17184"/>
                </a:lnTo>
                <a:lnTo>
                  <a:pt x="47256" y="6444"/>
                </a:lnTo>
                <a:close/>
                <a:moveTo>
                  <a:pt x="42960" y="34368"/>
                </a:moveTo>
                <a:lnTo>
                  <a:pt x="94512" y="34368"/>
                </a:lnTo>
                <a:cubicBezTo>
                  <a:pt x="99264" y="34368"/>
                  <a:pt x="103104" y="38207"/>
                  <a:pt x="103104" y="42960"/>
                </a:cubicBezTo>
                <a:lnTo>
                  <a:pt x="103104" y="94512"/>
                </a:lnTo>
                <a:cubicBezTo>
                  <a:pt x="103104" y="99264"/>
                  <a:pt x="99264" y="103104"/>
                  <a:pt x="94512" y="103104"/>
                </a:cubicBezTo>
                <a:lnTo>
                  <a:pt x="42960" y="103104"/>
                </a:lnTo>
                <a:cubicBezTo>
                  <a:pt x="38207" y="103104"/>
                  <a:pt x="34368" y="99264"/>
                  <a:pt x="34368" y="94512"/>
                </a:cubicBezTo>
                <a:lnTo>
                  <a:pt x="34368" y="42960"/>
                </a:lnTo>
                <a:cubicBezTo>
                  <a:pt x="34368" y="38207"/>
                  <a:pt x="38207" y="34368"/>
                  <a:pt x="42960" y="34368"/>
                </a:cubicBezTo>
                <a:close/>
                <a:moveTo>
                  <a:pt x="47256" y="47256"/>
                </a:moveTo>
                <a:lnTo>
                  <a:pt x="47256" y="90216"/>
                </a:lnTo>
                <a:lnTo>
                  <a:pt x="90216" y="90216"/>
                </a:lnTo>
                <a:lnTo>
                  <a:pt x="90216" y="47256"/>
                </a:lnTo>
                <a:lnTo>
                  <a:pt x="47256" y="47256"/>
                </a:ln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5" name="Text 13"/>
          <p:cNvSpPr/>
          <p:nvPr/>
        </p:nvSpPr>
        <p:spPr>
          <a:xfrm>
            <a:off x="927932" y="2818165"/>
            <a:ext cx="1305979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Model Specialization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7357" y="3093108"/>
            <a:ext cx="5060668" cy="41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Fine-tuning smaller models for specific financial tasks to reduce latency and improve domain expertise.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2702" y="3746097"/>
            <a:ext cx="5284059" cy="962300"/>
          </a:xfrm>
          <a:custGeom>
            <a:avLst/>
            <a:gdLst/>
            <a:ahLst/>
            <a:cxnLst/>
            <a:rect l="l" t="t" r="r" b="b"/>
            <a:pathLst>
              <a:path w="5284059" h="962300">
                <a:moveTo>
                  <a:pt x="34364" y="0"/>
                </a:moveTo>
                <a:lnTo>
                  <a:pt x="5249695" y="0"/>
                </a:lnTo>
                <a:cubicBezTo>
                  <a:pt x="5268674" y="0"/>
                  <a:pt x="5284059" y="15385"/>
                  <a:pt x="5284059" y="34364"/>
                </a:cubicBezTo>
                <a:lnTo>
                  <a:pt x="5284059" y="927936"/>
                </a:lnTo>
                <a:cubicBezTo>
                  <a:pt x="5284059" y="946915"/>
                  <a:pt x="5268674" y="962300"/>
                  <a:pt x="5249695" y="962300"/>
                </a:cubicBezTo>
                <a:lnTo>
                  <a:pt x="34364" y="962300"/>
                </a:lnTo>
                <a:cubicBezTo>
                  <a:pt x="15385" y="962300"/>
                  <a:pt x="0" y="946915"/>
                  <a:pt x="0" y="927936"/>
                </a:cubicBezTo>
                <a:lnTo>
                  <a:pt x="0" y="34364"/>
                </a:lnTo>
                <a:cubicBezTo>
                  <a:pt x="0" y="15398"/>
                  <a:pt x="15398" y="0"/>
                  <a:pt x="3436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32702" y="3746097"/>
            <a:ext cx="34368" cy="962300"/>
          </a:xfrm>
          <a:custGeom>
            <a:avLst/>
            <a:gdLst/>
            <a:ahLst/>
            <a:cxnLst/>
            <a:rect l="l" t="t" r="r" b="b"/>
            <a:pathLst>
              <a:path w="34368" h="962300">
                <a:moveTo>
                  <a:pt x="34368" y="0"/>
                </a:moveTo>
                <a:lnTo>
                  <a:pt x="34368" y="0"/>
                </a:lnTo>
                <a:lnTo>
                  <a:pt x="34368" y="962300"/>
                </a:lnTo>
                <a:lnTo>
                  <a:pt x="34368" y="962300"/>
                </a:lnTo>
                <a:cubicBezTo>
                  <a:pt x="15387" y="962300"/>
                  <a:pt x="0" y="946913"/>
                  <a:pt x="0" y="927932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9" name="Shape 17"/>
          <p:cNvSpPr/>
          <p:nvPr/>
        </p:nvSpPr>
        <p:spPr>
          <a:xfrm>
            <a:off x="695949" y="3917937"/>
            <a:ext cx="154655" cy="137471"/>
          </a:xfrm>
          <a:custGeom>
            <a:avLst/>
            <a:gdLst/>
            <a:ahLst/>
            <a:cxnLst/>
            <a:rect l="l" t="t" r="r" b="b"/>
            <a:pathLst>
              <a:path w="154655" h="137471">
                <a:moveTo>
                  <a:pt x="66588" y="23628"/>
                </a:moveTo>
                <a:lnTo>
                  <a:pt x="88068" y="23628"/>
                </a:lnTo>
                <a:lnTo>
                  <a:pt x="88068" y="36516"/>
                </a:lnTo>
                <a:lnTo>
                  <a:pt x="66588" y="36516"/>
                </a:lnTo>
                <a:lnTo>
                  <a:pt x="66588" y="23628"/>
                </a:lnTo>
                <a:close/>
                <a:moveTo>
                  <a:pt x="64440" y="8592"/>
                </a:moveTo>
                <a:cubicBezTo>
                  <a:pt x="57325" y="8592"/>
                  <a:pt x="51552" y="14365"/>
                  <a:pt x="51552" y="21480"/>
                </a:cubicBezTo>
                <a:lnTo>
                  <a:pt x="51552" y="38664"/>
                </a:lnTo>
                <a:cubicBezTo>
                  <a:pt x="51552" y="45779"/>
                  <a:pt x="57325" y="51552"/>
                  <a:pt x="64440" y="51552"/>
                </a:cubicBezTo>
                <a:lnTo>
                  <a:pt x="68736" y="51552"/>
                </a:lnTo>
                <a:lnTo>
                  <a:pt x="68736" y="60144"/>
                </a:lnTo>
                <a:lnTo>
                  <a:pt x="8592" y="60144"/>
                </a:lnTo>
                <a:cubicBezTo>
                  <a:pt x="3840" y="60144"/>
                  <a:pt x="0" y="63983"/>
                  <a:pt x="0" y="68736"/>
                </a:cubicBezTo>
                <a:cubicBezTo>
                  <a:pt x="0" y="73488"/>
                  <a:pt x="3840" y="77328"/>
                  <a:pt x="8592" y="77328"/>
                </a:cubicBezTo>
                <a:lnTo>
                  <a:pt x="34368" y="77328"/>
                </a:lnTo>
                <a:lnTo>
                  <a:pt x="34368" y="85920"/>
                </a:lnTo>
                <a:lnTo>
                  <a:pt x="30072" y="85920"/>
                </a:lnTo>
                <a:cubicBezTo>
                  <a:pt x="22957" y="85920"/>
                  <a:pt x="17184" y="91692"/>
                  <a:pt x="17184" y="98808"/>
                </a:cubicBezTo>
                <a:lnTo>
                  <a:pt x="17184" y="115992"/>
                </a:lnTo>
                <a:cubicBezTo>
                  <a:pt x="17184" y="123107"/>
                  <a:pt x="22957" y="128879"/>
                  <a:pt x="30072" y="128879"/>
                </a:cubicBezTo>
                <a:lnTo>
                  <a:pt x="55848" y="128879"/>
                </a:lnTo>
                <a:cubicBezTo>
                  <a:pt x="62963" y="128879"/>
                  <a:pt x="68736" y="123107"/>
                  <a:pt x="68736" y="115992"/>
                </a:cubicBezTo>
                <a:lnTo>
                  <a:pt x="68736" y="98808"/>
                </a:lnTo>
                <a:cubicBezTo>
                  <a:pt x="68736" y="91692"/>
                  <a:pt x="62963" y="85920"/>
                  <a:pt x="55848" y="85920"/>
                </a:cubicBezTo>
                <a:lnTo>
                  <a:pt x="51552" y="85920"/>
                </a:lnTo>
                <a:lnTo>
                  <a:pt x="51552" y="77328"/>
                </a:lnTo>
                <a:lnTo>
                  <a:pt x="103104" y="77328"/>
                </a:lnTo>
                <a:lnTo>
                  <a:pt x="103104" y="85920"/>
                </a:lnTo>
                <a:lnTo>
                  <a:pt x="98808" y="85920"/>
                </a:lnTo>
                <a:cubicBezTo>
                  <a:pt x="91692" y="85920"/>
                  <a:pt x="85920" y="91692"/>
                  <a:pt x="85920" y="98808"/>
                </a:cubicBezTo>
                <a:lnTo>
                  <a:pt x="85920" y="115992"/>
                </a:lnTo>
                <a:cubicBezTo>
                  <a:pt x="85920" y="123107"/>
                  <a:pt x="91692" y="128879"/>
                  <a:pt x="98808" y="128879"/>
                </a:cubicBezTo>
                <a:lnTo>
                  <a:pt x="124584" y="128879"/>
                </a:lnTo>
                <a:cubicBezTo>
                  <a:pt x="131699" y="128879"/>
                  <a:pt x="137471" y="123107"/>
                  <a:pt x="137471" y="115992"/>
                </a:cubicBezTo>
                <a:lnTo>
                  <a:pt x="137471" y="98808"/>
                </a:lnTo>
                <a:cubicBezTo>
                  <a:pt x="137471" y="91692"/>
                  <a:pt x="131699" y="85920"/>
                  <a:pt x="124584" y="85920"/>
                </a:cubicBezTo>
                <a:lnTo>
                  <a:pt x="120288" y="85920"/>
                </a:lnTo>
                <a:lnTo>
                  <a:pt x="120288" y="77328"/>
                </a:lnTo>
                <a:lnTo>
                  <a:pt x="146063" y="77328"/>
                </a:lnTo>
                <a:cubicBezTo>
                  <a:pt x="150816" y="77328"/>
                  <a:pt x="154655" y="73488"/>
                  <a:pt x="154655" y="68736"/>
                </a:cubicBezTo>
                <a:cubicBezTo>
                  <a:pt x="154655" y="63983"/>
                  <a:pt x="150816" y="60144"/>
                  <a:pt x="146063" y="60144"/>
                </a:cubicBezTo>
                <a:lnTo>
                  <a:pt x="85920" y="60144"/>
                </a:lnTo>
                <a:lnTo>
                  <a:pt x="85920" y="51552"/>
                </a:lnTo>
                <a:lnTo>
                  <a:pt x="90216" y="51552"/>
                </a:lnTo>
                <a:cubicBezTo>
                  <a:pt x="97331" y="51552"/>
                  <a:pt x="103104" y="45779"/>
                  <a:pt x="103104" y="38664"/>
                </a:cubicBezTo>
                <a:lnTo>
                  <a:pt x="103104" y="21480"/>
                </a:lnTo>
                <a:cubicBezTo>
                  <a:pt x="103104" y="14365"/>
                  <a:pt x="97331" y="8592"/>
                  <a:pt x="90216" y="8592"/>
                </a:cubicBezTo>
                <a:lnTo>
                  <a:pt x="64440" y="8592"/>
                </a:lnTo>
                <a:close/>
                <a:moveTo>
                  <a:pt x="120288" y="100956"/>
                </a:moveTo>
                <a:lnTo>
                  <a:pt x="122436" y="100956"/>
                </a:lnTo>
                <a:lnTo>
                  <a:pt x="122436" y="113844"/>
                </a:lnTo>
                <a:lnTo>
                  <a:pt x="100956" y="113844"/>
                </a:lnTo>
                <a:lnTo>
                  <a:pt x="100956" y="100956"/>
                </a:lnTo>
                <a:lnTo>
                  <a:pt x="120288" y="100956"/>
                </a:lnTo>
                <a:close/>
                <a:moveTo>
                  <a:pt x="51552" y="100956"/>
                </a:moveTo>
                <a:lnTo>
                  <a:pt x="53700" y="100956"/>
                </a:lnTo>
                <a:lnTo>
                  <a:pt x="53700" y="113844"/>
                </a:lnTo>
                <a:lnTo>
                  <a:pt x="32220" y="113844"/>
                </a:lnTo>
                <a:lnTo>
                  <a:pt x="32220" y="100956"/>
                </a:lnTo>
                <a:lnTo>
                  <a:pt x="51552" y="100956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927932" y="3883569"/>
            <a:ext cx="1211467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Federated Learning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7357" y="4158512"/>
            <a:ext cx="5060668" cy="41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Privacy-preserving model updates using decentralized user data without centralizing sensitive information.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32702" y="4811501"/>
            <a:ext cx="5284059" cy="962300"/>
          </a:xfrm>
          <a:custGeom>
            <a:avLst/>
            <a:gdLst/>
            <a:ahLst/>
            <a:cxnLst/>
            <a:rect l="l" t="t" r="r" b="b"/>
            <a:pathLst>
              <a:path w="5284059" h="962300">
                <a:moveTo>
                  <a:pt x="34364" y="0"/>
                </a:moveTo>
                <a:lnTo>
                  <a:pt x="5249695" y="0"/>
                </a:lnTo>
                <a:cubicBezTo>
                  <a:pt x="5268674" y="0"/>
                  <a:pt x="5284059" y="15385"/>
                  <a:pt x="5284059" y="34364"/>
                </a:cubicBezTo>
                <a:lnTo>
                  <a:pt x="5284059" y="927936"/>
                </a:lnTo>
                <a:cubicBezTo>
                  <a:pt x="5284059" y="946915"/>
                  <a:pt x="5268674" y="962300"/>
                  <a:pt x="5249695" y="962300"/>
                </a:cubicBezTo>
                <a:lnTo>
                  <a:pt x="34364" y="962300"/>
                </a:lnTo>
                <a:cubicBezTo>
                  <a:pt x="15385" y="962300"/>
                  <a:pt x="0" y="946915"/>
                  <a:pt x="0" y="927936"/>
                </a:cubicBezTo>
                <a:lnTo>
                  <a:pt x="0" y="34364"/>
                </a:lnTo>
                <a:cubicBezTo>
                  <a:pt x="0" y="15398"/>
                  <a:pt x="15398" y="0"/>
                  <a:pt x="3436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32702" y="4811501"/>
            <a:ext cx="34368" cy="962300"/>
          </a:xfrm>
          <a:custGeom>
            <a:avLst/>
            <a:gdLst/>
            <a:ahLst/>
            <a:cxnLst/>
            <a:rect l="l" t="t" r="r" b="b"/>
            <a:pathLst>
              <a:path w="34368" h="962300">
                <a:moveTo>
                  <a:pt x="34368" y="0"/>
                </a:moveTo>
                <a:lnTo>
                  <a:pt x="34368" y="0"/>
                </a:lnTo>
                <a:lnTo>
                  <a:pt x="34368" y="962300"/>
                </a:lnTo>
                <a:lnTo>
                  <a:pt x="34368" y="962300"/>
                </a:lnTo>
                <a:cubicBezTo>
                  <a:pt x="15387" y="962300"/>
                  <a:pt x="0" y="946913"/>
                  <a:pt x="0" y="927932"/>
                </a:cubicBezTo>
                <a:lnTo>
                  <a:pt x="0" y="34368"/>
                </a:lnTo>
                <a:cubicBezTo>
                  <a:pt x="0" y="15400"/>
                  <a:pt x="15400" y="0"/>
                  <a:pt x="3436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721725" y="4983340"/>
            <a:ext cx="103104" cy="137471"/>
          </a:xfrm>
          <a:custGeom>
            <a:avLst/>
            <a:gdLst/>
            <a:ahLst/>
            <a:cxnLst/>
            <a:rect l="l" t="t" r="r" b="b"/>
            <a:pathLst>
              <a:path w="103104" h="137471">
                <a:moveTo>
                  <a:pt x="78643" y="103104"/>
                </a:moveTo>
                <a:cubicBezTo>
                  <a:pt x="80603" y="97116"/>
                  <a:pt x="84523" y="91692"/>
                  <a:pt x="88954" y="87021"/>
                </a:cubicBezTo>
                <a:cubicBezTo>
                  <a:pt x="97734" y="77784"/>
                  <a:pt x="103104" y="65299"/>
                  <a:pt x="103104" y="51552"/>
                </a:cubicBezTo>
                <a:cubicBezTo>
                  <a:pt x="103104" y="23091"/>
                  <a:pt x="80013" y="0"/>
                  <a:pt x="51552" y="0"/>
                </a:cubicBezTo>
                <a:cubicBezTo>
                  <a:pt x="23091" y="0"/>
                  <a:pt x="0" y="23091"/>
                  <a:pt x="0" y="51552"/>
                </a:cubicBezTo>
                <a:cubicBezTo>
                  <a:pt x="0" y="65299"/>
                  <a:pt x="5370" y="77784"/>
                  <a:pt x="14150" y="87021"/>
                </a:cubicBezTo>
                <a:cubicBezTo>
                  <a:pt x="18580" y="91692"/>
                  <a:pt x="22527" y="97116"/>
                  <a:pt x="24460" y="103104"/>
                </a:cubicBezTo>
                <a:lnTo>
                  <a:pt x="78616" y="103104"/>
                </a:lnTo>
                <a:close/>
                <a:moveTo>
                  <a:pt x="77328" y="115992"/>
                </a:moveTo>
                <a:lnTo>
                  <a:pt x="25776" y="115992"/>
                </a:lnTo>
                <a:lnTo>
                  <a:pt x="25776" y="120288"/>
                </a:lnTo>
                <a:cubicBezTo>
                  <a:pt x="25776" y="132155"/>
                  <a:pt x="35388" y="141767"/>
                  <a:pt x="47256" y="141767"/>
                </a:cubicBezTo>
                <a:lnTo>
                  <a:pt x="55848" y="141767"/>
                </a:lnTo>
                <a:cubicBezTo>
                  <a:pt x="67715" y="141767"/>
                  <a:pt x="77328" y="132155"/>
                  <a:pt x="77328" y="120288"/>
                </a:cubicBezTo>
                <a:lnTo>
                  <a:pt x="77328" y="115992"/>
                </a:lnTo>
                <a:close/>
                <a:moveTo>
                  <a:pt x="49404" y="30072"/>
                </a:moveTo>
                <a:cubicBezTo>
                  <a:pt x="38718" y="30072"/>
                  <a:pt x="30072" y="38718"/>
                  <a:pt x="30072" y="49404"/>
                </a:cubicBezTo>
                <a:cubicBezTo>
                  <a:pt x="30072" y="52975"/>
                  <a:pt x="27199" y="55848"/>
                  <a:pt x="23628" y="55848"/>
                </a:cubicBezTo>
                <a:cubicBezTo>
                  <a:pt x="20057" y="55848"/>
                  <a:pt x="17184" y="52975"/>
                  <a:pt x="17184" y="49404"/>
                </a:cubicBezTo>
                <a:cubicBezTo>
                  <a:pt x="17184" y="31602"/>
                  <a:pt x="31602" y="17184"/>
                  <a:pt x="49404" y="17184"/>
                </a:cubicBezTo>
                <a:cubicBezTo>
                  <a:pt x="52975" y="17184"/>
                  <a:pt x="55848" y="20057"/>
                  <a:pt x="55848" y="23628"/>
                </a:cubicBezTo>
                <a:cubicBezTo>
                  <a:pt x="55848" y="27199"/>
                  <a:pt x="52975" y="30072"/>
                  <a:pt x="49404" y="3007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927932" y="4948973"/>
            <a:ext cx="95370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Explainable AI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7357" y="5223915"/>
            <a:ext cx="5060668" cy="41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Enhanced explanation generation using causal reasoning frameworks for transparent recommendations.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7627" y="1065404"/>
            <a:ext cx="5644922" cy="4124144"/>
          </a:xfrm>
          <a:custGeom>
            <a:avLst/>
            <a:gdLst/>
            <a:ahLst/>
            <a:cxnLst/>
            <a:rect l="l" t="t" r="r" b="b"/>
            <a:pathLst>
              <a:path w="5644922" h="4124144">
                <a:moveTo>
                  <a:pt x="68749" y="0"/>
                </a:moveTo>
                <a:lnTo>
                  <a:pt x="5576172" y="0"/>
                </a:lnTo>
                <a:cubicBezTo>
                  <a:pt x="5614142" y="0"/>
                  <a:pt x="5644922" y="30780"/>
                  <a:pt x="5644922" y="68749"/>
                </a:cubicBezTo>
                <a:lnTo>
                  <a:pt x="5644922" y="4055394"/>
                </a:lnTo>
                <a:cubicBezTo>
                  <a:pt x="5644922" y="4093364"/>
                  <a:pt x="5614142" y="4124144"/>
                  <a:pt x="5576172" y="4124144"/>
                </a:cubicBezTo>
                <a:lnTo>
                  <a:pt x="68749" y="4124144"/>
                </a:lnTo>
                <a:cubicBezTo>
                  <a:pt x="30780" y="4124144"/>
                  <a:pt x="0" y="4093364"/>
                  <a:pt x="0" y="4055394"/>
                </a:cubicBezTo>
                <a:lnTo>
                  <a:pt x="0" y="68749"/>
                </a:lnTo>
                <a:cubicBezTo>
                  <a:pt x="0" y="30806"/>
                  <a:pt x="30806" y="0"/>
                  <a:pt x="6874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6390946" y="1271611"/>
            <a:ext cx="171839" cy="171839"/>
          </a:xfrm>
          <a:custGeom>
            <a:avLst/>
            <a:gdLst/>
            <a:ahLst/>
            <a:cxnLst/>
            <a:rect l="l" t="t" r="r" b="b"/>
            <a:pathLst>
              <a:path w="171839" h="171839">
                <a:moveTo>
                  <a:pt x="118106" y="93975"/>
                </a:moveTo>
                <a:lnTo>
                  <a:pt x="54035" y="93975"/>
                </a:lnTo>
                <a:cubicBezTo>
                  <a:pt x="55009" y="115622"/>
                  <a:pt x="59808" y="135558"/>
                  <a:pt x="66621" y="150158"/>
                </a:cubicBezTo>
                <a:cubicBezTo>
                  <a:pt x="70447" y="158381"/>
                  <a:pt x="74576" y="164187"/>
                  <a:pt x="78402" y="167745"/>
                </a:cubicBezTo>
                <a:cubicBezTo>
                  <a:pt x="82161" y="171269"/>
                  <a:pt x="84745" y="171839"/>
                  <a:pt x="86087" y="171839"/>
                </a:cubicBezTo>
                <a:cubicBezTo>
                  <a:pt x="87430" y="171839"/>
                  <a:pt x="90014" y="171269"/>
                  <a:pt x="93773" y="167745"/>
                </a:cubicBezTo>
                <a:cubicBezTo>
                  <a:pt x="97599" y="164187"/>
                  <a:pt x="101728" y="158347"/>
                  <a:pt x="105554" y="150158"/>
                </a:cubicBezTo>
                <a:cubicBezTo>
                  <a:pt x="112367" y="135558"/>
                  <a:pt x="117166" y="115622"/>
                  <a:pt x="118140" y="93975"/>
                </a:cubicBezTo>
                <a:close/>
                <a:moveTo>
                  <a:pt x="54002" y="77865"/>
                </a:moveTo>
                <a:lnTo>
                  <a:pt x="118072" y="77865"/>
                </a:lnTo>
                <a:cubicBezTo>
                  <a:pt x="117133" y="56217"/>
                  <a:pt x="112333" y="36281"/>
                  <a:pt x="105520" y="21681"/>
                </a:cubicBezTo>
                <a:cubicBezTo>
                  <a:pt x="101694" y="13492"/>
                  <a:pt x="97566" y="7652"/>
                  <a:pt x="93740" y="4095"/>
                </a:cubicBezTo>
                <a:cubicBezTo>
                  <a:pt x="89981" y="571"/>
                  <a:pt x="87396" y="0"/>
                  <a:pt x="86054" y="0"/>
                </a:cubicBezTo>
                <a:cubicBezTo>
                  <a:pt x="84711" y="0"/>
                  <a:pt x="82127" y="571"/>
                  <a:pt x="78368" y="4095"/>
                </a:cubicBezTo>
                <a:cubicBezTo>
                  <a:pt x="74542" y="7652"/>
                  <a:pt x="70414" y="13492"/>
                  <a:pt x="66588" y="21681"/>
                </a:cubicBezTo>
                <a:cubicBezTo>
                  <a:pt x="59775" y="36281"/>
                  <a:pt x="54975" y="56217"/>
                  <a:pt x="54002" y="77865"/>
                </a:cubicBezTo>
                <a:close/>
                <a:moveTo>
                  <a:pt x="37892" y="77865"/>
                </a:moveTo>
                <a:cubicBezTo>
                  <a:pt x="39067" y="49135"/>
                  <a:pt x="46484" y="22453"/>
                  <a:pt x="57325" y="4934"/>
                </a:cubicBezTo>
                <a:cubicBezTo>
                  <a:pt x="26414" y="15875"/>
                  <a:pt x="3658" y="44034"/>
                  <a:pt x="503" y="77865"/>
                </a:cubicBezTo>
                <a:lnTo>
                  <a:pt x="37892" y="77865"/>
                </a:lnTo>
                <a:close/>
                <a:moveTo>
                  <a:pt x="503" y="93975"/>
                </a:moveTo>
                <a:cubicBezTo>
                  <a:pt x="3658" y="127805"/>
                  <a:pt x="26414" y="155964"/>
                  <a:pt x="57325" y="166906"/>
                </a:cubicBezTo>
                <a:cubicBezTo>
                  <a:pt x="46484" y="149386"/>
                  <a:pt x="39067" y="122704"/>
                  <a:pt x="37892" y="93975"/>
                </a:cubicBezTo>
                <a:lnTo>
                  <a:pt x="503" y="93975"/>
                </a:lnTo>
                <a:close/>
                <a:moveTo>
                  <a:pt x="134216" y="93975"/>
                </a:moveTo>
                <a:cubicBezTo>
                  <a:pt x="133041" y="122704"/>
                  <a:pt x="125624" y="149386"/>
                  <a:pt x="114783" y="166906"/>
                </a:cubicBezTo>
                <a:cubicBezTo>
                  <a:pt x="145694" y="155931"/>
                  <a:pt x="168450" y="127805"/>
                  <a:pt x="171604" y="93975"/>
                </a:cubicBezTo>
                <a:lnTo>
                  <a:pt x="134216" y="93975"/>
                </a:lnTo>
                <a:close/>
                <a:moveTo>
                  <a:pt x="171604" y="77865"/>
                </a:moveTo>
                <a:cubicBezTo>
                  <a:pt x="168450" y="44034"/>
                  <a:pt x="145694" y="15875"/>
                  <a:pt x="114783" y="4934"/>
                </a:cubicBezTo>
                <a:cubicBezTo>
                  <a:pt x="125624" y="22453"/>
                  <a:pt x="133041" y="49135"/>
                  <a:pt x="134216" y="77865"/>
                </a:cubicBezTo>
                <a:lnTo>
                  <a:pt x="171604" y="77865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584265" y="1237243"/>
            <a:ext cx="5172364" cy="24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3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Domain Extensions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73762" y="1619586"/>
            <a:ext cx="5292651" cy="764685"/>
          </a:xfrm>
          <a:custGeom>
            <a:avLst/>
            <a:gdLst/>
            <a:ahLst/>
            <a:cxnLst/>
            <a:rect l="l" t="t" r="r" b="b"/>
            <a:pathLst>
              <a:path w="5292651" h="764685">
                <a:moveTo>
                  <a:pt x="34365" y="0"/>
                </a:moveTo>
                <a:lnTo>
                  <a:pt x="5258286" y="0"/>
                </a:lnTo>
                <a:cubicBezTo>
                  <a:pt x="5277265" y="0"/>
                  <a:pt x="5292651" y="15386"/>
                  <a:pt x="5292651" y="34365"/>
                </a:cubicBezTo>
                <a:lnTo>
                  <a:pt x="5292651" y="730320"/>
                </a:lnTo>
                <a:cubicBezTo>
                  <a:pt x="5292651" y="749299"/>
                  <a:pt x="5277265" y="764685"/>
                  <a:pt x="5258286" y="764685"/>
                </a:cubicBezTo>
                <a:lnTo>
                  <a:pt x="34365" y="764685"/>
                </a:lnTo>
                <a:cubicBezTo>
                  <a:pt x="15386" y="764685"/>
                  <a:pt x="0" y="749299"/>
                  <a:pt x="0" y="730320"/>
                </a:cubicBezTo>
                <a:lnTo>
                  <a:pt x="0" y="34365"/>
                </a:lnTo>
                <a:cubicBezTo>
                  <a:pt x="0" y="15398"/>
                  <a:pt x="15398" y="0"/>
                  <a:pt x="3436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15530" y="1795721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68736" y="0"/>
                </a:moveTo>
                <a:lnTo>
                  <a:pt x="274943" y="0"/>
                </a:lnTo>
                <a:cubicBezTo>
                  <a:pt x="312879" y="0"/>
                  <a:pt x="343679" y="30799"/>
                  <a:pt x="343679" y="68736"/>
                </a:cubicBezTo>
                <a:lnTo>
                  <a:pt x="343679" y="274943"/>
                </a:lnTo>
                <a:cubicBezTo>
                  <a:pt x="343679" y="312879"/>
                  <a:pt x="312879" y="343679"/>
                  <a:pt x="274943" y="343679"/>
                </a:cubicBezTo>
                <a:lnTo>
                  <a:pt x="68736" y="343679"/>
                </a:lnTo>
                <a:cubicBezTo>
                  <a:pt x="30799" y="343679"/>
                  <a:pt x="0" y="312879"/>
                  <a:pt x="0" y="274943"/>
                </a:cubicBezTo>
                <a:lnTo>
                  <a:pt x="0" y="68736"/>
                </a:lnTo>
                <a:cubicBezTo>
                  <a:pt x="0" y="30799"/>
                  <a:pt x="30799" y="0"/>
                  <a:pt x="68736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6618633" y="1898825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14955" y="53619"/>
                </a:moveTo>
                <a:lnTo>
                  <a:pt x="23252" y="61916"/>
                </a:lnTo>
                <a:cubicBezTo>
                  <a:pt x="24863" y="63527"/>
                  <a:pt x="27038" y="64440"/>
                  <a:pt x="29320" y="64440"/>
                </a:cubicBezTo>
                <a:lnTo>
                  <a:pt x="35093" y="64440"/>
                </a:lnTo>
                <a:cubicBezTo>
                  <a:pt x="37375" y="64440"/>
                  <a:pt x="39550" y="65353"/>
                  <a:pt x="41161" y="66964"/>
                </a:cubicBezTo>
                <a:lnTo>
                  <a:pt x="49028" y="74831"/>
                </a:lnTo>
                <a:cubicBezTo>
                  <a:pt x="50639" y="76442"/>
                  <a:pt x="51552" y="78616"/>
                  <a:pt x="51552" y="80899"/>
                </a:cubicBezTo>
                <a:lnTo>
                  <a:pt x="51552" y="90967"/>
                </a:lnTo>
                <a:cubicBezTo>
                  <a:pt x="51552" y="93250"/>
                  <a:pt x="52465" y="95425"/>
                  <a:pt x="54076" y="97036"/>
                </a:cubicBezTo>
                <a:lnTo>
                  <a:pt x="57647" y="100607"/>
                </a:lnTo>
                <a:cubicBezTo>
                  <a:pt x="59258" y="102218"/>
                  <a:pt x="60171" y="104392"/>
                  <a:pt x="60171" y="106675"/>
                </a:cubicBezTo>
                <a:lnTo>
                  <a:pt x="60171" y="111696"/>
                </a:lnTo>
                <a:cubicBezTo>
                  <a:pt x="60171" y="116448"/>
                  <a:pt x="64010" y="120288"/>
                  <a:pt x="68763" y="120288"/>
                </a:cubicBezTo>
                <a:cubicBezTo>
                  <a:pt x="73515" y="120288"/>
                  <a:pt x="77355" y="116448"/>
                  <a:pt x="77355" y="111696"/>
                </a:cubicBezTo>
                <a:lnTo>
                  <a:pt x="77355" y="110971"/>
                </a:lnTo>
                <a:cubicBezTo>
                  <a:pt x="77355" y="108688"/>
                  <a:pt x="78267" y="106514"/>
                  <a:pt x="79878" y="104903"/>
                </a:cubicBezTo>
                <a:lnTo>
                  <a:pt x="92041" y="92740"/>
                </a:lnTo>
                <a:cubicBezTo>
                  <a:pt x="93652" y="91129"/>
                  <a:pt x="94565" y="88954"/>
                  <a:pt x="94565" y="86671"/>
                </a:cubicBezTo>
                <a:lnTo>
                  <a:pt x="94565" y="77355"/>
                </a:lnTo>
                <a:cubicBezTo>
                  <a:pt x="94565" y="72602"/>
                  <a:pt x="90726" y="68763"/>
                  <a:pt x="85973" y="68763"/>
                </a:cubicBezTo>
                <a:lnTo>
                  <a:pt x="63768" y="68763"/>
                </a:lnTo>
                <a:cubicBezTo>
                  <a:pt x="61486" y="68763"/>
                  <a:pt x="59311" y="67850"/>
                  <a:pt x="57700" y="66239"/>
                </a:cubicBezTo>
                <a:lnTo>
                  <a:pt x="53404" y="61943"/>
                </a:lnTo>
                <a:cubicBezTo>
                  <a:pt x="52277" y="60815"/>
                  <a:pt x="51632" y="59258"/>
                  <a:pt x="51632" y="57647"/>
                </a:cubicBezTo>
                <a:cubicBezTo>
                  <a:pt x="51632" y="54290"/>
                  <a:pt x="54344" y="51579"/>
                  <a:pt x="57700" y="51579"/>
                </a:cubicBezTo>
                <a:lnTo>
                  <a:pt x="67017" y="51579"/>
                </a:lnTo>
                <a:cubicBezTo>
                  <a:pt x="70374" y="51579"/>
                  <a:pt x="73085" y="48867"/>
                  <a:pt x="73085" y="45511"/>
                </a:cubicBezTo>
                <a:cubicBezTo>
                  <a:pt x="73085" y="43900"/>
                  <a:pt x="72441" y="42342"/>
                  <a:pt x="71313" y="41215"/>
                </a:cubicBezTo>
                <a:lnTo>
                  <a:pt x="66024" y="35925"/>
                </a:lnTo>
                <a:cubicBezTo>
                  <a:pt x="64977" y="34905"/>
                  <a:pt x="64440" y="33589"/>
                  <a:pt x="64440" y="32220"/>
                </a:cubicBezTo>
                <a:cubicBezTo>
                  <a:pt x="64440" y="30851"/>
                  <a:pt x="64977" y="29535"/>
                  <a:pt x="65970" y="28541"/>
                </a:cubicBezTo>
                <a:lnTo>
                  <a:pt x="70615" y="23896"/>
                </a:lnTo>
                <a:cubicBezTo>
                  <a:pt x="72173" y="22339"/>
                  <a:pt x="73059" y="20218"/>
                  <a:pt x="73059" y="18016"/>
                </a:cubicBezTo>
                <a:cubicBezTo>
                  <a:pt x="73059" y="16083"/>
                  <a:pt x="72414" y="14338"/>
                  <a:pt x="71340" y="12942"/>
                </a:cubicBezTo>
                <a:cubicBezTo>
                  <a:pt x="70481" y="12915"/>
                  <a:pt x="69622" y="12888"/>
                  <a:pt x="68763" y="12888"/>
                </a:cubicBezTo>
                <a:cubicBezTo>
                  <a:pt x="43148" y="12888"/>
                  <a:pt x="21587" y="30126"/>
                  <a:pt x="14982" y="53619"/>
                </a:cubicBezTo>
                <a:close/>
                <a:moveTo>
                  <a:pt x="124584" y="68736"/>
                </a:moveTo>
                <a:cubicBezTo>
                  <a:pt x="124584" y="59446"/>
                  <a:pt x="122328" y="50693"/>
                  <a:pt x="118301" y="43014"/>
                </a:cubicBezTo>
                <a:cubicBezTo>
                  <a:pt x="116582" y="43255"/>
                  <a:pt x="114891" y="44061"/>
                  <a:pt x="113495" y="45457"/>
                </a:cubicBezTo>
                <a:lnTo>
                  <a:pt x="109897" y="49055"/>
                </a:lnTo>
                <a:cubicBezTo>
                  <a:pt x="108286" y="50666"/>
                  <a:pt x="107373" y="52841"/>
                  <a:pt x="107373" y="55123"/>
                </a:cubicBezTo>
                <a:lnTo>
                  <a:pt x="107373" y="64440"/>
                </a:lnTo>
                <a:cubicBezTo>
                  <a:pt x="107373" y="69192"/>
                  <a:pt x="111212" y="73032"/>
                  <a:pt x="115965" y="73032"/>
                </a:cubicBezTo>
                <a:lnTo>
                  <a:pt x="122436" y="73032"/>
                </a:lnTo>
                <a:cubicBezTo>
                  <a:pt x="123107" y="73032"/>
                  <a:pt x="123778" y="72951"/>
                  <a:pt x="124396" y="72817"/>
                </a:cubicBezTo>
                <a:cubicBezTo>
                  <a:pt x="124503" y="71474"/>
                  <a:pt x="124530" y="70105"/>
                  <a:pt x="124530" y="68736"/>
                </a:cubicBezTo>
                <a:close/>
                <a:moveTo>
                  <a:pt x="0" y="68736"/>
                </a:moveTo>
                <a:cubicBezTo>
                  <a:pt x="0" y="30799"/>
                  <a:pt x="30799" y="0"/>
                  <a:pt x="68736" y="0"/>
                </a:cubicBezTo>
                <a:cubicBezTo>
                  <a:pt x="106672" y="0"/>
                  <a:pt x="137471" y="30799"/>
                  <a:pt x="137471" y="68736"/>
                </a:cubicBezTo>
                <a:cubicBezTo>
                  <a:pt x="137471" y="106672"/>
                  <a:pt x="106672" y="137471"/>
                  <a:pt x="68736" y="137471"/>
                </a:cubicBezTo>
                <a:cubicBezTo>
                  <a:pt x="30799" y="137471"/>
                  <a:pt x="0" y="106672"/>
                  <a:pt x="0" y="687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962312" y="1761353"/>
            <a:ext cx="3565666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International Markets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62312" y="1967560"/>
            <a:ext cx="3565666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Multi-currency support and cross-border financial planning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73762" y="2495966"/>
            <a:ext cx="5292651" cy="764685"/>
          </a:xfrm>
          <a:custGeom>
            <a:avLst/>
            <a:gdLst/>
            <a:ahLst/>
            <a:cxnLst/>
            <a:rect l="l" t="t" r="r" b="b"/>
            <a:pathLst>
              <a:path w="5292651" h="764685">
                <a:moveTo>
                  <a:pt x="34365" y="0"/>
                </a:moveTo>
                <a:lnTo>
                  <a:pt x="5258286" y="0"/>
                </a:lnTo>
                <a:cubicBezTo>
                  <a:pt x="5277265" y="0"/>
                  <a:pt x="5292651" y="15386"/>
                  <a:pt x="5292651" y="34365"/>
                </a:cubicBezTo>
                <a:lnTo>
                  <a:pt x="5292651" y="730320"/>
                </a:lnTo>
                <a:cubicBezTo>
                  <a:pt x="5292651" y="749299"/>
                  <a:pt x="5277265" y="764685"/>
                  <a:pt x="5258286" y="764685"/>
                </a:cubicBezTo>
                <a:lnTo>
                  <a:pt x="34365" y="764685"/>
                </a:lnTo>
                <a:cubicBezTo>
                  <a:pt x="15386" y="764685"/>
                  <a:pt x="0" y="749299"/>
                  <a:pt x="0" y="730320"/>
                </a:cubicBezTo>
                <a:lnTo>
                  <a:pt x="0" y="34365"/>
                </a:lnTo>
                <a:cubicBezTo>
                  <a:pt x="0" y="15398"/>
                  <a:pt x="15398" y="0"/>
                  <a:pt x="3436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15530" y="2672101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68736" y="0"/>
                </a:moveTo>
                <a:lnTo>
                  <a:pt x="274943" y="0"/>
                </a:lnTo>
                <a:cubicBezTo>
                  <a:pt x="312879" y="0"/>
                  <a:pt x="343679" y="30799"/>
                  <a:pt x="343679" y="68736"/>
                </a:cubicBezTo>
                <a:lnTo>
                  <a:pt x="343679" y="274943"/>
                </a:lnTo>
                <a:cubicBezTo>
                  <a:pt x="343679" y="312879"/>
                  <a:pt x="312879" y="343679"/>
                  <a:pt x="274943" y="343679"/>
                </a:cubicBezTo>
                <a:lnTo>
                  <a:pt x="68736" y="343679"/>
                </a:lnTo>
                <a:cubicBezTo>
                  <a:pt x="30799" y="343679"/>
                  <a:pt x="0" y="312879"/>
                  <a:pt x="0" y="274943"/>
                </a:cubicBezTo>
                <a:lnTo>
                  <a:pt x="0" y="68736"/>
                </a:lnTo>
                <a:cubicBezTo>
                  <a:pt x="0" y="30799"/>
                  <a:pt x="30799" y="0"/>
                  <a:pt x="68736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37" name="Shape 35"/>
          <p:cNvSpPr/>
          <p:nvPr/>
        </p:nvSpPr>
        <p:spPr>
          <a:xfrm>
            <a:off x="6618633" y="2775205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53700" y="12888"/>
                </a:moveTo>
                <a:lnTo>
                  <a:pt x="83772" y="12888"/>
                </a:lnTo>
                <a:cubicBezTo>
                  <a:pt x="84953" y="12888"/>
                  <a:pt x="85920" y="13855"/>
                  <a:pt x="85920" y="15036"/>
                </a:cubicBezTo>
                <a:lnTo>
                  <a:pt x="85920" y="25776"/>
                </a:lnTo>
                <a:lnTo>
                  <a:pt x="51552" y="25776"/>
                </a:lnTo>
                <a:lnTo>
                  <a:pt x="51552" y="15036"/>
                </a:lnTo>
                <a:cubicBezTo>
                  <a:pt x="51552" y="13855"/>
                  <a:pt x="52518" y="12888"/>
                  <a:pt x="53700" y="12888"/>
                </a:cubicBezTo>
                <a:close/>
                <a:moveTo>
                  <a:pt x="38664" y="15036"/>
                </a:moveTo>
                <a:lnTo>
                  <a:pt x="38664" y="25776"/>
                </a:lnTo>
                <a:lnTo>
                  <a:pt x="17184" y="25776"/>
                </a:lnTo>
                <a:cubicBezTo>
                  <a:pt x="7706" y="25776"/>
                  <a:pt x="0" y="33482"/>
                  <a:pt x="0" y="42960"/>
                </a:cubicBezTo>
                <a:lnTo>
                  <a:pt x="0" y="68736"/>
                </a:lnTo>
                <a:lnTo>
                  <a:pt x="137471" y="68736"/>
                </a:lnTo>
                <a:lnTo>
                  <a:pt x="137471" y="42960"/>
                </a:lnTo>
                <a:cubicBezTo>
                  <a:pt x="137471" y="33482"/>
                  <a:pt x="129766" y="25776"/>
                  <a:pt x="120288" y="25776"/>
                </a:cubicBezTo>
                <a:lnTo>
                  <a:pt x="98808" y="25776"/>
                </a:lnTo>
                <a:lnTo>
                  <a:pt x="98808" y="15036"/>
                </a:lnTo>
                <a:cubicBezTo>
                  <a:pt x="98808" y="6739"/>
                  <a:pt x="92068" y="0"/>
                  <a:pt x="83772" y="0"/>
                </a:cubicBezTo>
                <a:lnTo>
                  <a:pt x="53700" y="0"/>
                </a:lnTo>
                <a:cubicBezTo>
                  <a:pt x="45403" y="0"/>
                  <a:pt x="38664" y="6739"/>
                  <a:pt x="38664" y="15036"/>
                </a:cubicBezTo>
                <a:close/>
                <a:moveTo>
                  <a:pt x="137471" y="81624"/>
                </a:moveTo>
                <a:lnTo>
                  <a:pt x="85920" y="81624"/>
                </a:lnTo>
                <a:lnTo>
                  <a:pt x="85920" y="85920"/>
                </a:lnTo>
                <a:cubicBezTo>
                  <a:pt x="85920" y="90672"/>
                  <a:pt x="82080" y="94512"/>
                  <a:pt x="77328" y="94512"/>
                </a:cubicBezTo>
                <a:lnTo>
                  <a:pt x="60144" y="94512"/>
                </a:lnTo>
                <a:cubicBezTo>
                  <a:pt x="55391" y="94512"/>
                  <a:pt x="51552" y="90672"/>
                  <a:pt x="51552" y="85920"/>
                </a:cubicBezTo>
                <a:lnTo>
                  <a:pt x="51552" y="81624"/>
                </a:lnTo>
                <a:lnTo>
                  <a:pt x="0" y="81624"/>
                </a:lnTo>
                <a:lnTo>
                  <a:pt x="0" y="111696"/>
                </a:lnTo>
                <a:cubicBezTo>
                  <a:pt x="0" y="121174"/>
                  <a:pt x="7706" y="128879"/>
                  <a:pt x="17184" y="128879"/>
                </a:cubicBezTo>
                <a:lnTo>
                  <a:pt x="120288" y="128879"/>
                </a:lnTo>
                <a:cubicBezTo>
                  <a:pt x="129766" y="128879"/>
                  <a:pt x="137471" y="121174"/>
                  <a:pt x="137471" y="111696"/>
                </a:cubicBezTo>
                <a:lnTo>
                  <a:pt x="137471" y="8162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962312" y="2637734"/>
            <a:ext cx="361721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Specialized Advisories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62312" y="2843941"/>
            <a:ext cx="3617218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Tax optimization, estate planning, insurance advisory agents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73762" y="3372347"/>
            <a:ext cx="5292651" cy="764685"/>
          </a:xfrm>
          <a:custGeom>
            <a:avLst/>
            <a:gdLst/>
            <a:ahLst/>
            <a:cxnLst/>
            <a:rect l="l" t="t" r="r" b="b"/>
            <a:pathLst>
              <a:path w="5292651" h="764685">
                <a:moveTo>
                  <a:pt x="34365" y="0"/>
                </a:moveTo>
                <a:lnTo>
                  <a:pt x="5258286" y="0"/>
                </a:lnTo>
                <a:cubicBezTo>
                  <a:pt x="5277265" y="0"/>
                  <a:pt x="5292651" y="15386"/>
                  <a:pt x="5292651" y="34365"/>
                </a:cubicBezTo>
                <a:lnTo>
                  <a:pt x="5292651" y="730320"/>
                </a:lnTo>
                <a:cubicBezTo>
                  <a:pt x="5292651" y="749299"/>
                  <a:pt x="5277265" y="764685"/>
                  <a:pt x="5258286" y="764685"/>
                </a:cubicBezTo>
                <a:lnTo>
                  <a:pt x="34365" y="764685"/>
                </a:lnTo>
                <a:cubicBezTo>
                  <a:pt x="15386" y="764685"/>
                  <a:pt x="0" y="749299"/>
                  <a:pt x="0" y="730320"/>
                </a:cubicBezTo>
                <a:lnTo>
                  <a:pt x="0" y="34365"/>
                </a:lnTo>
                <a:cubicBezTo>
                  <a:pt x="0" y="15398"/>
                  <a:pt x="15398" y="0"/>
                  <a:pt x="3436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15530" y="3548482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68736" y="0"/>
                </a:moveTo>
                <a:lnTo>
                  <a:pt x="274943" y="0"/>
                </a:lnTo>
                <a:cubicBezTo>
                  <a:pt x="312879" y="0"/>
                  <a:pt x="343679" y="30799"/>
                  <a:pt x="343679" y="68736"/>
                </a:cubicBezTo>
                <a:lnTo>
                  <a:pt x="343679" y="274943"/>
                </a:lnTo>
                <a:cubicBezTo>
                  <a:pt x="343679" y="312879"/>
                  <a:pt x="312879" y="343679"/>
                  <a:pt x="274943" y="343679"/>
                </a:cubicBezTo>
                <a:lnTo>
                  <a:pt x="68736" y="343679"/>
                </a:lnTo>
                <a:cubicBezTo>
                  <a:pt x="30799" y="343679"/>
                  <a:pt x="0" y="312879"/>
                  <a:pt x="0" y="274943"/>
                </a:cubicBezTo>
                <a:lnTo>
                  <a:pt x="0" y="68736"/>
                </a:lnTo>
                <a:cubicBezTo>
                  <a:pt x="0" y="30799"/>
                  <a:pt x="30799" y="0"/>
                  <a:pt x="68736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42" name="Shape 40"/>
          <p:cNvSpPr/>
          <p:nvPr/>
        </p:nvSpPr>
        <p:spPr>
          <a:xfrm>
            <a:off x="6618633" y="3651586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17694" y="61352"/>
                </a:moveTo>
                <a:cubicBezTo>
                  <a:pt x="21265" y="36382"/>
                  <a:pt x="42772" y="17184"/>
                  <a:pt x="68736" y="17184"/>
                </a:cubicBezTo>
                <a:cubicBezTo>
                  <a:pt x="82966" y="17184"/>
                  <a:pt x="95854" y="22957"/>
                  <a:pt x="105198" y="32274"/>
                </a:cubicBezTo>
                <a:cubicBezTo>
                  <a:pt x="105252" y="32327"/>
                  <a:pt x="105305" y="32381"/>
                  <a:pt x="105359" y="32435"/>
                </a:cubicBezTo>
                <a:lnTo>
                  <a:pt x="107400" y="34368"/>
                </a:lnTo>
                <a:lnTo>
                  <a:pt x="94538" y="34368"/>
                </a:lnTo>
                <a:cubicBezTo>
                  <a:pt x="89786" y="34368"/>
                  <a:pt x="85947" y="38207"/>
                  <a:pt x="85947" y="42960"/>
                </a:cubicBezTo>
                <a:cubicBezTo>
                  <a:pt x="85947" y="47712"/>
                  <a:pt x="89786" y="51552"/>
                  <a:pt x="94538" y="51552"/>
                </a:cubicBezTo>
                <a:lnTo>
                  <a:pt x="128906" y="51552"/>
                </a:lnTo>
                <a:cubicBezTo>
                  <a:pt x="133659" y="51552"/>
                  <a:pt x="137498" y="47712"/>
                  <a:pt x="137498" y="42960"/>
                </a:cubicBezTo>
                <a:lnTo>
                  <a:pt x="137498" y="8592"/>
                </a:lnTo>
                <a:cubicBezTo>
                  <a:pt x="137498" y="3840"/>
                  <a:pt x="133659" y="0"/>
                  <a:pt x="128906" y="0"/>
                </a:cubicBezTo>
                <a:cubicBezTo>
                  <a:pt x="124154" y="0"/>
                  <a:pt x="120314" y="3840"/>
                  <a:pt x="120314" y="8592"/>
                </a:cubicBezTo>
                <a:lnTo>
                  <a:pt x="120314" y="22930"/>
                </a:lnTo>
                <a:lnTo>
                  <a:pt x="117280" y="20057"/>
                </a:lnTo>
                <a:cubicBezTo>
                  <a:pt x="104849" y="7679"/>
                  <a:pt x="87665" y="0"/>
                  <a:pt x="68736" y="0"/>
                </a:cubicBezTo>
                <a:cubicBezTo>
                  <a:pt x="34099" y="0"/>
                  <a:pt x="5451" y="25615"/>
                  <a:pt x="698" y="58936"/>
                </a:cubicBezTo>
                <a:cubicBezTo>
                  <a:pt x="27" y="63634"/>
                  <a:pt x="3276" y="67984"/>
                  <a:pt x="7974" y="68655"/>
                </a:cubicBezTo>
                <a:cubicBezTo>
                  <a:pt x="12673" y="69326"/>
                  <a:pt x="17023" y="66051"/>
                  <a:pt x="17694" y="61379"/>
                </a:cubicBezTo>
                <a:close/>
                <a:moveTo>
                  <a:pt x="136773" y="78536"/>
                </a:moveTo>
                <a:cubicBezTo>
                  <a:pt x="137445" y="73837"/>
                  <a:pt x="134169" y="69488"/>
                  <a:pt x="129497" y="68816"/>
                </a:cubicBezTo>
                <a:cubicBezTo>
                  <a:pt x="124825" y="68145"/>
                  <a:pt x="120449" y="71421"/>
                  <a:pt x="119777" y="76093"/>
                </a:cubicBezTo>
                <a:cubicBezTo>
                  <a:pt x="116206" y="101063"/>
                  <a:pt x="94700" y="120261"/>
                  <a:pt x="68736" y="120261"/>
                </a:cubicBezTo>
                <a:cubicBezTo>
                  <a:pt x="54505" y="120261"/>
                  <a:pt x="41617" y="114488"/>
                  <a:pt x="32274" y="105171"/>
                </a:cubicBezTo>
                <a:cubicBezTo>
                  <a:pt x="32220" y="105117"/>
                  <a:pt x="32166" y="105064"/>
                  <a:pt x="32112" y="105010"/>
                </a:cubicBezTo>
                <a:lnTo>
                  <a:pt x="30072" y="103077"/>
                </a:lnTo>
                <a:lnTo>
                  <a:pt x="42933" y="103077"/>
                </a:lnTo>
                <a:cubicBezTo>
                  <a:pt x="47685" y="103077"/>
                  <a:pt x="51525" y="99237"/>
                  <a:pt x="51525" y="94485"/>
                </a:cubicBezTo>
                <a:cubicBezTo>
                  <a:pt x="51525" y="89732"/>
                  <a:pt x="47685" y="85893"/>
                  <a:pt x="42933" y="85893"/>
                </a:cubicBezTo>
                <a:lnTo>
                  <a:pt x="8592" y="85920"/>
                </a:lnTo>
                <a:cubicBezTo>
                  <a:pt x="6310" y="85920"/>
                  <a:pt x="4108" y="86833"/>
                  <a:pt x="2497" y="88470"/>
                </a:cubicBezTo>
                <a:cubicBezTo>
                  <a:pt x="886" y="90108"/>
                  <a:pt x="-27" y="92283"/>
                  <a:pt x="0" y="94592"/>
                </a:cubicBezTo>
                <a:lnTo>
                  <a:pt x="268" y="128692"/>
                </a:lnTo>
                <a:cubicBezTo>
                  <a:pt x="295" y="133444"/>
                  <a:pt x="4189" y="137257"/>
                  <a:pt x="8941" y="137203"/>
                </a:cubicBezTo>
                <a:cubicBezTo>
                  <a:pt x="13693" y="137149"/>
                  <a:pt x="17506" y="133283"/>
                  <a:pt x="17452" y="128530"/>
                </a:cubicBezTo>
                <a:lnTo>
                  <a:pt x="17345" y="114703"/>
                </a:lnTo>
                <a:lnTo>
                  <a:pt x="20218" y="117415"/>
                </a:lnTo>
                <a:cubicBezTo>
                  <a:pt x="32649" y="129792"/>
                  <a:pt x="49807" y="137471"/>
                  <a:pt x="68736" y="137471"/>
                </a:cubicBezTo>
                <a:cubicBezTo>
                  <a:pt x="103372" y="137471"/>
                  <a:pt x="132021" y="111857"/>
                  <a:pt x="136773" y="785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962312" y="3514114"/>
            <a:ext cx="3917937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Behavioral Finance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62312" y="3720321"/>
            <a:ext cx="3917937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Integration of psychological factors in financial recommendations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73762" y="4248727"/>
            <a:ext cx="5292651" cy="764685"/>
          </a:xfrm>
          <a:custGeom>
            <a:avLst/>
            <a:gdLst/>
            <a:ahLst/>
            <a:cxnLst/>
            <a:rect l="l" t="t" r="r" b="b"/>
            <a:pathLst>
              <a:path w="5292651" h="764685">
                <a:moveTo>
                  <a:pt x="34365" y="0"/>
                </a:moveTo>
                <a:lnTo>
                  <a:pt x="5258286" y="0"/>
                </a:lnTo>
                <a:cubicBezTo>
                  <a:pt x="5277265" y="0"/>
                  <a:pt x="5292651" y="15386"/>
                  <a:pt x="5292651" y="34365"/>
                </a:cubicBezTo>
                <a:lnTo>
                  <a:pt x="5292651" y="730320"/>
                </a:lnTo>
                <a:cubicBezTo>
                  <a:pt x="5292651" y="749299"/>
                  <a:pt x="5277265" y="764685"/>
                  <a:pt x="5258286" y="764685"/>
                </a:cubicBezTo>
                <a:lnTo>
                  <a:pt x="34365" y="764685"/>
                </a:lnTo>
                <a:cubicBezTo>
                  <a:pt x="15386" y="764685"/>
                  <a:pt x="0" y="749299"/>
                  <a:pt x="0" y="730320"/>
                </a:cubicBezTo>
                <a:lnTo>
                  <a:pt x="0" y="34365"/>
                </a:lnTo>
                <a:cubicBezTo>
                  <a:pt x="0" y="15398"/>
                  <a:pt x="15398" y="0"/>
                  <a:pt x="34365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15530" y="4424863"/>
            <a:ext cx="343679" cy="343679"/>
          </a:xfrm>
          <a:custGeom>
            <a:avLst/>
            <a:gdLst/>
            <a:ahLst/>
            <a:cxnLst/>
            <a:rect l="l" t="t" r="r" b="b"/>
            <a:pathLst>
              <a:path w="343679" h="343679">
                <a:moveTo>
                  <a:pt x="68736" y="0"/>
                </a:moveTo>
                <a:lnTo>
                  <a:pt x="274943" y="0"/>
                </a:lnTo>
                <a:cubicBezTo>
                  <a:pt x="312879" y="0"/>
                  <a:pt x="343679" y="30799"/>
                  <a:pt x="343679" y="68736"/>
                </a:cubicBezTo>
                <a:lnTo>
                  <a:pt x="343679" y="274943"/>
                </a:lnTo>
                <a:cubicBezTo>
                  <a:pt x="343679" y="312879"/>
                  <a:pt x="312879" y="343679"/>
                  <a:pt x="274943" y="343679"/>
                </a:cubicBezTo>
                <a:lnTo>
                  <a:pt x="68736" y="343679"/>
                </a:lnTo>
                <a:cubicBezTo>
                  <a:pt x="30799" y="343679"/>
                  <a:pt x="0" y="312879"/>
                  <a:pt x="0" y="274943"/>
                </a:cubicBezTo>
                <a:lnTo>
                  <a:pt x="0" y="68736"/>
                </a:lnTo>
                <a:cubicBezTo>
                  <a:pt x="0" y="30799"/>
                  <a:pt x="30799" y="0"/>
                  <a:pt x="68736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6618633" y="4527966"/>
            <a:ext cx="137471" cy="137471"/>
          </a:xfrm>
          <a:custGeom>
            <a:avLst/>
            <a:gdLst/>
            <a:ahLst/>
            <a:cxnLst/>
            <a:rect l="l" t="t" r="r" b="b"/>
            <a:pathLst>
              <a:path w="137471" h="137471">
                <a:moveTo>
                  <a:pt x="17184" y="17184"/>
                </a:moveTo>
                <a:cubicBezTo>
                  <a:pt x="17184" y="12432"/>
                  <a:pt x="13344" y="8592"/>
                  <a:pt x="8592" y="8592"/>
                </a:cubicBezTo>
                <a:cubicBezTo>
                  <a:pt x="3840" y="8592"/>
                  <a:pt x="0" y="12432"/>
                  <a:pt x="0" y="17184"/>
                </a:cubicBezTo>
                <a:lnTo>
                  <a:pt x="0" y="107400"/>
                </a:lnTo>
                <a:cubicBezTo>
                  <a:pt x="0" y="119267"/>
                  <a:pt x="9612" y="128879"/>
                  <a:pt x="21480" y="128879"/>
                </a:cubicBezTo>
                <a:lnTo>
                  <a:pt x="128879" y="128879"/>
                </a:lnTo>
                <a:cubicBezTo>
                  <a:pt x="133632" y="128879"/>
                  <a:pt x="137471" y="125040"/>
                  <a:pt x="137471" y="120288"/>
                </a:cubicBezTo>
                <a:cubicBezTo>
                  <a:pt x="137471" y="115535"/>
                  <a:pt x="133632" y="111696"/>
                  <a:pt x="128879" y="111696"/>
                </a:cubicBezTo>
                <a:lnTo>
                  <a:pt x="21480" y="111696"/>
                </a:lnTo>
                <a:cubicBezTo>
                  <a:pt x="19117" y="111696"/>
                  <a:pt x="17184" y="109762"/>
                  <a:pt x="17184" y="107400"/>
                </a:cubicBezTo>
                <a:lnTo>
                  <a:pt x="17184" y="17184"/>
                </a:lnTo>
                <a:close/>
                <a:moveTo>
                  <a:pt x="126356" y="40436"/>
                </a:moveTo>
                <a:cubicBezTo>
                  <a:pt x="129712" y="37080"/>
                  <a:pt x="129712" y="31629"/>
                  <a:pt x="126356" y="28273"/>
                </a:cubicBezTo>
                <a:cubicBezTo>
                  <a:pt x="122999" y="24917"/>
                  <a:pt x="117549" y="24917"/>
                  <a:pt x="114193" y="28273"/>
                </a:cubicBezTo>
                <a:lnTo>
                  <a:pt x="85920" y="56573"/>
                </a:lnTo>
                <a:lnTo>
                  <a:pt x="70508" y="41188"/>
                </a:lnTo>
                <a:cubicBezTo>
                  <a:pt x="67152" y="37832"/>
                  <a:pt x="61701" y="37832"/>
                  <a:pt x="58345" y="41188"/>
                </a:cubicBezTo>
                <a:lnTo>
                  <a:pt x="32569" y="66964"/>
                </a:lnTo>
                <a:cubicBezTo>
                  <a:pt x="29213" y="70320"/>
                  <a:pt x="29213" y="75770"/>
                  <a:pt x="32569" y="79127"/>
                </a:cubicBezTo>
                <a:cubicBezTo>
                  <a:pt x="35925" y="82483"/>
                  <a:pt x="41376" y="82483"/>
                  <a:pt x="44732" y="79127"/>
                </a:cubicBezTo>
                <a:lnTo>
                  <a:pt x="64440" y="59419"/>
                </a:lnTo>
                <a:lnTo>
                  <a:pt x="79852" y="74831"/>
                </a:lnTo>
                <a:cubicBezTo>
                  <a:pt x="83208" y="78187"/>
                  <a:pt x="88658" y="78187"/>
                  <a:pt x="92015" y="74831"/>
                </a:cubicBezTo>
                <a:lnTo>
                  <a:pt x="126382" y="404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962312" y="4390495"/>
            <a:ext cx="3514114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Longitudinal Studies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62312" y="4596702"/>
            <a:ext cx="3514114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Long-term impact assessment of AI-driven financial advice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201923" y="5331315"/>
            <a:ext cx="5636330" cy="970892"/>
          </a:xfrm>
          <a:custGeom>
            <a:avLst/>
            <a:gdLst/>
            <a:ahLst/>
            <a:cxnLst/>
            <a:rect l="l" t="t" r="r" b="b"/>
            <a:pathLst>
              <a:path w="5636330" h="970892">
                <a:moveTo>
                  <a:pt x="68739" y="0"/>
                </a:moveTo>
                <a:lnTo>
                  <a:pt x="5567591" y="0"/>
                </a:lnTo>
                <a:cubicBezTo>
                  <a:pt x="5605554" y="0"/>
                  <a:pt x="5636330" y="30776"/>
                  <a:pt x="5636330" y="68739"/>
                </a:cubicBezTo>
                <a:lnTo>
                  <a:pt x="5636330" y="902153"/>
                </a:lnTo>
                <a:cubicBezTo>
                  <a:pt x="5636330" y="940117"/>
                  <a:pt x="5605554" y="970892"/>
                  <a:pt x="5567591" y="970892"/>
                </a:cubicBezTo>
                <a:lnTo>
                  <a:pt x="68739" y="970892"/>
                </a:lnTo>
                <a:cubicBezTo>
                  <a:pt x="30776" y="970892"/>
                  <a:pt x="0" y="940117"/>
                  <a:pt x="0" y="902153"/>
                </a:cubicBezTo>
                <a:lnTo>
                  <a:pt x="0" y="68739"/>
                </a:lnTo>
                <a:cubicBezTo>
                  <a:pt x="0" y="30801"/>
                  <a:pt x="30801" y="0"/>
                  <a:pt x="68739" y="0"/>
                </a:cubicBezTo>
                <a:close/>
              </a:path>
            </a:pathLst>
          </a:custGeom>
          <a:solidFill>
            <a:srgbClr val="8B0000">
              <a:alpha val="10196"/>
            </a:srgbClr>
          </a:solidFill>
          <a:ln w="12700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43690" y="5473082"/>
            <a:ext cx="5421531" cy="20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Research Impact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343690" y="5748025"/>
            <a:ext cx="5421531" cy="412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These enhancements aim to establish </a:t>
            </a:r>
            <a:pPr>
              <a:lnSpc>
                <a:spcPct val="130000"/>
              </a:lnSpc>
            </a:pPr>
            <a:r>
              <a:rPr lang="en-US" sz="108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FinWise as the gold standard</a:t>
            </a:r>
            <a:pPr>
              <a:lnSpc>
                <a:spcPct val="130000"/>
              </a:lnSpc>
            </a:pPr>
            <a:r>
              <a:rPr lang="en-US" sz="108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for AI-driven financial advisory, with potential applications in banking, wealth management, and fintech.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2ed51230af048d25bce147ce0bf936c4a79a1f1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12687" b="1268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8B0000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211931"/>
            <a:ext cx="1200150" cy="342900"/>
          </a:xfrm>
          <a:custGeom>
            <a:avLst/>
            <a:gdLst/>
            <a:ahLst/>
            <a:cxnLst/>
            <a:rect l="l" t="t" r="r" b="b"/>
            <a:pathLst>
              <a:path w="1200150" h="342900">
                <a:moveTo>
                  <a:pt x="0" y="0"/>
                </a:moveTo>
                <a:lnTo>
                  <a:pt x="1200150" y="0"/>
                </a:lnTo>
                <a:lnTo>
                  <a:pt x="120015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211931"/>
            <a:ext cx="126682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spc="53" kern="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707231"/>
            <a:ext cx="11658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F293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Democratizing Financial Advisory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431131"/>
            <a:ext cx="86296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FinWise validates the multi-agent paradigm for complex financial advisory tasks, demonstrating that specialized, coordinated agents provide more accurate, trustworthy, and actionable guidance than monolithic approaches.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0050" y="2588419"/>
            <a:ext cx="2724150" cy="1219200"/>
          </a:xfrm>
          <a:custGeom>
            <a:avLst/>
            <a:gdLst/>
            <a:ahLst/>
            <a:cxnLst/>
            <a:rect l="l" t="t" r="r" b="b"/>
            <a:pathLst>
              <a:path w="2724150" h="1219200">
                <a:moveTo>
                  <a:pt x="38100" y="0"/>
                </a:moveTo>
                <a:lnTo>
                  <a:pt x="2647950" y="0"/>
                </a:lnTo>
                <a:cubicBezTo>
                  <a:pt x="2690006" y="0"/>
                  <a:pt x="2724150" y="34144"/>
                  <a:pt x="2724150" y="76200"/>
                </a:cubicBezTo>
                <a:lnTo>
                  <a:pt x="2724150" y="1143000"/>
                </a:lnTo>
                <a:cubicBezTo>
                  <a:pt x="2724150" y="1185056"/>
                  <a:pt x="2690006" y="1219200"/>
                  <a:pt x="26479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00050" y="2588419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2740819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98.7%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71500" y="3198019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Arithmetic Accuracy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1500" y="3426619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vs 91.3% baseline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295650" y="2588419"/>
            <a:ext cx="2724150" cy="1219200"/>
          </a:xfrm>
          <a:custGeom>
            <a:avLst/>
            <a:gdLst/>
            <a:ahLst/>
            <a:cxnLst/>
            <a:rect l="l" t="t" r="r" b="b"/>
            <a:pathLst>
              <a:path w="2724150" h="1219200">
                <a:moveTo>
                  <a:pt x="38100" y="0"/>
                </a:moveTo>
                <a:lnTo>
                  <a:pt x="2647950" y="0"/>
                </a:lnTo>
                <a:cubicBezTo>
                  <a:pt x="2690006" y="0"/>
                  <a:pt x="2724150" y="34144"/>
                  <a:pt x="2724150" y="76200"/>
                </a:cubicBezTo>
                <a:lnTo>
                  <a:pt x="2724150" y="1143000"/>
                </a:lnTo>
                <a:cubicBezTo>
                  <a:pt x="2724150" y="1185056"/>
                  <a:pt x="2690006" y="1219200"/>
                  <a:pt x="26479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3295650" y="2588419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F2937"/>
          </a:solidFill>
          <a:ln/>
        </p:spPr>
      </p:sp>
      <p:sp>
        <p:nvSpPr>
          <p:cNvPr id="15" name="Text 12"/>
          <p:cNvSpPr/>
          <p:nvPr/>
        </p:nvSpPr>
        <p:spPr>
          <a:xfrm>
            <a:off x="3467100" y="2740819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41%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67100" y="3198019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Plan Coherence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67100" y="3426619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improvement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91250" y="2588419"/>
            <a:ext cx="2724150" cy="1219200"/>
          </a:xfrm>
          <a:custGeom>
            <a:avLst/>
            <a:gdLst/>
            <a:ahLst/>
            <a:cxnLst/>
            <a:rect l="l" t="t" r="r" b="b"/>
            <a:pathLst>
              <a:path w="2724150" h="1219200">
                <a:moveTo>
                  <a:pt x="38100" y="0"/>
                </a:moveTo>
                <a:lnTo>
                  <a:pt x="2647950" y="0"/>
                </a:lnTo>
                <a:cubicBezTo>
                  <a:pt x="2690006" y="0"/>
                  <a:pt x="2724150" y="34144"/>
                  <a:pt x="2724150" y="76200"/>
                </a:cubicBezTo>
                <a:lnTo>
                  <a:pt x="2724150" y="1143000"/>
                </a:lnTo>
                <a:cubicBezTo>
                  <a:pt x="2724150" y="1185056"/>
                  <a:pt x="2690006" y="1219200"/>
                  <a:pt x="26479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191250" y="2588419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0" name="Text 17"/>
          <p:cNvSpPr/>
          <p:nvPr/>
        </p:nvSpPr>
        <p:spPr>
          <a:xfrm>
            <a:off x="6362700" y="2740819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89%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362700" y="3198019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Hallucination ↓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62700" y="3426619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reduction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086850" y="2588419"/>
            <a:ext cx="2724150" cy="1219200"/>
          </a:xfrm>
          <a:custGeom>
            <a:avLst/>
            <a:gdLst/>
            <a:ahLst/>
            <a:cxnLst/>
            <a:rect l="l" t="t" r="r" b="b"/>
            <a:pathLst>
              <a:path w="2724150" h="1219200">
                <a:moveTo>
                  <a:pt x="38100" y="0"/>
                </a:moveTo>
                <a:lnTo>
                  <a:pt x="2647950" y="0"/>
                </a:lnTo>
                <a:cubicBezTo>
                  <a:pt x="2690006" y="0"/>
                  <a:pt x="2724150" y="34144"/>
                  <a:pt x="2724150" y="76200"/>
                </a:cubicBezTo>
                <a:lnTo>
                  <a:pt x="2724150" y="1143000"/>
                </a:lnTo>
                <a:cubicBezTo>
                  <a:pt x="2724150" y="1185056"/>
                  <a:pt x="2690006" y="1219200"/>
                  <a:pt x="26479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9086850" y="2588419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2"/>
          <p:cNvSpPr/>
          <p:nvPr/>
        </p:nvSpPr>
        <p:spPr>
          <a:xfrm>
            <a:off x="9258300" y="2740819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8B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2.3x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258300" y="3198019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Faster Response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258300" y="3426619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with superior scale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85763" y="4040981"/>
            <a:ext cx="11420475" cy="1838325"/>
          </a:xfrm>
          <a:custGeom>
            <a:avLst/>
            <a:gdLst/>
            <a:ahLst/>
            <a:cxnLst/>
            <a:rect l="l" t="t" r="r" b="b"/>
            <a:pathLst>
              <a:path w="11420475" h="1838325">
                <a:moveTo>
                  <a:pt x="76199" y="0"/>
                </a:moveTo>
                <a:lnTo>
                  <a:pt x="11344276" y="0"/>
                </a:lnTo>
                <a:cubicBezTo>
                  <a:pt x="11386332" y="0"/>
                  <a:pt x="11420475" y="34143"/>
                  <a:pt x="11420475" y="76199"/>
                </a:cubicBezTo>
                <a:lnTo>
                  <a:pt x="11420475" y="1762126"/>
                </a:lnTo>
                <a:cubicBezTo>
                  <a:pt x="11420475" y="1804182"/>
                  <a:pt x="11386332" y="1838325"/>
                  <a:pt x="11344276" y="1838325"/>
                </a:cubicBezTo>
                <a:lnTo>
                  <a:pt x="76199" y="1838325"/>
                </a:lnTo>
                <a:cubicBezTo>
                  <a:pt x="34143" y="1838325"/>
                  <a:pt x="0" y="1804182"/>
                  <a:pt x="0" y="1762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8B0000">
                <a:alpha val="30196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1025" y="4236244"/>
            <a:ext cx="11125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04838" y="46553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933450" y="4617244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4.6/5 Expert Rating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33450" y="4845844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From 50 certified financial advisors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196013" y="46553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1"/>
          <p:cNvSpPr/>
          <p:nvPr/>
        </p:nvSpPr>
        <p:spPr>
          <a:xfrm>
            <a:off x="6524625" y="4617244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87% User Trust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524625" y="4845844"/>
            <a:ext cx="1952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From 2,000 participant study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04838" y="52649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4"/>
          <p:cNvSpPr/>
          <p:nvPr/>
        </p:nvSpPr>
        <p:spPr>
          <a:xfrm>
            <a:off x="933450" y="5226844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60K Test Scenarios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33450" y="5455444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Comprehensive evaluation dataset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196013" y="526494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0" name="Text 37"/>
          <p:cNvSpPr/>
          <p:nvPr/>
        </p:nvSpPr>
        <p:spPr>
          <a:xfrm>
            <a:off x="6524625" y="5226844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GDPR/CCPA Compliant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524625" y="5455444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Enterprise-grade privacy &amp; security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338138" y="6112669"/>
            <a:ext cx="115157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"Establishing new benchmarks for AI-driven financial services while maintaining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safety, privacy, and regulatory compliance essential to financial services."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FinWise: A Coordinated Multi-Agent System for Personalized Financial Advisory</dc:title>
  <dc:subject>FinWise: A Coordinated Multi-Agent System for Personalized Financial Advisory</dc:subject>
  <dc:creator>Kimi</dc:creator>
  <cp:lastModifiedBy>Kimi</cp:lastModifiedBy>
  <cp:revision>1</cp:revision>
  <dcterms:created xsi:type="dcterms:W3CDTF">2026-04-04T11:38:18Z</dcterms:created>
  <dcterms:modified xsi:type="dcterms:W3CDTF">2026-04-04T11:38:18Z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{"Label":"FinWise: A Coordinated Multi-Agent System for Personalized Financial Advisory","ContentProducer":"001191110108MACG2KBH8F10000","ProduceID":"19d583bc-c692-8df0-8000-000044ae0ddb","ReservedCode1":"","ContentPropagator":"001191110108MACG2KBH8F20000","PropagateID":"19d583bc-c692-8df0-8000-000044ae0ddb","ReservedCode2":""}</vt:lpwstr>
  </property>
</Properties>
</file>